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handoutMasterIdLst>
    <p:handoutMasterId r:id="rId24"/>
  </p:handoutMasterIdLst>
  <p:sldIdLst>
    <p:sldId id="262" r:id="rId2"/>
    <p:sldId id="264" r:id="rId3"/>
    <p:sldId id="491" r:id="rId4"/>
    <p:sldId id="509" r:id="rId5"/>
    <p:sldId id="510" r:id="rId6"/>
    <p:sldId id="511" r:id="rId7"/>
    <p:sldId id="492" r:id="rId8"/>
    <p:sldId id="493" r:id="rId9"/>
    <p:sldId id="512" r:id="rId10"/>
    <p:sldId id="513" r:id="rId11"/>
    <p:sldId id="514" r:id="rId12"/>
    <p:sldId id="515" r:id="rId13"/>
    <p:sldId id="516" r:id="rId14"/>
    <p:sldId id="517" r:id="rId15"/>
    <p:sldId id="518" r:id="rId16"/>
    <p:sldId id="519" r:id="rId17"/>
    <p:sldId id="520" r:id="rId18"/>
    <p:sldId id="521" r:id="rId19"/>
    <p:sldId id="523" r:id="rId20"/>
    <p:sldId id="524" r:id="rId21"/>
    <p:sldId id="49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CC"/>
    <a:srgbClr val="FFFFCC"/>
    <a:srgbClr val="CCFFFF"/>
    <a:srgbClr val="99FFCC"/>
    <a:srgbClr val="FF9999"/>
    <a:srgbClr val="FF00FF"/>
    <a:srgbClr val="0066CC"/>
    <a:srgbClr val="3F1749"/>
    <a:srgbClr val="660033"/>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61" autoAdjust="0"/>
    <p:restoredTop sz="94660"/>
  </p:normalViewPr>
  <p:slideViewPr>
    <p:cSldViewPr snapToGrid="0">
      <p:cViewPr varScale="1">
        <p:scale>
          <a:sx n="74" d="100"/>
          <a:sy n="74" d="100"/>
        </p:scale>
        <p:origin x="364" y="60"/>
      </p:cViewPr>
      <p:guideLst>
        <p:guide orient="horz" pos="2184"/>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3C6DF84-CD1F-4FA6-8BC8-E893B696DB9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AEE00F5-A9A7-4164-9154-87868DA7B41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3835A1-0E46-4E70-BE50-D16D92BA4F06}" type="datetimeFigureOut">
              <a:rPr lang="en-US" smtClean="0"/>
              <a:t>9/1/2026</a:t>
            </a:fld>
            <a:endParaRPr lang="en-US"/>
          </a:p>
        </p:txBody>
      </p:sp>
      <p:sp>
        <p:nvSpPr>
          <p:cNvPr id="4" name="Footer Placeholder 3">
            <a:extLst>
              <a:ext uri="{FF2B5EF4-FFF2-40B4-BE49-F238E27FC236}">
                <a16:creationId xmlns:a16="http://schemas.microsoft.com/office/drawing/2014/main" id="{3118731D-8B59-4095-B77A-4BC76754C1F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011D674-0CD9-4F38-9541-10F8D4CF120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8A66C0-A5B3-4976-B3B0-D5887CB70322}" type="slidenum">
              <a:rPr lang="en-US" smtClean="0"/>
              <a:t>‹#›</a:t>
            </a:fld>
            <a:endParaRPr lang="en-US"/>
          </a:p>
        </p:txBody>
      </p:sp>
    </p:spTree>
    <p:extLst>
      <p:ext uri="{BB962C8B-B14F-4D97-AF65-F5344CB8AC3E}">
        <p14:creationId xmlns:p14="http://schemas.microsoft.com/office/powerpoint/2010/main" val="18963499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104257-2063-464D-8392-2DAA70F807F3}" type="datetimeFigureOut">
              <a:rPr lang="en-US" smtClean="0"/>
              <a:t>9/1/2026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2DBBA1-8DB8-4FE4-8A77-5307E3FF1729}" type="slidenum">
              <a:rPr lang="en-US" smtClean="0"/>
              <a:t>‹#›</a:t>
            </a:fld>
            <a:endParaRPr lang="en-US"/>
          </a:p>
        </p:txBody>
      </p:sp>
    </p:spTree>
    <p:extLst>
      <p:ext uri="{BB962C8B-B14F-4D97-AF65-F5344CB8AC3E}">
        <p14:creationId xmlns:p14="http://schemas.microsoft.com/office/powerpoint/2010/main" val="710254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EC820-F06A-4B86-BF0B-B3F6612CAC51}"/>
              </a:ext>
            </a:extLst>
          </p:cNvPr>
          <p:cNvSpPr>
            <a:spLocks noGrp="1"/>
          </p:cNvSpPr>
          <p:nvPr>
            <p:ph type="ctrTitle"/>
          </p:nvPr>
        </p:nvSpPr>
        <p:spPr>
          <a:xfrm>
            <a:off x="1524000" y="1122363"/>
            <a:ext cx="9144000" cy="2387600"/>
          </a:xfrm>
        </p:spPr>
        <p:txBody>
          <a:bodyPr anchor="b"/>
          <a:lstStyle>
            <a:lvl1pPr algn="ctr">
              <a:defRPr sz="6000">
                <a:latin typeface="Gill Sans MT" panose="020B0502020104020203"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92854DBB-C47C-49E9-9D9C-CA5C80EA2C65}"/>
              </a:ext>
            </a:extLst>
          </p:cNvPr>
          <p:cNvSpPr>
            <a:spLocks noGrp="1"/>
          </p:cNvSpPr>
          <p:nvPr>
            <p:ph type="subTitle" idx="1"/>
          </p:nvPr>
        </p:nvSpPr>
        <p:spPr>
          <a:xfrm>
            <a:off x="1524000" y="3602038"/>
            <a:ext cx="9144000" cy="1655762"/>
          </a:xfrm>
        </p:spPr>
        <p:txBody>
          <a:bodyPr/>
          <a:lstStyle>
            <a:lvl1pPr marL="0" indent="0" algn="ctr">
              <a:buNone/>
              <a:defRPr sz="2400">
                <a:latin typeface="Gill Sans MT" panose="020B05020201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6F20DD88-B242-467D-BEB5-FB8F7EF95166}"/>
              </a:ext>
            </a:extLst>
          </p:cNvPr>
          <p:cNvSpPr>
            <a:spLocks noGrp="1"/>
          </p:cNvSpPr>
          <p:nvPr>
            <p:ph type="ftr" sz="quarter" idx="11"/>
          </p:nvPr>
        </p:nvSpPr>
        <p:spPr/>
        <p:txBody>
          <a:bodyPr/>
          <a:lstStyle>
            <a:lvl1pPr>
              <a:defRPr>
                <a:latin typeface="Gill Sans MT" panose="020B0502020104020203" pitchFamily="34" charset="0"/>
              </a:defRPr>
            </a:lvl1pPr>
          </a:lstStyle>
          <a:p>
            <a:r>
              <a:rPr lang="en-US"/>
              <a:t>CS-314: Quantum Computing</a:t>
            </a:r>
            <a:endParaRPr lang="en-US" dirty="0"/>
          </a:p>
        </p:txBody>
      </p:sp>
      <p:sp>
        <p:nvSpPr>
          <p:cNvPr id="6" name="Slide Number Placeholder 5">
            <a:extLst>
              <a:ext uri="{FF2B5EF4-FFF2-40B4-BE49-F238E27FC236}">
                <a16:creationId xmlns:a16="http://schemas.microsoft.com/office/drawing/2014/main" id="{90B69A8C-3893-4697-8DCE-E8D296031AFE}"/>
              </a:ext>
            </a:extLst>
          </p:cNvPr>
          <p:cNvSpPr>
            <a:spLocks noGrp="1"/>
          </p:cNvSpPr>
          <p:nvPr>
            <p:ph type="sldNum" sz="quarter" idx="12"/>
          </p:nvPr>
        </p:nvSpPr>
        <p:spPr/>
        <p:txBody>
          <a:bodyPr/>
          <a:lstStyle>
            <a:lvl1pPr>
              <a:defRPr>
                <a:latin typeface="Gill Sans MT" panose="020B0502020104020203" pitchFamily="34" charset="0"/>
              </a:defRPr>
            </a:lvl1pPr>
          </a:lstStyle>
          <a:p>
            <a:fld id="{69121A1F-7885-4E65-AB38-5CCB274F4EF5}" type="slidenum">
              <a:rPr lang="en-US" smtClean="0"/>
              <a:pPr/>
              <a:t>‹#›</a:t>
            </a:fld>
            <a:endParaRPr lang="en-US"/>
          </a:p>
        </p:txBody>
      </p:sp>
      <p:sp>
        <p:nvSpPr>
          <p:cNvPr id="9" name="Rectangle 8">
            <a:extLst>
              <a:ext uri="{FF2B5EF4-FFF2-40B4-BE49-F238E27FC236}">
                <a16:creationId xmlns:a16="http://schemas.microsoft.com/office/drawing/2014/main" id="{75924B38-6344-1101-CED8-B9C1500E80E7}"/>
              </a:ext>
            </a:extLst>
          </p:cNvPr>
          <p:cNvSpPr/>
          <p:nvPr userDrawn="1"/>
        </p:nvSpPr>
        <p:spPr>
          <a:xfrm>
            <a:off x="0" y="0"/>
            <a:ext cx="12192000" cy="410817"/>
          </a:xfrm>
          <a:prstGeom prst="rect">
            <a:avLst/>
          </a:prstGeom>
          <a:solidFill>
            <a:schemeClr val="accent1"/>
          </a:solidFill>
          <a:ln>
            <a:solidFill>
              <a:srgbClr val="3F174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78D29A5D-1308-E10C-202B-3DEF0CAECB9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761" t="4545" r="68780" b="3335"/>
          <a:stretch/>
        </p:blipFill>
        <p:spPr bwMode="auto">
          <a:xfrm>
            <a:off x="7937" y="4125"/>
            <a:ext cx="368300" cy="401168"/>
          </a:xfrm>
          <a:prstGeom prst="rect">
            <a:avLst/>
          </a:prstGeom>
          <a:solidFill>
            <a:schemeClr val="accent1"/>
          </a:solid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9155660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A5013-5E51-49C0-BC22-8E93E632C4A9}"/>
              </a:ext>
            </a:extLst>
          </p:cNvPr>
          <p:cNvSpPr>
            <a:spLocks noGrp="1"/>
          </p:cNvSpPr>
          <p:nvPr>
            <p:ph type="title" hasCustomPrompt="1"/>
          </p:nvPr>
        </p:nvSpPr>
        <p:spPr>
          <a:xfrm>
            <a:off x="-2381" y="410368"/>
            <a:ext cx="12192000" cy="1325563"/>
          </a:xfrm>
          <a:solidFill>
            <a:srgbClr val="FFFFCC"/>
          </a:solidFill>
        </p:spPr>
        <p:txBody>
          <a:bodyPr/>
          <a:lstStyle>
            <a:lvl1pPr>
              <a:defRPr>
                <a:latin typeface="Gill Sans MT" panose="020B0502020104020203" pitchFamily="34" charset="0"/>
              </a:defRPr>
            </a:lvl1pPr>
          </a:lstStyle>
          <a:p>
            <a:r>
              <a:rPr lang="en-US" dirty="0"/>
              <a:t>	Click to edit Master title style</a:t>
            </a:r>
          </a:p>
        </p:txBody>
      </p:sp>
      <p:sp>
        <p:nvSpPr>
          <p:cNvPr id="3" name="Content Placeholder 2">
            <a:extLst>
              <a:ext uri="{FF2B5EF4-FFF2-40B4-BE49-F238E27FC236}">
                <a16:creationId xmlns:a16="http://schemas.microsoft.com/office/drawing/2014/main" id="{079E4D83-D539-4263-B106-C711256BE91F}"/>
              </a:ext>
            </a:extLst>
          </p:cNvPr>
          <p:cNvSpPr>
            <a:spLocks noGrp="1"/>
          </p:cNvSpPr>
          <p:nvPr>
            <p:ph idx="1"/>
          </p:nvPr>
        </p:nvSpPr>
        <p:spPr/>
        <p:txBody>
          <a:bodyPr/>
          <a:lstStyle>
            <a:lvl1pPr>
              <a:defRPr>
                <a:latin typeface="Gill Sans MT" panose="020B0502020104020203" pitchFamily="34" charset="0"/>
              </a:defRPr>
            </a:lvl1pPr>
            <a:lvl2pPr>
              <a:defRPr>
                <a:latin typeface="Gill Sans MT" panose="020B0502020104020203" pitchFamily="34" charset="0"/>
              </a:defRPr>
            </a:lvl2pPr>
            <a:lvl3pPr>
              <a:defRPr>
                <a:latin typeface="Gill Sans MT" panose="020B0502020104020203" pitchFamily="34" charset="0"/>
              </a:defRPr>
            </a:lvl3pPr>
            <a:lvl4pPr>
              <a:defRPr>
                <a:latin typeface="Gill Sans MT" panose="020B0502020104020203" pitchFamily="34" charset="0"/>
              </a:defRPr>
            </a:lvl4pPr>
            <a:lvl5pPr>
              <a:defRPr>
                <a:latin typeface="Gill Sans MT" panose="020B05020201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8894F8B-ED69-49D9-B6CD-CC002E9B2845}"/>
              </a:ext>
            </a:extLst>
          </p:cNvPr>
          <p:cNvSpPr>
            <a:spLocks noGrp="1"/>
          </p:cNvSpPr>
          <p:nvPr>
            <p:ph type="ftr" sz="quarter" idx="11"/>
          </p:nvPr>
        </p:nvSpPr>
        <p:spPr/>
        <p:txBody>
          <a:bodyPr/>
          <a:lstStyle/>
          <a:p>
            <a:r>
              <a:rPr lang="en-US"/>
              <a:t>CS-314: Quantum Computing</a:t>
            </a:r>
            <a:endParaRPr lang="en-US" dirty="0"/>
          </a:p>
        </p:txBody>
      </p:sp>
      <p:sp>
        <p:nvSpPr>
          <p:cNvPr id="9" name="Slide Number Placeholder 8">
            <a:extLst>
              <a:ext uri="{FF2B5EF4-FFF2-40B4-BE49-F238E27FC236}">
                <a16:creationId xmlns:a16="http://schemas.microsoft.com/office/drawing/2014/main" id="{A92B2E41-6AC9-4EA2-B3F7-D0541296F2D7}"/>
              </a:ext>
            </a:extLst>
          </p:cNvPr>
          <p:cNvSpPr>
            <a:spLocks noGrp="1"/>
          </p:cNvSpPr>
          <p:nvPr>
            <p:ph type="sldNum" sz="quarter" idx="12"/>
          </p:nvPr>
        </p:nvSpPr>
        <p:spPr/>
        <p:txBody>
          <a:bodyPr/>
          <a:lstStyle/>
          <a:p>
            <a:fld id="{69121A1F-7885-4E65-AB38-5CCB274F4EF5}" type="slidenum">
              <a:rPr lang="en-US" smtClean="0"/>
              <a:t>‹#›</a:t>
            </a:fld>
            <a:endParaRPr lang="en-US"/>
          </a:p>
        </p:txBody>
      </p:sp>
      <p:sp>
        <p:nvSpPr>
          <p:cNvPr id="12" name="Rectangle 11">
            <a:extLst>
              <a:ext uri="{FF2B5EF4-FFF2-40B4-BE49-F238E27FC236}">
                <a16:creationId xmlns:a16="http://schemas.microsoft.com/office/drawing/2014/main" id="{9D9705D3-83C8-16A9-3AE4-F96B6A26C65F}"/>
              </a:ext>
            </a:extLst>
          </p:cNvPr>
          <p:cNvSpPr/>
          <p:nvPr userDrawn="1"/>
        </p:nvSpPr>
        <p:spPr>
          <a:xfrm>
            <a:off x="0" y="0"/>
            <a:ext cx="12192000" cy="410817"/>
          </a:xfrm>
          <a:prstGeom prst="rect">
            <a:avLst/>
          </a:prstGeom>
          <a:solidFill>
            <a:schemeClr val="accent1"/>
          </a:solidFill>
          <a:ln>
            <a:solidFill>
              <a:srgbClr val="3F174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18AF1FB-19E1-0DAE-FD18-DC60EDFAACB3}"/>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761" t="4545" r="68780" b="3335"/>
          <a:stretch/>
        </p:blipFill>
        <p:spPr bwMode="auto">
          <a:xfrm>
            <a:off x="7937" y="4125"/>
            <a:ext cx="368300" cy="401168"/>
          </a:xfrm>
          <a:prstGeom prst="rect">
            <a:avLst/>
          </a:prstGeom>
          <a:solidFill>
            <a:schemeClr val="accent1"/>
          </a:solid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08184563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20FEA-A9EE-4984-A777-E95860841FA1}"/>
              </a:ext>
            </a:extLst>
          </p:cNvPr>
          <p:cNvSpPr>
            <a:spLocks noGrp="1"/>
          </p:cNvSpPr>
          <p:nvPr>
            <p:ph type="title"/>
          </p:nvPr>
        </p:nvSpPr>
        <p:spPr>
          <a:xfrm>
            <a:off x="831850" y="1709738"/>
            <a:ext cx="10515600" cy="2852737"/>
          </a:xfrm>
        </p:spPr>
        <p:txBody>
          <a:bodyPr anchor="b"/>
          <a:lstStyle>
            <a:lvl1pPr>
              <a:defRPr sz="6000">
                <a:latin typeface="Gill Sans MT" panose="020B0502020104020203"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9315FA1F-94A1-45CE-84C6-23F77E0C32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Gill Sans MT" panose="020B05020201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702D99CA-D285-4F1A-9EF3-9FF6A7537CFB}"/>
              </a:ext>
            </a:extLst>
          </p:cNvPr>
          <p:cNvSpPr>
            <a:spLocks noGrp="1"/>
          </p:cNvSpPr>
          <p:nvPr>
            <p:ph type="ftr" sz="quarter" idx="11"/>
          </p:nvPr>
        </p:nvSpPr>
        <p:spPr/>
        <p:txBody>
          <a:bodyPr/>
          <a:lstStyle>
            <a:lvl1pPr>
              <a:defRPr>
                <a:latin typeface="Gill Sans MT" panose="020B0502020104020203" pitchFamily="34" charset="0"/>
              </a:defRPr>
            </a:lvl1pPr>
          </a:lstStyle>
          <a:p>
            <a:r>
              <a:rPr lang="en-US"/>
              <a:t>CS-314: Quantum Computing</a:t>
            </a:r>
            <a:endParaRPr lang="en-US" dirty="0"/>
          </a:p>
        </p:txBody>
      </p:sp>
      <p:sp>
        <p:nvSpPr>
          <p:cNvPr id="6" name="Slide Number Placeholder 5">
            <a:extLst>
              <a:ext uri="{FF2B5EF4-FFF2-40B4-BE49-F238E27FC236}">
                <a16:creationId xmlns:a16="http://schemas.microsoft.com/office/drawing/2014/main" id="{41DF42B6-DC9F-4E20-85F3-748AB2CFC400}"/>
              </a:ext>
            </a:extLst>
          </p:cNvPr>
          <p:cNvSpPr>
            <a:spLocks noGrp="1"/>
          </p:cNvSpPr>
          <p:nvPr>
            <p:ph type="sldNum" sz="quarter" idx="12"/>
          </p:nvPr>
        </p:nvSpPr>
        <p:spPr/>
        <p:txBody>
          <a:bodyPr/>
          <a:lstStyle>
            <a:lvl1pPr>
              <a:defRPr>
                <a:latin typeface="Gill Sans MT" panose="020B0502020104020203" pitchFamily="34" charset="0"/>
              </a:defRPr>
            </a:lvl1pPr>
          </a:lstStyle>
          <a:p>
            <a:fld id="{69121A1F-7885-4E65-AB38-5CCB274F4EF5}" type="slidenum">
              <a:rPr lang="en-US" smtClean="0"/>
              <a:pPr/>
              <a:t>‹#›</a:t>
            </a:fld>
            <a:endParaRPr lang="en-US"/>
          </a:p>
        </p:txBody>
      </p:sp>
      <p:sp>
        <p:nvSpPr>
          <p:cNvPr id="9" name="Rectangle 8">
            <a:extLst>
              <a:ext uri="{FF2B5EF4-FFF2-40B4-BE49-F238E27FC236}">
                <a16:creationId xmlns:a16="http://schemas.microsoft.com/office/drawing/2014/main" id="{9FB8D539-AF05-6879-DBE7-958561F71780}"/>
              </a:ext>
            </a:extLst>
          </p:cNvPr>
          <p:cNvSpPr/>
          <p:nvPr userDrawn="1"/>
        </p:nvSpPr>
        <p:spPr>
          <a:xfrm>
            <a:off x="0" y="0"/>
            <a:ext cx="12192000" cy="410817"/>
          </a:xfrm>
          <a:prstGeom prst="rect">
            <a:avLst/>
          </a:prstGeom>
          <a:solidFill>
            <a:schemeClr val="accent1"/>
          </a:solidFill>
          <a:ln>
            <a:solidFill>
              <a:srgbClr val="3F174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C923BFEB-A61A-BC44-0BF0-D7A0547C8C32}"/>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761" t="4545" r="68780" b="3335"/>
          <a:stretch/>
        </p:blipFill>
        <p:spPr bwMode="auto">
          <a:xfrm>
            <a:off x="7937" y="4125"/>
            <a:ext cx="368300" cy="401168"/>
          </a:xfrm>
          <a:prstGeom prst="rect">
            <a:avLst/>
          </a:prstGeom>
          <a:solidFill>
            <a:schemeClr val="accent1"/>
          </a:solid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885622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A21E5E-0811-4F8F-B2BD-F0EA8FE0DD64}"/>
              </a:ext>
            </a:extLst>
          </p:cNvPr>
          <p:cNvSpPr>
            <a:spLocks noGrp="1"/>
          </p:cNvSpPr>
          <p:nvPr>
            <p:ph sz="half" idx="1"/>
          </p:nvPr>
        </p:nvSpPr>
        <p:spPr>
          <a:xfrm>
            <a:off x="838200" y="1825625"/>
            <a:ext cx="5181600" cy="4351338"/>
          </a:xfrm>
        </p:spPr>
        <p:txBody>
          <a:bodyPr/>
          <a:lstStyle>
            <a:lvl1pPr>
              <a:defRPr>
                <a:latin typeface="Gill Sans MT" panose="020B0502020104020203" pitchFamily="34" charset="0"/>
              </a:defRPr>
            </a:lvl1pPr>
            <a:lvl2pPr>
              <a:defRPr>
                <a:latin typeface="Gill Sans MT" panose="020B0502020104020203" pitchFamily="34" charset="0"/>
              </a:defRPr>
            </a:lvl2pPr>
            <a:lvl3pPr>
              <a:defRPr>
                <a:latin typeface="Gill Sans MT" panose="020B0502020104020203" pitchFamily="34" charset="0"/>
              </a:defRPr>
            </a:lvl3pPr>
            <a:lvl4pPr>
              <a:defRPr>
                <a:latin typeface="Gill Sans MT" panose="020B0502020104020203" pitchFamily="34" charset="0"/>
              </a:defRPr>
            </a:lvl4pPr>
            <a:lvl5pPr>
              <a:defRPr>
                <a:latin typeface="Gill Sans MT" panose="020B05020201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AF19ED3-0C43-4509-8413-12035F8852C3}"/>
              </a:ext>
            </a:extLst>
          </p:cNvPr>
          <p:cNvSpPr>
            <a:spLocks noGrp="1"/>
          </p:cNvSpPr>
          <p:nvPr>
            <p:ph sz="half" idx="2"/>
          </p:nvPr>
        </p:nvSpPr>
        <p:spPr>
          <a:xfrm>
            <a:off x="6172200" y="1825625"/>
            <a:ext cx="5181600" cy="4351338"/>
          </a:xfrm>
        </p:spPr>
        <p:txBody>
          <a:bodyPr/>
          <a:lstStyle>
            <a:lvl1pPr>
              <a:defRPr>
                <a:latin typeface="Gill Sans MT" panose="020B0502020104020203" pitchFamily="34" charset="0"/>
              </a:defRPr>
            </a:lvl1pPr>
            <a:lvl2pPr>
              <a:defRPr>
                <a:latin typeface="Gill Sans MT" panose="020B0502020104020203" pitchFamily="34" charset="0"/>
              </a:defRPr>
            </a:lvl2pPr>
            <a:lvl3pPr>
              <a:defRPr>
                <a:latin typeface="Gill Sans MT" panose="020B0502020104020203" pitchFamily="34" charset="0"/>
              </a:defRPr>
            </a:lvl3pPr>
            <a:lvl4pPr>
              <a:defRPr>
                <a:latin typeface="Gill Sans MT" panose="020B0502020104020203" pitchFamily="34" charset="0"/>
              </a:defRPr>
            </a:lvl4pPr>
            <a:lvl5pPr>
              <a:defRPr>
                <a:latin typeface="Gill Sans MT" panose="020B05020201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7D211BA6-FC26-4989-AC9B-C616261475B2}"/>
              </a:ext>
            </a:extLst>
          </p:cNvPr>
          <p:cNvSpPr>
            <a:spLocks noGrp="1"/>
          </p:cNvSpPr>
          <p:nvPr>
            <p:ph type="ftr" sz="quarter" idx="11"/>
          </p:nvPr>
        </p:nvSpPr>
        <p:spPr/>
        <p:txBody>
          <a:bodyPr/>
          <a:lstStyle>
            <a:lvl1pPr>
              <a:defRPr>
                <a:latin typeface="Gill Sans MT" panose="020B0502020104020203" pitchFamily="34" charset="0"/>
              </a:defRPr>
            </a:lvl1pPr>
          </a:lstStyle>
          <a:p>
            <a:r>
              <a:rPr lang="en-US"/>
              <a:t>CS-314: Quantum Computing</a:t>
            </a:r>
            <a:endParaRPr lang="en-US" dirty="0"/>
          </a:p>
        </p:txBody>
      </p:sp>
      <p:sp>
        <p:nvSpPr>
          <p:cNvPr id="7" name="Slide Number Placeholder 6">
            <a:extLst>
              <a:ext uri="{FF2B5EF4-FFF2-40B4-BE49-F238E27FC236}">
                <a16:creationId xmlns:a16="http://schemas.microsoft.com/office/drawing/2014/main" id="{266FBF8E-11D8-47C3-B42E-CB9685CAC7A1}"/>
              </a:ext>
            </a:extLst>
          </p:cNvPr>
          <p:cNvSpPr>
            <a:spLocks noGrp="1"/>
          </p:cNvSpPr>
          <p:nvPr>
            <p:ph type="sldNum" sz="quarter" idx="12"/>
          </p:nvPr>
        </p:nvSpPr>
        <p:spPr/>
        <p:txBody>
          <a:bodyPr/>
          <a:lstStyle>
            <a:lvl1pPr>
              <a:defRPr>
                <a:latin typeface="Gill Sans MT" panose="020B0502020104020203" pitchFamily="34" charset="0"/>
              </a:defRPr>
            </a:lvl1pPr>
          </a:lstStyle>
          <a:p>
            <a:fld id="{69121A1F-7885-4E65-AB38-5CCB274F4EF5}" type="slidenum">
              <a:rPr lang="en-US" smtClean="0"/>
              <a:pPr/>
              <a:t>‹#›</a:t>
            </a:fld>
            <a:endParaRPr lang="en-US"/>
          </a:p>
        </p:txBody>
      </p:sp>
      <p:sp>
        <p:nvSpPr>
          <p:cNvPr id="9" name="Title 1">
            <a:extLst>
              <a:ext uri="{FF2B5EF4-FFF2-40B4-BE49-F238E27FC236}">
                <a16:creationId xmlns:a16="http://schemas.microsoft.com/office/drawing/2014/main" id="{4F29262B-DCE4-453C-AC44-46A76531AD79}"/>
              </a:ext>
            </a:extLst>
          </p:cNvPr>
          <p:cNvSpPr>
            <a:spLocks noGrp="1"/>
          </p:cNvSpPr>
          <p:nvPr>
            <p:ph type="title" hasCustomPrompt="1"/>
          </p:nvPr>
        </p:nvSpPr>
        <p:spPr>
          <a:xfrm>
            <a:off x="-13063" y="425378"/>
            <a:ext cx="12192000" cy="1205057"/>
          </a:xfrm>
          <a:solidFill>
            <a:srgbClr val="FFFFCC"/>
          </a:solidFill>
        </p:spPr>
        <p:txBody>
          <a:bodyPr/>
          <a:lstStyle>
            <a:lvl1pPr>
              <a:defRPr>
                <a:latin typeface="Gill Sans MT" panose="020B0502020104020203" pitchFamily="34" charset="0"/>
              </a:defRPr>
            </a:lvl1pPr>
          </a:lstStyle>
          <a:p>
            <a:r>
              <a:rPr lang="en-US"/>
              <a:t>	Click to edit Master title style</a:t>
            </a:r>
          </a:p>
        </p:txBody>
      </p:sp>
      <p:sp>
        <p:nvSpPr>
          <p:cNvPr id="10" name="Rectangle 9">
            <a:extLst>
              <a:ext uri="{FF2B5EF4-FFF2-40B4-BE49-F238E27FC236}">
                <a16:creationId xmlns:a16="http://schemas.microsoft.com/office/drawing/2014/main" id="{E7FFAA2E-80D3-7C42-DC59-98E39C2D21B7}"/>
              </a:ext>
            </a:extLst>
          </p:cNvPr>
          <p:cNvSpPr/>
          <p:nvPr userDrawn="1"/>
        </p:nvSpPr>
        <p:spPr>
          <a:xfrm>
            <a:off x="0" y="0"/>
            <a:ext cx="12192000" cy="410817"/>
          </a:xfrm>
          <a:prstGeom prst="rect">
            <a:avLst/>
          </a:prstGeom>
          <a:solidFill>
            <a:schemeClr val="accent1"/>
          </a:solidFill>
          <a:ln>
            <a:solidFill>
              <a:srgbClr val="3F174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D2F00280-50F5-5F70-653E-910E8D8B6E4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761" t="4545" r="68780" b="3335"/>
          <a:stretch/>
        </p:blipFill>
        <p:spPr bwMode="auto">
          <a:xfrm>
            <a:off x="7937" y="4125"/>
            <a:ext cx="368300" cy="401168"/>
          </a:xfrm>
          <a:prstGeom prst="rect">
            <a:avLst/>
          </a:prstGeom>
          <a:solidFill>
            <a:schemeClr val="accent1"/>
          </a:solid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71880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71E841-4E40-4E94-9C41-48CA6FFFA4B3}"/>
              </a:ext>
            </a:extLst>
          </p:cNvPr>
          <p:cNvSpPr>
            <a:spLocks noGrp="1"/>
          </p:cNvSpPr>
          <p:nvPr>
            <p:ph type="body" idx="1"/>
          </p:nvPr>
        </p:nvSpPr>
        <p:spPr>
          <a:xfrm>
            <a:off x="839788" y="1681163"/>
            <a:ext cx="5157787" cy="823912"/>
          </a:xfrm>
        </p:spPr>
        <p:txBody>
          <a:bodyPr anchor="b"/>
          <a:lstStyle>
            <a:lvl1pPr marL="0" indent="0">
              <a:buNone/>
              <a:defRPr sz="2400" b="1">
                <a:latin typeface="Gill Sans MT" panose="020B05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C33963-8E17-4AED-BD0A-6C7EDF769FAD}"/>
              </a:ext>
            </a:extLst>
          </p:cNvPr>
          <p:cNvSpPr>
            <a:spLocks noGrp="1"/>
          </p:cNvSpPr>
          <p:nvPr>
            <p:ph sz="half" idx="2"/>
          </p:nvPr>
        </p:nvSpPr>
        <p:spPr>
          <a:xfrm>
            <a:off x="839788" y="2505075"/>
            <a:ext cx="5157787" cy="3684588"/>
          </a:xfrm>
        </p:spPr>
        <p:txBody>
          <a:bodyPr/>
          <a:lstStyle>
            <a:lvl1pPr>
              <a:defRPr>
                <a:latin typeface="Gill Sans MT" panose="020B0502020104020203" pitchFamily="34" charset="0"/>
              </a:defRPr>
            </a:lvl1pPr>
            <a:lvl2pPr>
              <a:defRPr>
                <a:latin typeface="Gill Sans MT" panose="020B0502020104020203" pitchFamily="34" charset="0"/>
              </a:defRPr>
            </a:lvl2pPr>
            <a:lvl3pPr>
              <a:defRPr>
                <a:latin typeface="Gill Sans MT" panose="020B0502020104020203" pitchFamily="34" charset="0"/>
              </a:defRPr>
            </a:lvl3pPr>
            <a:lvl4pPr>
              <a:defRPr>
                <a:latin typeface="Gill Sans MT" panose="020B0502020104020203" pitchFamily="34" charset="0"/>
              </a:defRPr>
            </a:lvl4pPr>
            <a:lvl5pPr>
              <a:defRPr>
                <a:latin typeface="Gill Sans MT" panose="020B05020201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069669F-0CC8-486E-A29E-8F810DC054EB}"/>
              </a:ext>
            </a:extLst>
          </p:cNvPr>
          <p:cNvSpPr>
            <a:spLocks noGrp="1"/>
          </p:cNvSpPr>
          <p:nvPr>
            <p:ph type="body" sz="quarter" idx="3"/>
          </p:nvPr>
        </p:nvSpPr>
        <p:spPr>
          <a:xfrm>
            <a:off x="6172200" y="1681163"/>
            <a:ext cx="5183188" cy="823912"/>
          </a:xfrm>
        </p:spPr>
        <p:txBody>
          <a:bodyPr anchor="b"/>
          <a:lstStyle>
            <a:lvl1pPr marL="0" indent="0">
              <a:buNone/>
              <a:defRPr sz="2400" b="1">
                <a:latin typeface="Gill Sans MT" panose="020B05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D48C6F-C450-4648-9828-249C92913098}"/>
              </a:ext>
            </a:extLst>
          </p:cNvPr>
          <p:cNvSpPr>
            <a:spLocks noGrp="1"/>
          </p:cNvSpPr>
          <p:nvPr>
            <p:ph sz="quarter" idx="4"/>
          </p:nvPr>
        </p:nvSpPr>
        <p:spPr>
          <a:xfrm>
            <a:off x="6172200" y="2505075"/>
            <a:ext cx="5183188" cy="3684588"/>
          </a:xfrm>
        </p:spPr>
        <p:txBody>
          <a:bodyPr/>
          <a:lstStyle>
            <a:lvl1pPr>
              <a:defRPr>
                <a:latin typeface="Gill Sans MT" panose="020B0502020104020203" pitchFamily="34" charset="0"/>
              </a:defRPr>
            </a:lvl1pPr>
            <a:lvl2pPr>
              <a:defRPr>
                <a:latin typeface="Gill Sans MT" panose="020B0502020104020203" pitchFamily="34" charset="0"/>
              </a:defRPr>
            </a:lvl2pPr>
            <a:lvl3pPr>
              <a:defRPr>
                <a:latin typeface="Gill Sans MT" panose="020B0502020104020203" pitchFamily="34" charset="0"/>
              </a:defRPr>
            </a:lvl3pPr>
            <a:lvl4pPr>
              <a:defRPr>
                <a:latin typeface="Gill Sans MT" panose="020B0502020104020203" pitchFamily="34" charset="0"/>
              </a:defRPr>
            </a:lvl4pPr>
            <a:lvl5pPr>
              <a:defRPr>
                <a:latin typeface="Gill Sans MT" panose="020B05020201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067D1B2B-27A1-4F00-A12E-45D62A00C717}"/>
              </a:ext>
            </a:extLst>
          </p:cNvPr>
          <p:cNvSpPr>
            <a:spLocks noGrp="1"/>
          </p:cNvSpPr>
          <p:nvPr>
            <p:ph type="ftr" sz="quarter" idx="11"/>
          </p:nvPr>
        </p:nvSpPr>
        <p:spPr/>
        <p:txBody>
          <a:bodyPr/>
          <a:lstStyle>
            <a:lvl1pPr>
              <a:defRPr>
                <a:latin typeface="Gill Sans MT" panose="020B0502020104020203" pitchFamily="34" charset="0"/>
              </a:defRPr>
            </a:lvl1pPr>
          </a:lstStyle>
          <a:p>
            <a:r>
              <a:rPr lang="en-US"/>
              <a:t>CS-314: Quantum Computing</a:t>
            </a:r>
            <a:endParaRPr lang="en-US" dirty="0"/>
          </a:p>
        </p:txBody>
      </p:sp>
      <p:sp>
        <p:nvSpPr>
          <p:cNvPr id="9" name="Slide Number Placeholder 8">
            <a:extLst>
              <a:ext uri="{FF2B5EF4-FFF2-40B4-BE49-F238E27FC236}">
                <a16:creationId xmlns:a16="http://schemas.microsoft.com/office/drawing/2014/main" id="{F817AE76-9D91-4D7D-9245-EF3809963FCB}"/>
              </a:ext>
            </a:extLst>
          </p:cNvPr>
          <p:cNvSpPr>
            <a:spLocks noGrp="1"/>
          </p:cNvSpPr>
          <p:nvPr>
            <p:ph type="sldNum" sz="quarter" idx="12"/>
          </p:nvPr>
        </p:nvSpPr>
        <p:spPr/>
        <p:txBody>
          <a:bodyPr/>
          <a:lstStyle>
            <a:lvl1pPr>
              <a:defRPr>
                <a:latin typeface="Gill Sans MT" panose="020B0502020104020203" pitchFamily="34" charset="0"/>
              </a:defRPr>
            </a:lvl1pPr>
          </a:lstStyle>
          <a:p>
            <a:fld id="{69121A1F-7885-4E65-AB38-5CCB274F4EF5}" type="slidenum">
              <a:rPr lang="en-US" smtClean="0"/>
              <a:pPr/>
              <a:t>‹#›</a:t>
            </a:fld>
            <a:endParaRPr lang="en-US"/>
          </a:p>
        </p:txBody>
      </p:sp>
      <p:sp>
        <p:nvSpPr>
          <p:cNvPr id="10" name="Title 1">
            <a:extLst>
              <a:ext uri="{FF2B5EF4-FFF2-40B4-BE49-F238E27FC236}">
                <a16:creationId xmlns:a16="http://schemas.microsoft.com/office/drawing/2014/main" id="{25BDD155-2A18-4842-8FBF-76C05561C5F2}"/>
              </a:ext>
            </a:extLst>
          </p:cNvPr>
          <p:cNvSpPr>
            <a:spLocks noGrp="1"/>
          </p:cNvSpPr>
          <p:nvPr>
            <p:ph type="title" hasCustomPrompt="1"/>
          </p:nvPr>
        </p:nvSpPr>
        <p:spPr>
          <a:xfrm>
            <a:off x="-13063" y="425378"/>
            <a:ext cx="12192000" cy="1205057"/>
          </a:xfrm>
          <a:solidFill>
            <a:srgbClr val="FFFFCC"/>
          </a:solidFill>
        </p:spPr>
        <p:txBody>
          <a:bodyPr/>
          <a:lstStyle>
            <a:lvl1pPr>
              <a:defRPr>
                <a:latin typeface="Gill Sans MT" panose="020B0502020104020203" pitchFamily="34" charset="0"/>
              </a:defRPr>
            </a:lvl1pPr>
          </a:lstStyle>
          <a:p>
            <a:r>
              <a:rPr lang="en-US"/>
              <a:t>	Click to edit Master title style</a:t>
            </a:r>
          </a:p>
        </p:txBody>
      </p:sp>
      <p:sp>
        <p:nvSpPr>
          <p:cNvPr id="12" name="Rectangle 11">
            <a:extLst>
              <a:ext uri="{FF2B5EF4-FFF2-40B4-BE49-F238E27FC236}">
                <a16:creationId xmlns:a16="http://schemas.microsoft.com/office/drawing/2014/main" id="{138EFABF-4B26-80A9-1902-8F1C022B8FBD}"/>
              </a:ext>
            </a:extLst>
          </p:cNvPr>
          <p:cNvSpPr/>
          <p:nvPr userDrawn="1"/>
        </p:nvSpPr>
        <p:spPr>
          <a:xfrm>
            <a:off x="0" y="0"/>
            <a:ext cx="12192000" cy="410817"/>
          </a:xfrm>
          <a:prstGeom prst="rect">
            <a:avLst/>
          </a:prstGeom>
          <a:solidFill>
            <a:schemeClr val="accent1"/>
          </a:solidFill>
          <a:ln>
            <a:solidFill>
              <a:srgbClr val="3F174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E0DFECC7-AF09-1B48-F3CE-2C13C10202B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761" t="4545" r="68780" b="3335"/>
          <a:stretch/>
        </p:blipFill>
        <p:spPr bwMode="auto">
          <a:xfrm>
            <a:off x="7937" y="4125"/>
            <a:ext cx="368300" cy="401168"/>
          </a:xfrm>
          <a:prstGeom prst="rect">
            <a:avLst/>
          </a:prstGeom>
          <a:solidFill>
            <a:schemeClr val="accent1"/>
          </a:solid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1566219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4DE2322-36E5-40B2-B77C-3FEDCE71F99D}"/>
              </a:ext>
            </a:extLst>
          </p:cNvPr>
          <p:cNvSpPr>
            <a:spLocks noGrp="1"/>
          </p:cNvSpPr>
          <p:nvPr>
            <p:ph type="ftr" sz="quarter" idx="11"/>
          </p:nvPr>
        </p:nvSpPr>
        <p:spPr/>
        <p:txBody>
          <a:bodyPr/>
          <a:lstStyle>
            <a:lvl1pPr>
              <a:defRPr>
                <a:latin typeface="Gill Sans MT" panose="020B0502020104020203" pitchFamily="34" charset="0"/>
              </a:defRPr>
            </a:lvl1pPr>
          </a:lstStyle>
          <a:p>
            <a:r>
              <a:rPr lang="en-US"/>
              <a:t>CS-314: Quantum Computing</a:t>
            </a:r>
            <a:endParaRPr lang="en-US" dirty="0"/>
          </a:p>
        </p:txBody>
      </p:sp>
      <p:sp>
        <p:nvSpPr>
          <p:cNvPr id="5" name="Slide Number Placeholder 4">
            <a:extLst>
              <a:ext uri="{FF2B5EF4-FFF2-40B4-BE49-F238E27FC236}">
                <a16:creationId xmlns:a16="http://schemas.microsoft.com/office/drawing/2014/main" id="{4C5CF9BB-D046-456C-9FE7-4EF522F8FFDC}"/>
              </a:ext>
            </a:extLst>
          </p:cNvPr>
          <p:cNvSpPr>
            <a:spLocks noGrp="1"/>
          </p:cNvSpPr>
          <p:nvPr>
            <p:ph type="sldNum" sz="quarter" idx="12"/>
          </p:nvPr>
        </p:nvSpPr>
        <p:spPr/>
        <p:txBody>
          <a:bodyPr/>
          <a:lstStyle>
            <a:lvl1pPr>
              <a:defRPr>
                <a:latin typeface="Gill Sans MT" panose="020B0502020104020203" pitchFamily="34" charset="0"/>
              </a:defRPr>
            </a:lvl1pPr>
          </a:lstStyle>
          <a:p>
            <a:fld id="{69121A1F-7885-4E65-AB38-5CCB274F4EF5}" type="slidenum">
              <a:rPr lang="en-US" smtClean="0"/>
              <a:pPr/>
              <a:t>‹#›</a:t>
            </a:fld>
            <a:endParaRPr lang="en-US"/>
          </a:p>
        </p:txBody>
      </p:sp>
      <p:sp>
        <p:nvSpPr>
          <p:cNvPr id="6" name="Title 1">
            <a:extLst>
              <a:ext uri="{FF2B5EF4-FFF2-40B4-BE49-F238E27FC236}">
                <a16:creationId xmlns:a16="http://schemas.microsoft.com/office/drawing/2014/main" id="{515D108B-C064-4DBF-88BA-3195AD637315}"/>
              </a:ext>
            </a:extLst>
          </p:cNvPr>
          <p:cNvSpPr>
            <a:spLocks noGrp="1"/>
          </p:cNvSpPr>
          <p:nvPr>
            <p:ph type="title" hasCustomPrompt="1"/>
          </p:nvPr>
        </p:nvSpPr>
        <p:spPr>
          <a:xfrm>
            <a:off x="-13063" y="425378"/>
            <a:ext cx="12192000" cy="1205057"/>
          </a:xfrm>
          <a:solidFill>
            <a:srgbClr val="FFFFCC"/>
          </a:solidFill>
        </p:spPr>
        <p:txBody>
          <a:bodyPr/>
          <a:lstStyle>
            <a:lvl1pPr>
              <a:defRPr>
                <a:latin typeface="Gill Sans MT" panose="020B0502020104020203" pitchFamily="34" charset="0"/>
              </a:defRPr>
            </a:lvl1pPr>
          </a:lstStyle>
          <a:p>
            <a:r>
              <a:rPr lang="en-US"/>
              <a:t>	Click to edit Master title style</a:t>
            </a:r>
          </a:p>
        </p:txBody>
      </p:sp>
      <p:sp>
        <p:nvSpPr>
          <p:cNvPr id="8" name="Rectangle 7">
            <a:extLst>
              <a:ext uri="{FF2B5EF4-FFF2-40B4-BE49-F238E27FC236}">
                <a16:creationId xmlns:a16="http://schemas.microsoft.com/office/drawing/2014/main" id="{78C7005D-A76C-B48A-033D-BD4761CD5221}"/>
              </a:ext>
            </a:extLst>
          </p:cNvPr>
          <p:cNvSpPr/>
          <p:nvPr userDrawn="1"/>
        </p:nvSpPr>
        <p:spPr>
          <a:xfrm>
            <a:off x="0" y="0"/>
            <a:ext cx="12192000" cy="410817"/>
          </a:xfrm>
          <a:prstGeom prst="rect">
            <a:avLst/>
          </a:prstGeom>
          <a:solidFill>
            <a:schemeClr val="accent1"/>
          </a:solidFill>
          <a:ln>
            <a:solidFill>
              <a:srgbClr val="3F174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08B081A7-AD93-2EB6-E24F-3D292432696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761" t="4545" r="68780" b="3335"/>
          <a:stretch/>
        </p:blipFill>
        <p:spPr bwMode="auto">
          <a:xfrm>
            <a:off x="7937" y="4125"/>
            <a:ext cx="368300" cy="401168"/>
          </a:xfrm>
          <a:prstGeom prst="rect">
            <a:avLst/>
          </a:prstGeom>
          <a:solidFill>
            <a:schemeClr val="accent1"/>
          </a:solid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592559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3AC6141-32E6-4033-A96E-2767E51ED897}"/>
              </a:ext>
            </a:extLst>
          </p:cNvPr>
          <p:cNvSpPr>
            <a:spLocks noGrp="1"/>
          </p:cNvSpPr>
          <p:nvPr>
            <p:ph type="ftr" sz="quarter" idx="11"/>
          </p:nvPr>
        </p:nvSpPr>
        <p:spPr/>
        <p:txBody>
          <a:bodyPr/>
          <a:lstStyle/>
          <a:p>
            <a:r>
              <a:rPr lang="en-US"/>
              <a:t>CS-314: Quantum Computing</a:t>
            </a:r>
            <a:endParaRPr lang="en-US" dirty="0"/>
          </a:p>
        </p:txBody>
      </p:sp>
      <p:sp>
        <p:nvSpPr>
          <p:cNvPr id="4" name="Slide Number Placeholder 3">
            <a:extLst>
              <a:ext uri="{FF2B5EF4-FFF2-40B4-BE49-F238E27FC236}">
                <a16:creationId xmlns:a16="http://schemas.microsoft.com/office/drawing/2014/main" id="{1211312C-54FA-4E5C-A078-885B17401D78}"/>
              </a:ext>
            </a:extLst>
          </p:cNvPr>
          <p:cNvSpPr>
            <a:spLocks noGrp="1"/>
          </p:cNvSpPr>
          <p:nvPr>
            <p:ph type="sldNum" sz="quarter" idx="12"/>
          </p:nvPr>
        </p:nvSpPr>
        <p:spPr/>
        <p:txBody>
          <a:bodyPr/>
          <a:lstStyle/>
          <a:p>
            <a:fld id="{69121A1F-7885-4E65-AB38-5CCB274F4EF5}" type="slidenum">
              <a:rPr lang="en-US" smtClean="0"/>
              <a:t>‹#›</a:t>
            </a:fld>
            <a:endParaRPr lang="en-US"/>
          </a:p>
        </p:txBody>
      </p:sp>
      <p:sp>
        <p:nvSpPr>
          <p:cNvPr id="7" name="Rectangle 6">
            <a:extLst>
              <a:ext uri="{FF2B5EF4-FFF2-40B4-BE49-F238E27FC236}">
                <a16:creationId xmlns:a16="http://schemas.microsoft.com/office/drawing/2014/main" id="{0CC24A72-8058-B3A9-85FC-3D15768C0226}"/>
              </a:ext>
            </a:extLst>
          </p:cNvPr>
          <p:cNvSpPr/>
          <p:nvPr userDrawn="1"/>
        </p:nvSpPr>
        <p:spPr>
          <a:xfrm>
            <a:off x="0" y="0"/>
            <a:ext cx="12192000" cy="410817"/>
          </a:xfrm>
          <a:prstGeom prst="rect">
            <a:avLst/>
          </a:prstGeom>
          <a:solidFill>
            <a:schemeClr val="accent1"/>
          </a:solidFill>
          <a:ln>
            <a:solidFill>
              <a:srgbClr val="3F174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B6028F2-BBFF-021F-3D35-1EF63AF80812}"/>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761" t="4545" r="68780" b="3335"/>
          <a:stretch/>
        </p:blipFill>
        <p:spPr bwMode="auto">
          <a:xfrm>
            <a:off x="7937" y="4125"/>
            <a:ext cx="368300" cy="401168"/>
          </a:xfrm>
          <a:prstGeom prst="rect">
            <a:avLst/>
          </a:prstGeom>
          <a:solidFill>
            <a:schemeClr val="accent1"/>
          </a:solid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07375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AF386-C2A1-4165-AA90-A143B880E275}"/>
              </a:ext>
            </a:extLst>
          </p:cNvPr>
          <p:cNvSpPr>
            <a:spLocks noGrp="1"/>
          </p:cNvSpPr>
          <p:nvPr>
            <p:ph type="title"/>
          </p:nvPr>
        </p:nvSpPr>
        <p:spPr>
          <a:xfrm>
            <a:off x="839788" y="457200"/>
            <a:ext cx="3932237" cy="1600200"/>
          </a:xfrm>
        </p:spPr>
        <p:txBody>
          <a:bodyPr anchor="b"/>
          <a:lstStyle>
            <a:lvl1pPr>
              <a:defRPr sz="3200">
                <a:latin typeface="Gill Sans MT" panose="020B0502020104020203"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A155B62E-7997-4D6A-894F-CBFA127EA6F4}"/>
              </a:ext>
            </a:extLst>
          </p:cNvPr>
          <p:cNvSpPr>
            <a:spLocks noGrp="1"/>
          </p:cNvSpPr>
          <p:nvPr>
            <p:ph idx="1"/>
          </p:nvPr>
        </p:nvSpPr>
        <p:spPr>
          <a:xfrm>
            <a:off x="5183188" y="987425"/>
            <a:ext cx="6172200" cy="4873625"/>
          </a:xfrm>
        </p:spPr>
        <p:txBody>
          <a:bodyPr/>
          <a:lstStyle>
            <a:lvl1pPr>
              <a:defRPr sz="3200">
                <a:latin typeface="Gill Sans MT" panose="020B0502020104020203" pitchFamily="34" charset="0"/>
              </a:defRPr>
            </a:lvl1pPr>
            <a:lvl2pPr>
              <a:defRPr sz="2800">
                <a:latin typeface="Gill Sans MT" panose="020B0502020104020203" pitchFamily="34" charset="0"/>
              </a:defRPr>
            </a:lvl2pPr>
            <a:lvl3pPr>
              <a:defRPr sz="2400">
                <a:latin typeface="Gill Sans MT" panose="020B0502020104020203" pitchFamily="34" charset="0"/>
              </a:defRPr>
            </a:lvl3pPr>
            <a:lvl4pPr>
              <a:defRPr sz="2000">
                <a:latin typeface="Gill Sans MT" panose="020B0502020104020203" pitchFamily="34" charset="0"/>
              </a:defRPr>
            </a:lvl4pPr>
            <a:lvl5pPr>
              <a:defRPr sz="2000">
                <a:latin typeface="Gill Sans MT" panose="020B0502020104020203"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E69036-BD0D-405E-ABE5-3182D7948360}"/>
              </a:ext>
            </a:extLst>
          </p:cNvPr>
          <p:cNvSpPr>
            <a:spLocks noGrp="1"/>
          </p:cNvSpPr>
          <p:nvPr>
            <p:ph type="body" sz="half" idx="2"/>
          </p:nvPr>
        </p:nvSpPr>
        <p:spPr>
          <a:xfrm>
            <a:off x="839788" y="2057400"/>
            <a:ext cx="3932237" cy="3811588"/>
          </a:xfrm>
        </p:spPr>
        <p:txBody>
          <a:bodyPr/>
          <a:lstStyle>
            <a:lvl1pPr marL="0" indent="0">
              <a:buNone/>
              <a:defRPr sz="1600">
                <a:latin typeface="Gill Sans MT" panose="020B05020201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C6781FBA-E5AB-4AE8-AD85-5CEC95094234}"/>
              </a:ext>
            </a:extLst>
          </p:cNvPr>
          <p:cNvSpPr>
            <a:spLocks noGrp="1"/>
          </p:cNvSpPr>
          <p:nvPr>
            <p:ph type="ftr" sz="quarter" idx="11"/>
          </p:nvPr>
        </p:nvSpPr>
        <p:spPr/>
        <p:txBody>
          <a:bodyPr/>
          <a:lstStyle>
            <a:lvl1pPr>
              <a:defRPr>
                <a:latin typeface="Gill Sans MT" panose="020B0502020104020203" pitchFamily="34" charset="0"/>
              </a:defRPr>
            </a:lvl1pPr>
          </a:lstStyle>
          <a:p>
            <a:r>
              <a:rPr lang="en-US"/>
              <a:t>CS-314: Quantum Computing</a:t>
            </a:r>
            <a:endParaRPr lang="en-US" dirty="0"/>
          </a:p>
        </p:txBody>
      </p:sp>
      <p:sp>
        <p:nvSpPr>
          <p:cNvPr id="7" name="Slide Number Placeholder 6">
            <a:extLst>
              <a:ext uri="{FF2B5EF4-FFF2-40B4-BE49-F238E27FC236}">
                <a16:creationId xmlns:a16="http://schemas.microsoft.com/office/drawing/2014/main" id="{930195D8-F0EB-4DED-84FF-85995992FAA8}"/>
              </a:ext>
            </a:extLst>
          </p:cNvPr>
          <p:cNvSpPr>
            <a:spLocks noGrp="1"/>
          </p:cNvSpPr>
          <p:nvPr>
            <p:ph type="sldNum" sz="quarter" idx="12"/>
          </p:nvPr>
        </p:nvSpPr>
        <p:spPr/>
        <p:txBody>
          <a:bodyPr/>
          <a:lstStyle>
            <a:lvl1pPr>
              <a:defRPr>
                <a:latin typeface="Gill Sans MT" panose="020B0502020104020203" pitchFamily="34" charset="0"/>
              </a:defRPr>
            </a:lvl1pPr>
          </a:lstStyle>
          <a:p>
            <a:fld id="{69121A1F-7885-4E65-AB38-5CCB274F4EF5}" type="slidenum">
              <a:rPr lang="en-US" smtClean="0"/>
              <a:pPr/>
              <a:t>‹#›</a:t>
            </a:fld>
            <a:endParaRPr lang="en-US"/>
          </a:p>
        </p:txBody>
      </p:sp>
      <p:sp>
        <p:nvSpPr>
          <p:cNvPr id="10" name="Rectangle 9">
            <a:extLst>
              <a:ext uri="{FF2B5EF4-FFF2-40B4-BE49-F238E27FC236}">
                <a16:creationId xmlns:a16="http://schemas.microsoft.com/office/drawing/2014/main" id="{49CB8084-E2C0-B052-D570-30CCC80650D2}"/>
              </a:ext>
            </a:extLst>
          </p:cNvPr>
          <p:cNvSpPr/>
          <p:nvPr userDrawn="1"/>
        </p:nvSpPr>
        <p:spPr>
          <a:xfrm>
            <a:off x="0" y="0"/>
            <a:ext cx="12192000" cy="410817"/>
          </a:xfrm>
          <a:prstGeom prst="rect">
            <a:avLst/>
          </a:prstGeom>
          <a:solidFill>
            <a:schemeClr val="accent1"/>
          </a:solidFill>
          <a:ln>
            <a:solidFill>
              <a:srgbClr val="3F174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7D89BFB-2DDC-58C5-D56B-835ECD4851A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761" t="4545" r="68780" b="3335"/>
          <a:stretch/>
        </p:blipFill>
        <p:spPr bwMode="auto">
          <a:xfrm>
            <a:off x="7937" y="4125"/>
            <a:ext cx="368300" cy="401168"/>
          </a:xfrm>
          <a:prstGeom prst="rect">
            <a:avLst/>
          </a:prstGeom>
          <a:solidFill>
            <a:schemeClr val="accent1"/>
          </a:solid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523960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EEA1B-D3EA-4191-B9A2-C992A45E7971}"/>
              </a:ext>
            </a:extLst>
          </p:cNvPr>
          <p:cNvSpPr>
            <a:spLocks noGrp="1"/>
          </p:cNvSpPr>
          <p:nvPr>
            <p:ph type="title"/>
          </p:nvPr>
        </p:nvSpPr>
        <p:spPr>
          <a:xfrm>
            <a:off x="839788" y="457200"/>
            <a:ext cx="3932237" cy="1600200"/>
          </a:xfrm>
        </p:spPr>
        <p:txBody>
          <a:bodyPr anchor="b"/>
          <a:lstStyle>
            <a:lvl1pPr>
              <a:defRPr sz="3200">
                <a:latin typeface="Gill Sans MT" panose="020B0502020104020203" pitchFamily="34" charset="0"/>
              </a:defRPr>
            </a:lvl1pPr>
          </a:lstStyle>
          <a:p>
            <a:r>
              <a:rPr lang="en-US"/>
              <a:t>Click to edit Master title style</a:t>
            </a:r>
          </a:p>
        </p:txBody>
      </p:sp>
      <p:sp>
        <p:nvSpPr>
          <p:cNvPr id="3" name="Picture Placeholder 2">
            <a:extLst>
              <a:ext uri="{FF2B5EF4-FFF2-40B4-BE49-F238E27FC236}">
                <a16:creationId xmlns:a16="http://schemas.microsoft.com/office/drawing/2014/main" id="{86E61EAE-65C4-4E5D-9671-81BC47EE3C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6A9A2D6-4D6D-46D5-A4DA-2F27FD63A4A0}"/>
              </a:ext>
            </a:extLst>
          </p:cNvPr>
          <p:cNvSpPr>
            <a:spLocks noGrp="1"/>
          </p:cNvSpPr>
          <p:nvPr>
            <p:ph type="body" sz="half" idx="2"/>
          </p:nvPr>
        </p:nvSpPr>
        <p:spPr>
          <a:xfrm>
            <a:off x="839788" y="2057400"/>
            <a:ext cx="3932237" cy="3811588"/>
          </a:xfrm>
        </p:spPr>
        <p:txBody>
          <a:bodyPr/>
          <a:lstStyle>
            <a:lvl1pPr marL="0" indent="0">
              <a:buNone/>
              <a:defRPr sz="1600">
                <a:latin typeface="Gill Sans MT" panose="020B05020201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60ADD90B-51A9-4BB5-8E85-28B0FF6D0FFA}"/>
              </a:ext>
            </a:extLst>
          </p:cNvPr>
          <p:cNvSpPr>
            <a:spLocks noGrp="1"/>
          </p:cNvSpPr>
          <p:nvPr>
            <p:ph type="ftr" sz="quarter" idx="11"/>
          </p:nvPr>
        </p:nvSpPr>
        <p:spPr/>
        <p:txBody>
          <a:bodyPr/>
          <a:lstStyle>
            <a:lvl1pPr>
              <a:defRPr>
                <a:latin typeface="Gill Sans MT" panose="020B0502020104020203" pitchFamily="34" charset="0"/>
              </a:defRPr>
            </a:lvl1pPr>
          </a:lstStyle>
          <a:p>
            <a:r>
              <a:rPr lang="en-US"/>
              <a:t>CS-314: Quantum Computing</a:t>
            </a:r>
            <a:endParaRPr lang="en-US" dirty="0"/>
          </a:p>
        </p:txBody>
      </p:sp>
      <p:sp>
        <p:nvSpPr>
          <p:cNvPr id="7" name="Slide Number Placeholder 6">
            <a:extLst>
              <a:ext uri="{FF2B5EF4-FFF2-40B4-BE49-F238E27FC236}">
                <a16:creationId xmlns:a16="http://schemas.microsoft.com/office/drawing/2014/main" id="{3BE05A6B-C7C7-40DC-AD0A-81C8E82E1D10}"/>
              </a:ext>
            </a:extLst>
          </p:cNvPr>
          <p:cNvSpPr>
            <a:spLocks noGrp="1"/>
          </p:cNvSpPr>
          <p:nvPr>
            <p:ph type="sldNum" sz="quarter" idx="12"/>
          </p:nvPr>
        </p:nvSpPr>
        <p:spPr/>
        <p:txBody>
          <a:bodyPr/>
          <a:lstStyle>
            <a:lvl1pPr>
              <a:defRPr>
                <a:latin typeface="Gill Sans MT" panose="020B0502020104020203" pitchFamily="34" charset="0"/>
              </a:defRPr>
            </a:lvl1pPr>
          </a:lstStyle>
          <a:p>
            <a:fld id="{69121A1F-7885-4E65-AB38-5CCB274F4EF5}" type="slidenum">
              <a:rPr lang="en-US" smtClean="0"/>
              <a:pPr/>
              <a:t>‹#›</a:t>
            </a:fld>
            <a:endParaRPr lang="en-US"/>
          </a:p>
        </p:txBody>
      </p:sp>
      <p:sp>
        <p:nvSpPr>
          <p:cNvPr id="10" name="Rectangle 9">
            <a:extLst>
              <a:ext uri="{FF2B5EF4-FFF2-40B4-BE49-F238E27FC236}">
                <a16:creationId xmlns:a16="http://schemas.microsoft.com/office/drawing/2014/main" id="{B99A52A7-B87F-6F5D-9D3D-0E043AC9BCEC}"/>
              </a:ext>
            </a:extLst>
          </p:cNvPr>
          <p:cNvSpPr/>
          <p:nvPr userDrawn="1"/>
        </p:nvSpPr>
        <p:spPr>
          <a:xfrm>
            <a:off x="0" y="0"/>
            <a:ext cx="12192000" cy="410817"/>
          </a:xfrm>
          <a:prstGeom prst="rect">
            <a:avLst/>
          </a:prstGeom>
          <a:solidFill>
            <a:schemeClr val="accent1"/>
          </a:solidFill>
          <a:ln>
            <a:solidFill>
              <a:srgbClr val="3F174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AB47219D-390B-2454-591A-C0C352CC48C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761" t="4545" r="68780" b="3335"/>
          <a:stretch/>
        </p:blipFill>
        <p:spPr bwMode="auto">
          <a:xfrm>
            <a:off x="7937" y="4125"/>
            <a:ext cx="368300" cy="401168"/>
          </a:xfrm>
          <a:prstGeom prst="rect">
            <a:avLst/>
          </a:prstGeom>
          <a:solidFill>
            <a:schemeClr val="accent1"/>
          </a:solid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75249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1E54ED30-B69B-4F0A-B2A1-AEF6DCC0ACE7}"/>
              </a:ext>
            </a:extLst>
          </p:cNvPr>
          <p:cNvSpPr>
            <a:spLocks noGrp="1"/>
          </p:cNvSpPr>
          <p:nvPr>
            <p:ph type="body" orient="vert" idx="1"/>
          </p:nvPr>
        </p:nvSpPr>
        <p:spPr/>
        <p:txBody>
          <a:bodyPr vert="eaVert"/>
          <a:lstStyle>
            <a:lvl1pPr>
              <a:defRPr>
                <a:latin typeface="Gill Sans MT" panose="020B0502020104020203" pitchFamily="34" charset="0"/>
              </a:defRPr>
            </a:lvl1pPr>
            <a:lvl2pPr>
              <a:defRPr>
                <a:latin typeface="Gill Sans MT" panose="020B0502020104020203" pitchFamily="34" charset="0"/>
              </a:defRPr>
            </a:lvl2pPr>
            <a:lvl3pPr>
              <a:defRPr>
                <a:latin typeface="Gill Sans MT" panose="020B0502020104020203" pitchFamily="34" charset="0"/>
              </a:defRPr>
            </a:lvl3pPr>
            <a:lvl4pPr>
              <a:defRPr>
                <a:latin typeface="Gill Sans MT" panose="020B0502020104020203" pitchFamily="34" charset="0"/>
              </a:defRPr>
            </a:lvl4pPr>
            <a:lvl5pPr>
              <a:defRPr>
                <a:latin typeface="Gill Sans MT" panose="020B05020201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F5A1C9C-5BCD-4DA9-AEAC-A9DF46619BBB}"/>
              </a:ext>
            </a:extLst>
          </p:cNvPr>
          <p:cNvSpPr>
            <a:spLocks noGrp="1"/>
          </p:cNvSpPr>
          <p:nvPr>
            <p:ph type="ftr" sz="quarter" idx="11"/>
          </p:nvPr>
        </p:nvSpPr>
        <p:spPr/>
        <p:txBody>
          <a:bodyPr/>
          <a:lstStyle/>
          <a:p>
            <a:r>
              <a:rPr lang="en-US"/>
              <a:t>CS-314: Quantum Computing</a:t>
            </a:r>
            <a:endParaRPr lang="en-US" dirty="0"/>
          </a:p>
        </p:txBody>
      </p:sp>
      <p:sp>
        <p:nvSpPr>
          <p:cNvPr id="6" name="Slide Number Placeholder 5">
            <a:extLst>
              <a:ext uri="{FF2B5EF4-FFF2-40B4-BE49-F238E27FC236}">
                <a16:creationId xmlns:a16="http://schemas.microsoft.com/office/drawing/2014/main" id="{D7765505-CACA-43A9-9065-9CB6A657A899}"/>
              </a:ext>
            </a:extLst>
          </p:cNvPr>
          <p:cNvSpPr>
            <a:spLocks noGrp="1"/>
          </p:cNvSpPr>
          <p:nvPr>
            <p:ph type="sldNum" sz="quarter" idx="12"/>
          </p:nvPr>
        </p:nvSpPr>
        <p:spPr/>
        <p:txBody>
          <a:bodyPr/>
          <a:lstStyle/>
          <a:p>
            <a:fld id="{69121A1F-7885-4E65-AB38-5CCB274F4EF5}" type="slidenum">
              <a:rPr lang="en-US" smtClean="0"/>
              <a:t>‹#›</a:t>
            </a:fld>
            <a:endParaRPr lang="en-US"/>
          </a:p>
        </p:txBody>
      </p:sp>
      <p:sp>
        <p:nvSpPr>
          <p:cNvPr id="7" name="Title 1">
            <a:extLst>
              <a:ext uri="{FF2B5EF4-FFF2-40B4-BE49-F238E27FC236}">
                <a16:creationId xmlns:a16="http://schemas.microsoft.com/office/drawing/2014/main" id="{F76A8C93-9DFB-40D7-BBC9-8ABC8B906360}"/>
              </a:ext>
            </a:extLst>
          </p:cNvPr>
          <p:cNvSpPr>
            <a:spLocks noGrp="1"/>
          </p:cNvSpPr>
          <p:nvPr>
            <p:ph type="title" hasCustomPrompt="1"/>
          </p:nvPr>
        </p:nvSpPr>
        <p:spPr>
          <a:xfrm>
            <a:off x="-13063" y="425378"/>
            <a:ext cx="12192000" cy="1205057"/>
          </a:xfrm>
          <a:solidFill>
            <a:srgbClr val="FFFFCC"/>
          </a:solidFill>
        </p:spPr>
        <p:txBody>
          <a:bodyPr/>
          <a:lstStyle>
            <a:lvl1pPr>
              <a:defRPr>
                <a:latin typeface="Gill Sans MT" panose="020B0502020104020203" pitchFamily="34" charset="0"/>
              </a:defRPr>
            </a:lvl1pPr>
          </a:lstStyle>
          <a:p>
            <a:r>
              <a:rPr lang="en-US"/>
              <a:t>	Click to edit Master title style</a:t>
            </a:r>
          </a:p>
        </p:txBody>
      </p:sp>
      <p:sp>
        <p:nvSpPr>
          <p:cNvPr id="9" name="Rectangle 8">
            <a:extLst>
              <a:ext uri="{FF2B5EF4-FFF2-40B4-BE49-F238E27FC236}">
                <a16:creationId xmlns:a16="http://schemas.microsoft.com/office/drawing/2014/main" id="{A609C756-9073-F325-5EB0-5206EFDFD988}"/>
              </a:ext>
            </a:extLst>
          </p:cNvPr>
          <p:cNvSpPr/>
          <p:nvPr userDrawn="1"/>
        </p:nvSpPr>
        <p:spPr>
          <a:xfrm>
            <a:off x="0" y="0"/>
            <a:ext cx="12192000" cy="410817"/>
          </a:xfrm>
          <a:prstGeom prst="rect">
            <a:avLst/>
          </a:prstGeom>
          <a:solidFill>
            <a:schemeClr val="accent1"/>
          </a:solidFill>
          <a:ln>
            <a:solidFill>
              <a:srgbClr val="3F174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8E80842B-CD63-C3F6-F359-880E7D73A9D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761" t="4545" r="68780" b="3335"/>
          <a:stretch/>
        </p:blipFill>
        <p:spPr bwMode="auto">
          <a:xfrm>
            <a:off x="7937" y="4125"/>
            <a:ext cx="368300" cy="401168"/>
          </a:xfrm>
          <a:prstGeom prst="rect">
            <a:avLst/>
          </a:prstGeom>
          <a:solidFill>
            <a:schemeClr val="accent1"/>
          </a:solid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8023169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BE4F7F-D510-4E3E-ADF8-0BBCAFBEF032}"/>
              </a:ext>
            </a:extLst>
          </p:cNvPr>
          <p:cNvSpPr>
            <a:spLocks noGrp="1"/>
          </p:cNvSpPr>
          <p:nvPr>
            <p:ph type="title" orient="vert"/>
          </p:nvPr>
        </p:nvSpPr>
        <p:spPr>
          <a:xfrm>
            <a:off x="8724900" y="365125"/>
            <a:ext cx="2628900" cy="5811838"/>
          </a:xfrm>
        </p:spPr>
        <p:txBody>
          <a:bodyPr vert="eaVert"/>
          <a:lstStyle>
            <a:lvl1pPr>
              <a:defRPr>
                <a:latin typeface="Gill Sans MT" panose="020B0502020104020203" pitchFamily="34" charset="0"/>
              </a:defRPr>
            </a:lvl1pPr>
          </a:lstStyle>
          <a:p>
            <a:r>
              <a:rPr lang="en-US"/>
              <a:t>Click to edit Master title style</a:t>
            </a:r>
          </a:p>
        </p:txBody>
      </p:sp>
      <p:sp>
        <p:nvSpPr>
          <p:cNvPr id="3" name="Vertical Text Placeholder 2">
            <a:extLst>
              <a:ext uri="{FF2B5EF4-FFF2-40B4-BE49-F238E27FC236}">
                <a16:creationId xmlns:a16="http://schemas.microsoft.com/office/drawing/2014/main" id="{EC616348-6040-4EC7-84FA-ACD6AE03CBE5}"/>
              </a:ext>
            </a:extLst>
          </p:cNvPr>
          <p:cNvSpPr>
            <a:spLocks noGrp="1"/>
          </p:cNvSpPr>
          <p:nvPr>
            <p:ph type="body" orient="vert" idx="1"/>
          </p:nvPr>
        </p:nvSpPr>
        <p:spPr>
          <a:xfrm>
            <a:off x="838200" y="365125"/>
            <a:ext cx="7734300" cy="5811838"/>
          </a:xfrm>
        </p:spPr>
        <p:txBody>
          <a:bodyPr vert="eaVert"/>
          <a:lstStyle>
            <a:lvl1pPr>
              <a:defRPr>
                <a:latin typeface="Gill Sans MT" panose="020B0502020104020203" pitchFamily="34" charset="0"/>
              </a:defRPr>
            </a:lvl1pPr>
            <a:lvl2pPr>
              <a:defRPr>
                <a:latin typeface="Gill Sans MT" panose="020B0502020104020203" pitchFamily="34" charset="0"/>
              </a:defRPr>
            </a:lvl2pPr>
            <a:lvl3pPr>
              <a:defRPr>
                <a:latin typeface="Gill Sans MT" panose="020B0502020104020203" pitchFamily="34" charset="0"/>
              </a:defRPr>
            </a:lvl3pPr>
            <a:lvl4pPr>
              <a:defRPr>
                <a:latin typeface="Gill Sans MT" panose="020B0502020104020203" pitchFamily="34" charset="0"/>
              </a:defRPr>
            </a:lvl4pPr>
            <a:lvl5pPr>
              <a:defRPr>
                <a:latin typeface="Gill Sans MT" panose="020B05020201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2CF69F16-A748-4C8D-A3E5-A464C5269840}"/>
              </a:ext>
            </a:extLst>
          </p:cNvPr>
          <p:cNvSpPr>
            <a:spLocks noGrp="1"/>
          </p:cNvSpPr>
          <p:nvPr>
            <p:ph type="ftr" sz="quarter" idx="11"/>
          </p:nvPr>
        </p:nvSpPr>
        <p:spPr/>
        <p:txBody>
          <a:bodyPr/>
          <a:lstStyle>
            <a:lvl1pPr>
              <a:defRPr>
                <a:latin typeface="Gill Sans MT" panose="020B0502020104020203" pitchFamily="34" charset="0"/>
              </a:defRPr>
            </a:lvl1pPr>
          </a:lstStyle>
          <a:p>
            <a:r>
              <a:rPr lang="en-US"/>
              <a:t>CS-314: Quantum Computing</a:t>
            </a:r>
            <a:endParaRPr lang="en-US" dirty="0"/>
          </a:p>
        </p:txBody>
      </p:sp>
      <p:sp>
        <p:nvSpPr>
          <p:cNvPr id="6" name="Slide Number Placeholder 5">
            <a:extLst>
              <a:ext uri="{FF2B5EF4-FFF2-40B4-BE49-F238E27FC236}">
                <a16:creationId xmlns:a16="http://schemas.microsoft.com/office/drawing/2014/main" id="{61B61486-9E05-4F23-A92B-A1B7ABF54722}"/>
              </a:ext>
            </a:extLst>
          </p:cNvPr>
          <p:cNvSpPr>
            <a:spLocks noGrp="1"/>
          </p:cNvSpPr>
          <p:nvPr>
            <p:ph type="sldNum" sz="quarter" idx="12"/>
          </p:nvPr>
        </p:nvSpPr>
        <p:spPr/>
        <p:txBody>
          <a:bodyPr/>
          <a:lstStyle>
            <a:lvl1pPr>
              <a:defRPr>
                <a:latin typeface="Gill Sans MT" panose="020B0502020104020203" pitchFamily="34" charset="0"/>
              </a:defRPr>
            </a:lvl1pPr>
          </a:lstStyle>
          <a:p>
            <a:fld id="{69121A1F-7885-4E65-AB38-5CCB274F4EF5}" type="slidenum">
              <a:rPr lang="en-US" smtClean="0"/>
              <a:pPr/>
              <a:t>‹#›</a:t>
            </a:fld>
            <a:endParaRPr lang="en-US"/>
          </a:p>
        </p:txBody>
      </p:sp>
      <p:sp>
        <p:nvSpPr>
          <p:cNvPr id="9" name="Rectangle 8">
            <a:extLst>
              <a:ext uri="{FF2B5EF4-FFF2-40B4-BE49-F238E27FC236}">
                <a16:creationId xmlns:a16="http://schemas.microsoft.com/office/drawing/2014/main" id="{3C69A90D-1D2D-54EC-460B-80A244499CF5}"/>
              </a:ext>
            </a:extLst>
          </p:cNvPr>
          <p:cNvSpPr/>
          <p:nvPr userDrawn="1"/>
        </p:nvSpPr>
        <p:spPr>
          <a:xfrm>
            <a:off x="0" y="0"/>
            <a:ext cx="12192000" cy="410817"/>
          </a:xfrm>
          <a:prstGeom prst="rect">
            <a:avLst/>
          </a:prstGeom>
          <a:solidFill>
            <a:schemeClr val="accent1"/>
          </a:solidFill>
          <a:ln>
            <a:solidFill>
              <a:srgbClr val="3F174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377A213-4704-FD9B-256C-40AB15D0AD3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761" t="4545" r="68780" b="3335"/>
          <a:stretch/>
        </p:blipFill>
        <p:spPr bwMode="auto">
          <a:xfrm>
            <a:off x="7937" y="4125"/>
            <a:ext cx="368300" cy="401168"/>
          </a:xfrm>
          <a:prstGeom prst="rect">
            <a:avLst/>
          </a:prstGeom>
          <a:solidFill>
            <a:schemeClr val="accent1"/>
          </a:solid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9241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78F7C8-354E-4F2A-8234-DE180760CD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A0D10E1-2BF3-41D1-8698-8FAD6110C2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97198958-B1D7-4842-BAFF-2191942688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CS-314: Quantum Computing</a:t>
            </a:r>
            <a:endParaRPr lang="en-US" dirty="0"/>
          </a:p>
        </p:txBody>
      </p:sp>
      <p:sp>
        <p:nvSpPr>
          <p:cNvPr id="6" name="Slide Number Placeholder 5">
            <a:extLst>
              <a:ext uri="{FF2B5EF4-FFF2-40B4-BE49-F238E27FC236}">
                <a16:creationId xmlns:a16="http://schemas.microsoft.com/office/drawing/2014/main" id="{E5FBA6A7-670D-4A8E-A302-1B47C3B952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121A1F-7885-4E65-AB38-5CCB274F4EF5}" type="slidenum">
              <a:rPr lang="en-US" smtClean="0"/>
              <a:t>‹#›</a:t>
            </a:fld>
            <a:endParaRPr lang="en-US"/>
          </a:p>
        </p:txBody>
      </p:sp>
    </p:spTree>
    <p:extLst>
      <p:ext uri="{BB962C8B-B14F-4D97-AF65-F5344CB8AC3E}">
        <p14:creationId xmlns:p14="http://schemas.microsoft.com/office/powerpoint/2010/main" val="14910822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hyperlink" Target="mailto:faisal.alvi@sse.habib.edu.p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youtu.be/90za6mazNps?si=uv73uNkfTJCu_CaX" TargetMode="Externa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AF689-049A-5781-A66E-033ED88C0F4B}"/>
              </a:ext>
            </a:extLst>
          </p:cNvPr>
          <p:cNvSpPr>
            <a:spLocks noGrp="1"/>
          </p:cNvSpPr>
          <p:nvPr>
            <p:ph type="ctrTitle"/>
          </p:nvPr>
        </p:nvSpPr>
        <p:spPr>
          <a:xfrm>
            <a:off x="310551" y="1122363"/>
            <a:ext cx="11714922" cy="2387600"/>
          </a:xfrm>
        </p:spPr>
        <p:txBody>
          <a:bodyPr>
            <a:normAutofit fontScale="90000"/>
          </a:bodyPr>
          <a:lstStyle/>
          <a:p>
            <a:pPr>
              <a:lnSpc>
                <a:spcPct val="100000"/>
              </a:lnSpc>
            </a:pPr>
            <a:r>
              <a:rPr lang="en-US" sz="2700" dirty="0"/>
              <a:t>CS/PHYS-314/300: Quantum Computing</a:t>
            </a:r>
            <a:br>
              <a:rPr lang="en-US" sz="3600" dirty="0"/>
            </a:br>
            <a:br>
              <a:rPr lang="en-US" sz="3600" dirty="0"/>
            </a:br>
            <a:r>
              <a:rPr lang="en-US" dirty="0"/>
              <a:t>Unit 02: </a:t>
            </a:r>
            <a:br>
              <a:rPr lang="en-US" dirty="0"/>
            </a:br>
            <a:r>
              <a:rPr lang="en-US" dirty="0"/>
              <a:t>Single Qubit Systems</a:t>
            </a:r>
          </a:p>
        </p:txBody>
      </p:sp>
      <p:sp>
        <p:nvSpPr>
          <p:cNvPr id="5" name="Footer Placeholder 4">
            <a:extLst>
              <a:ext uri="{FF2B5EF4-FFF2-40B4-BE49-F238E27FC236}">
                <a16:creationId xmlns:a16="http://schemas.microsoft.com/office/drawing/2014/main" id="{DAAD20C7-F1FC-0FDE-ABA7-47DA4A7A92F0}"/>
              </a:ext>
            </a:extLst>
          </p:cNvPr>
          <p:cNvSpPr>
            <a:spLocks noGrp="1"/>
          </p:cNvSpPr>
          <p:nvPr>
            <p:ph type="ftr" sz="quarter" idx="11"/>
          </p:nvPr>
        </p:nvSpPr>
        <p:spPr/>
        <p:txBody>
          <a:bodyPr/>
          <a:lstStyle/>
          <a:p>
            <a:r>
              <a:rPr lang="en-US"/>
              <a:t>CS-314: Quantum Computing</a:t>
            </a:r>
          </a:p>
        </p:txBody>
      </p:sp>
      <p:sp>
        <p:nvSpPr>
          <p:cNvPr id="6" name="Slide Number Placeholder 5">
            <a:extLst>
              <a:ext uri="{FF2B5EF4-FFF2-40B4-BE49-F238E27FC236}">
                <a16:creationId xmlns:a16="http://schemas.microsoft.com/office/drawing/2014/main" id="{D4DC26B2-ABC0-0DDD-0A2C-573D9B13FA34}"/>
              </a:ext>
            </a:extLst>
          </p:cNvPr>
          <p:cNvSpPr>
            <a:spLocks noGrp="1"/>
          </p:cNvSpPr>
          <p:nvPr>
            <p:ph type="sldNum" sz="quarter" idx="12"/>
          </p:nvPr>
        </p:nvSpPr>
        <p:spPr/>
        <p:txBody>
          <a:bodyPr/>
          <a:lstStyle/>
          <a:p>
            <a:fld id="{69121A1F-7885-4E65-AB38-5CCB274F4EF5}" type="slidenum">
              <a:rPr lang="en-US" smtClean="0"/>
              <a:pPr/>
              <a:t>1</a:t>
            </a:fld>
            <a:endParaRPr lang="en-US"/>
          </a:p>
        </p:txBody>
      </p:sp>
      <p:sp>
        <p:nvSpPr>
          <p:cNvPr id="7" name="TextBox 6">
            <a:extLst>
              <a:ext uri="{FF2B5EF4-FFF2-40B4-BE49-F238E27FC236}">
                <a16:creationId xmlns:a16="http://schemas.microsoft.com/office/drawing/2014/main" id="{A844E332-59FA-A702-3302-E9C13C7D4461}"/>
              </a:ext>
            </a:extLst>
          </p:cNvPr>
          <p:cNvSpPr txBox="1"/>
          <p:nvPr/>
        </p:nvSpPr>
        <p:spPr>
          <a:xfrm>
            <a:off x="477078" y="26504"/>
            <a:ext cx="11714922" cy="369332"/>
          </a:xfrm>
          <a:prstGeom prst="rect">
            <a:avLst/>
          </a:prstGeom>
          <a:noFill/>
        </p:spPr>
        <p:txBody>
          <a:bodyPr wrap="square" rtlCol="0">
            <a:spAutoFit/>
          </a:bodyPr>
          <a:lstStyle/>
          <a:p>
            <a:r>
              <a:rPr lang="en-US">
                <a:solidFill>
                  <a:schemeClr val="bg1"/>
                </a:solidFill>
              </a:rPr>
              <a:t>Habib University – Shaping Futures</a:t>
            </a:r>
          </a:p>
        </p:txBody>
      </p:sp>
      <p:sp>
        <p:nvSpPr>
          <p:cNvPr id="10" name="Subtitle 2">
            <a:extLst>
              <a:ext uri="{FF2B5EF4-FFF2-40B4-BE49-F238E27FC236}">
                <a16:creationId xmlns:a16="http://schemas.microsoft.com/office/drawing/2014/main" id="{829C37EA-5D66-A27C-EB91-FF555785C607}"/>
              </a:ext>
            </a:extLst>
          </p:cNvPr>
          <p:cNvSpPr>
            <a:spLocks noGrp="1"/>
          </p:cNvSpPr>
          <p:nvPr>
            <p:ph type="subTitle" idx="1"/>
          </p:nvPr>
        </p:nvSpPr>
        <p:spPr>
          <a:xfrm>
            <a:off x="1524000" y="3602037"/>
            <a:ext cx="9144000" cy="2603553"/>
          </a:xfrm>
        </p:spPr>
        <p:txBody>
          <a:bodyPr vert="horz" lIns="91440" tIns="45720" rIns="91440" bIns="45720" rtlCol="0" anchor="t">
            <a:normAutofit/>
          </a:bodyPr>
          <a:lstStyle/>
          <a:p>
            <a:r>
              <a:rPr lang="en-US" dirty="0">
                <a:latin typeface="Gill Sans MT"/>
              </a:rPr>
              <a:t>Faisal Alvi</a:t>
            </a:r>
          </a:p>
          <a:p>
            <a:endParaRPr lang="en-US" sz="2000" dirty="0">
              <a:latin typeface="Gill Sans MT"/>
            </a:endParaRPr>
          </a:p>
          <a:p>
            <a:endParaRPr lang="en-US" sz="2000" dirty="0">
              <a:latin typeface="Gill Sans MT"/>
            </a:endParaRPr>
          </a:p>
          <a:p>
            <a:endParaRPr lang="en-US" sz="2000" dirty="0">
              <a:latin typeface="Gill Sans MT"/>
            </a:endParaRPr>
          </a:p>
          <a:p>
            <a:endParaRPr lang="en-US" sz="2000" dirty="0">
              <a:latin typeface="Gill Sans MT"/>
            </a:endParaRPr>
          </a:p>
          <a:p>
            <a:r>
              <a:rPr lang="en-US" sz="1800" dirty="0">
                <a:latin typeface="Gill Sans MT"/>
              </a:rPr>
              <a:t>(For any suggested modifications please email: </a:t>
            </a:r>
            <a:r>
              <a:rPr lang="en-US" sz="1800" dirty="0">
                <a:latin typeface="Consolas" panose="020B0609020204030204" pitchFamily="49" charset="0"/>
                <a:hlinkClick r:id="rId2"/>
              </a:rPr>
              <a:t>faisal.alvi@sse.habib.edu.pk</a:t>
            </a:r>
            <a:r>
              <a:rPr lang="en-US" sz="1800" dirty="0">
                <a:latin typeface="Gill Sans MT"/>
              </a:rPr>
              <a:t>)</a:t>
            </a:r>
          </a:p>
          <a:p>
            <a:endParaRPr lang="en-US" sz="1800" dirty="0"/>
          </a:p>
        </p:txBody>
      </p:sp>
    </p:spTree>
    <p:extLst>
      <p:ext uri="{BB962C8B-B14F-4D97-AF65-F5344CB8AC3E}">
        <p14:creationId xmlns:p14="http://schemas.microsoft.com/office/powerpoint/2010/main" val="13393136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F3E23-B2FF-967B-635C-715BE842BED6}"/>
              </a:ext>
            </a:extLst>
          </p:cNvPr>
          <p:cNvSpPr>
            <a:spLocks noGrp="1"/>
          </p:cNvSpPr>
          <p:nvPr>
            <p:ph type="title"/>
          </p:nvPr>
        </p:nvSpPr>
        <p:spPr/>
        <p:txBody>
          <a:bodyPr/>
          <a:lstStyle/>
          <a:p>
            <a:r>
              <a:rPr lang="en-US" dirty="0"/>
              <a:t>	Unit Outline</a:t>
            </a:r>
          </a:p>
        </p:txBody>
      </p:sp>
      <p:sp>
        <p:nvSpPr>
          <p:cNvPr id="3" name="Content Placeholder 2">
            <a:extLst>
              <a:ext uri="{FF2B5EF4-FFF2-40B4-BE49-F238E27FC236}">
                <a16:creationId xmlns:a16="http://schemas.microsoft.com/office/drawing/2014/main" id="{3E088074-EB1B-1FEF-394D-487B31B954C1}"/>
              </a:ext>
            </a:extLst>
          </p:cNvPr>
          <p:cNvSpPr>
            <a:spLocks noGrp="1"/>
          </p:cNvSpPr>
          <p:nvPr>
            <p:ph idx="1"/>
          </p:nvPr>
        </p:nvSpPr>
        <p:spPr>
          <a:xfrm>
            <a:off x="756008" y="1825625"/>
            <a:ext cx="10597792" cy="4351338"/>
          </a:xfrm>
        </p:spPr>
        <p:txBody>
          <a:bodyPr>
            <a:noAutofit/>
          </a:bodyPr>
          <a:lstStyle/>
          <a:p>
            <a:pPr marL="514350" indent="-514350">
              <a:lnSpc>
                <a:spcPct val="100000"/>
              </a:lnSpc>
              <a:spcAft>
                <a:spcPts val="1200"/>
              </a:spcAft>
              <a:buAutoNum type="arabicPeriod"/>
            </a:pPr>
            <a:r>
              <a:rPr lang="en-US" sz="2400" dirty="0"/>
              <a:t>Introduction to Quantum Information</a:t>
            </a:r>
          </a:p>
          <a:p>
            <a:pPr marL="514350" indent="-514350">
              <a:lnSpc>
                <a:spcPct val="100000"/>
              </a:lnSpc>
              <a:spcAft>
                <a:spcPts val="1200"/>
              </a:spcAft>
              <a:buAutoNum type="arabicPeriod"/>
            </a:pPr>
            <a:r>
              <a:rPr lang="en-US" sz="2400" dirty="0"/>
              <a:t>Qubit</a:t>
            </a:r>
          </a:p>
          <a:p>
            <a:pPr marL="514350" indent="-514350">
              <a:lnSpc>
                <a:spcPct val="100000"/>
              </a:lnSpc>
              <a:spcAft>
                <a:spcPts val="1200"/>
              </a:spcAft>
              <a:buAutoNum type="arabicPeriod"/>
            </a:pPr>
            <a:r>
              <a:rPr lang="en-US" sz="2400" dirty="0"/>
              <a:t>Measuring a Qubit</a:t>
            </a:r>
          </a:p>
          <a:p>
            <a:pPr marL="514350" indent="-514350">
              <a:lnSpc>
                <a:spcPct val="100000"/>
              </a:lnSpc>
              <a:spcAft>
                <a:spcPts val="1200"/>
              </a:spcAft>
              <a:buAutoNum type="arabicPeriod"/>
            </a:pPr>
            <a:r>
              <a:rPr lang="en-US" sz="2400" dirty="0"/>
              <a:t>Unitary Operations</a:t>
            </a:r>
          </a:p>
          <a:p>
            <a:pPr marL="514350" indent="-514350">
              <a:lnSpc>
                <a:spcPct val="100000"/>
              </a:lnSpc>
              <a:spcAft>
                <a:spcPts val="1200"/>
              </a:spcAft>
              <a:buAutoNum type="arabicPeriod"/>
            </a:pPr>
            <a:r>
              <a:rPr lang="en-US" sz="2400" dirty="0"/>
              <a:t>Summary</a:t>
            </a:r>
          </a:p>
          <a:p>
            <a:pPr marL="0" indent="0">
              <a:lnSpc>
                <a:spcPct val="100000"/>
              </a:lnSpc>
              <a:spcAft>
                <a:spcPts val="1200"/>
              </a:spcAft>
              <a:buNone/>
            </a:pPr>
            <a:endParaRPr lang="en-US" sz="1800" dirty="0"/>
          </a:p>
          <a:p>
            <a:pPr marL="0" indent="0" algn="ctr">
              <a:lnSpc>
                <a:spcPct val="100000"/>
              </a:lnSpc>
              <a:spcAft>
                <a:spcPts val="1200"/>
              </a:spcAft>
              <a:buNone/>
            </a:pPr>
            <a:r>
              <a:rPr lang="en-US" sz="1800" dirty="0"/>
              <a:t>[Reference] https://quantum.cloud.ibm.com/learning/en/courses/basics-of-quantum-information</a:t>
            </a:r>
          </a:p>
        </p:txBody>
      </p:sp>
      <p:sp>
        <p:nvSpPr>
          <p:cNvPr id="5" name="Footer Placeholder 4">
            <a:extLst>
              <a:ext uri="{FF2B5EF4-FFF2-40B4-BE49-F238E27FC236}">
                <a16:creationId xmlns:a16="http://schemas.microsoft.com/office/drawing/2014/main" id="{5379D961-DA95-BD15-156F-922172148EFD}"/>
              </a:ext>
            </a:extLst>
          </p:cNvPr>
          <p:cNvSpPr>
            <a:spLocks noGrp="1"/>
          </p:cNvSpPr>
          <p:nvPr>
            <p:ph type="ftr" sz="quarter" idx="11"/>
          </p:nvPr>
        </p:nvSpPr>
        <p:spPr/>
        <p:txBody>
          <a:bodyPr/>
          <a:lstStyle/>
          <a:p>
            <a:r>
              <a:rPr lang="en-US"/>
              <a:t>CS-314: Quantum Computing</a:t>
            </a:r>
          </a:p>
        </p:txBody>
      </p:sp>
      <p:sp>
        <p:nvSpPr>
          <p:cNvPr id="6" name="Slide Number Placeholder 5">
            <a:extLst>
              <a:ext uri="{FF2B5EF4-FFF2-40B4-BE49-F238E27FC236}">
                <a16:creationId xmlns:a16="http://schemas.microsoft.com/office/drawing/2014/main" id="{7041D456-772D-AD8C-9483-FAA0876AC8A6}"/>
              </a:ext>
            </a:extLst>
          </p:cNvPr>
          <p:cNvSpPr>
            <a:spLocks noGrp="1"/>
          </p:cNvSpPr>
          <p:nvPr>
            <p:ph type="sldNum" sz="quarter" idx="12"/>
          </p:nvPr>
        </p:nvSpPr>
        <p:spPr/>
        <p:txBody>
          <a:bodyPr/>
          <a:lstStyle/>
          <a:p>
            <a:fld id="{69121A1F-7885-4E65-AB38-5CCB274F4EF5}" type="slidenum">
              <a:rPr lang="en-US" smtClean="0"/>
              <a:t>2</a:t>
            </a:fld>
            <a:endParaRPr lang="en-US"/>
          </a:p>
        </p:txBody>
      </p:sp>
    </p:spTree>
    <p:extLst>
      <p:ext uri="{BB962C8B-B14F-4D97-AF65-F5344CB8AC3E}">
        <p14:creationId xmlns:p14="http://schemas.microsoft.com/office/powerpoint/2010/main" val="3043850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C85A8-C085-E230-0D07-3FDCA17E6A24}"/>
              </a:ext>
            </a:extLst>
          </p:cNvPr>
          <p:cNvSpPr>
            <a:spLocks noGrp="1"/>
          </p:cNvSpPr>
          <p:nvPr>
            <p:ph type="title"/>
          </p:nvPr>
        </p:nvSpPr>
        <p:spPr/>
        <p:txBody>
          <a:bodyPr/>
          <a:lstStyle/>
          <a:p>
            <a:r>
              <a:rPr lang="en-US" dirty="0"/>
              <a:t>	A Model of Quantum Information</a:t>
            </a:r>
          </a:p>
        </p:txBody>
      </p:sp>
      <p:sp>
        <p:nvSpPr>
          <p:cNvPr id="3" name="Content Placeholder 2">
            <a:extLst>
              <a:ext uri="{FF2B5EF4-FFF2-40B4-BE49-F238E27FC236}">
                <a16:creationId xmlns:a16="http://schemas.microsoft.com/office/drawing/2014/main" id="{217FA010-A35E-F121-9277-461738C7770F}"/>
              </a:ext>
            </a:extLst>
          </p:cNvPr>
          <p:cNvSpPr>
            <a:spLocks noGrp="1"/>
          </p:cNvSpPr>
          <p:nvPr>
            <p:ph idx="1"/>
          </p:nvPr>
        </p:nvSpPr>
        <p:spPr/>
        <p:txBody>
          <a:bodyPr>
            <a:normAutofit/>
          </a:bodyPr>
          <a:lstStyle/>
          <a:p>
            <a:pPr>
              <a:lnSpc>
                <a:spcPct val="100000"/>
              </a:lnSpc>
              <a:spcBef>
                <a:spcPts val="600"/>
              </a:spcBef>
              <a:spcAft>
                <a:spcPts val="600"/>
              </a:spcAft>
            </a:pPr>
            <a:r>
              <a:rPr lang="en-US" sz="2600" dirty="0"/>
              <a:t>The previous unit on Classical Information lay the groundwork for quantum information.</a:t>
            </a:r>
          </a:p>
          <a:p>
            <a:pPr>
              <a:lnSpc>
                <a:spcPct val="100000"/>
              </a:lnSpc>
              <a:spcBef>
                <a:spcPts val="600"/>
              </a:spcBef>
              <a:spcAft>
                <a:spcPts val="600"/>
              </a:spcAft>
            </a:pPr>
            <a:r>
              <a:rPr lang="en-US" sz="2600" dirty="0"/>
              <a:t>Much of the notation utilized previously will be used with subtle differences. </a:t>
            </a:r>
          </a:p>
          <a:p>
            <a:pPr>
              <a:lnSpc>
                <a:spcPct val="100000"/>
              </a:lnSpc>
              <a:spcBef>
                <a:spcPts val="600"/>
              </a:spcBef>
              <a:spcAft>
                <a:spcPts val="600"/>
              </a:spcAft>
            </a:pPr>
            <a:endParaRPr lang="en-US" sz="2600" dirty="0"/>
          </a:p>
          <a:p>
            <a:pPr marL="914400" lvl="2" indent="0">
              <a:lnSpc>
                <a:spcPct val="100000"/>
              </a:lnSpc>
              <a:spcBef>
                <a:spcPts val="600"/>
              </a:spcBef>
              <a:spcAft>
                <a:spcPts val="600"/>
              </a:spcAft>
              <a:buNone/>
            </a:pPr>
            <a:r>
              <a:rPr lang="en-US" sz="1800" dirty="0"/>
              <a:t>								     </a:t>
            </a:r>
          </a:p>
          <a:p>
            <a:pPr marL="914400" lvl="2" indent="0">
              <a:lnSpc>
                <a:spcPct val="100000"/>
              </a:lnSpc>
              <a:spcBef>
                <a:spcPts val="600"/>
              </a:spcBef>
              <a:spcAft>
                <a:spcPts val="600"/>
              </a:spcAft>
              <a:buNone/>
            </a:pPr>
            <a:r>
              <a:rPr lang="en-US" sz="1800" dirty="0"/>
              <a:t>								</a:t>
            </a:r>
          </a:p>
        </p:txBody>
      </p:sp>
      <p:sp>
        <p:nvSpPr>
          <p:cNvPr id="4" name="Footer Placeholder 3">
            <a:extLst>
              <a:ext uri="{FF2B5EF4-FFF2-40B4-BE49-F238E27FC236}">
                <a16:creationId xmlns:a16="http://schemas.microsoft.com/office/drawing/2014/main" id="{F8EB3F1B-1160-8638-95EB-EDD3BBFF4108}"/>
              </a:ext>
            </a:extLst>
          </p:cNvPr>
          <p:cNvSpPr>
            <a:spLocks noGrp="1"/>
          </p:cNvSpPr>
          <p:nvPr>
            <p:ph type="ftr" sz="quarter" idx="11"/>
          </p:nvPr>
        </p:nvSpPr>
        <p:spPr/>
        <p:txBody>
          <a:bodyPr/>
          <a:lstStyle/>
          <a:p>
            <a:r>
              <a:rPr lang="en-US"/>
              <a:t>CS-314: Quantum Computing</a:t>
            </a:r>
            <a:endParaRPr lang="en-US" dirty="0"/>
          </a:p>
        </p:txBody>
      </p:sp>
      <p:sp>
        <p:nvSpPr>
          <p:cNvPr id="5" name="Slide Number Placeholder 4">
            <a:extLst>
              <a:ext uri="{FF2B5EF4-FFF2-40B4-BE49-F238E27FC236}">
                <a16:creationId xmlns:a16="http://schemas.microsoft.com/office/drawing/2014/main" id="{329FE831-8FB4-2541-BBF7-EAC5A52B6BFE}"/>
              </a:ext>
            </a:extLst>
          </p:cNvPr>
          <p:cNvSpPr>
            <a:spLocks noGrp="1"/>
          </p:cNvSpPr>
          <p:nvPr>
            <p:ph type="sldNum" sz="quarter" idx="12"/>
          </p:nvPr>
        </p:nvSpPr>
        <p:spPr/>
        <p:txBody>
          <a:bodyPr/>
          <a:lstStyle/>
          <a:p>
            <a:fld id="{69121A1F-7885-4E65-AB38-5CCB274F4EF5}" type="slidenum">
              <a:rPr lang="en-US" smtClean="0"/>
              <a:t>3</a:t>
            </a:fld>
            <a:endParaRPr lang="en-US"/>
          </a:p>
        </p:txBody>
      </p:sp>
    </p:spTree>
    <p:extLst>
      <p:ext uri="{BB962C8B-B14F-4D97-AF65-F5344CB8AC3E}">
        <p14:creationId xmlns:p14="http://schemas.microsoft.com/office/powerpoint/2010/main" val="708209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2013B-CAA4-6837-4C6F-D99152C34FBE}"/>
              </a:ext>
            </a:extLst>
          </p:cNvPr>
          <p:cNvSpPr>
            <a:spLocks noGrp="1"/>
          </p:cNvSpPr>
          <p:nvPr>
            <p:ph type="title"/>
          </p:nvPr>
        </p:nvSpPr>
        <p:spPr/>
        <p:txBody>
          <a:bodyPr/>
          <a:lstStyle/>
          <a:p>
            <a:r>
              <a:rPr lang="en-US" dirty="0"/>
              <a:t>	A Model of Quantum Information</a:t>
            </a:r>
          </a:p>
        </p:txBody>
      </p:sp>
      <p:sp>
        <p:nvSpPr>
          <p:cNvPr id="3" name="Content Placeholder 2">
            <a:extLst>
              <a:ext uri="{FF2B5EF4-FFF2-40B4-BE49-F238E27FC236}">
                <a16:creationId xmlns:a16="http://schemas.microsoft.com/office/drawing/2014/main" id="{9A0E15A9-5603-E8A8-98D4-D777B0585699}"/>
              </a:ext>
            </a:extLst>
          </p:cNvPr>
          <p:cNvSpPr>
            <a:spLocks noGrp="1"/>
          </p:cNvSpPr>
          <p:nvPr>
            <p:ph idx="1"/>
          </p:nvPr>
        </p:nvSpPr>
        <p:spPr/>
        <p:txBody>
          <a:bodyPr>
            <a:normAutofit lnSpcReduction="10000"/>
          </a:bodyPr>
          <a:lstStyle/>
          <a:p>
            <a:pPr>
              <a:lnSpc>
                <a:spcPct val="150000"/>
              </a:lnSpc>
              <a:spcBef>
                <a:spcPts val="1200"/>
              </a:spcBef>
            </a:pPr>
            <a:r>
              <a:rPr lang="en-US" sz="2400" dirty="0"/>
              <a:t>A quantum state of a system is represented by a column vector, similar to probabilistic states. </a:t>
            </a:r>
          </a:p>
          <a:p>
            <a:pPr>
              <a:lnSpc>
                <a:spcPct val="150000"/>
              </a:lnSpc>
              <a:spcBef>
                <a:spcPts val="1200"/>
              </a:spcBef>
            </a:pPr>
            <a:r>
              <a:rPr lang="en-US" sz="2400" dirty="0"/>
              <a:t>As before, the indices of the vector label the classical states of the system. </a:t>
            </a:r>
          </a:p>
          <a:p>
            <a:pPr>
              <a:lnSpc>
                <a:spcPct val="150000"/>
              </a:lnSpc>
              <a:spcBef>
                <a:spcPts val="1200"/>
              </a:spcBef>
            </a:pPr>
            <a:r>
              <a:rPr lang="en-US" sz="2400" dirty="0"/>
              <a:t>Vectors representing quantum states are characterized by these two properties:</a:t>
            </a:r>
          </a:p>
          <a:p>
            <a:pPr marL="514350" indent="-514350">
              <a:lnSpc>
                <a:spcPct val="150000"/>
              </a:lnSpc>
              <a:spcBef>
                <a:spcPts val="1200"/>
              </a:spcBef>
              <a:buFont typeface="+mj-lt"/>
              <a:buAutoNum type="arabicPeriod"/>
            </a:pPr>
            <a:r>
              <a:rPr lang="en-US" sz="2400" dirty="0">
                <a:highlight>
                  <a:srgbClr val="FFFF00"/>
                </a:highlight>
              </a:rPr>
              <a:t>The entries of a quantum state vector are complex numbers.</a:t>
            </a:r>
          </a:p>
          <a:p>
            <a:pPr marL="514350" indent="-514350">
              <a:lnSpc>
                <a:spcPct val="150000"/>
              </a:lnSpc>
              <a:spcBef>
                <a:spcPts val="1200"/>
              </a:spcBef>
              <a:buFont typeface="+mj-lt"/>
              <a:buAutoNum type="arabicPeriod"/>
            </a:pPr>
            <a:r>
              <a:rPr lang="en-US" sz="2400" dirty="0">
                <a:highlight>
                  <a:srgbClr val="FFFF00"/>
                </a:highlight>
              </a:rPr>
              <a:t>The sum of the </a:t>
            </a:r>
            <a:r>
              <a:rPr lang="en-US" sz="2400" b="1" u="sng" dirty="0">
                <a:highlight>
                  <a:srgbClr val="FFFF00"/>
                </a:highlight>
              </a:rPr>
              <a:t>absolute values squared</a:t>
            </a:r>
            <a:r>
              <a:rPr lang="en-US" sz="2400" b="1" dirty="0">
                <a:highlight>
                  <a:srgbClr val="FFFF00"/>
                </a:highlight>
              </a:rPr>
              <a:t> </a:t>
            </a:r>
            <a:r>
              <a:rPr lang="en-US" sz="2400" dirty="0">
                <a:highlight>
                  <a:srgbClr val="FFFF00"/>
                </a:highlight>
              </a:rPr>
              <a:t>of the entries of a quantum state vector must equal to 1.</a:t>
            </a:r>
          </a:p>
        </p:txBody>
      </p:sp>
      <p:sp>
        <p:nvSpPr>
          <p:cNvPr id="4" name="Footer Placeholder 3">
            <a:extLst>
              <a:ext uri="{FF2B5EF4-FFF2-40B4-BE49-F238E27FC236}">
                <a16:creationId xmlns:a16="http://schemas.microsoft.com/office/drawing/2014/main" id="{72839772-6A07-E909-B01D-C98CFFCDC430}"/>
              </a:ext>
            </a:extLst>
          </p:cNvPr>
          <p:cNvSpPr>
            <a:spLocks noGrp="1"/>
          </p:cNvSpPr>
          <p:nvPr>
            <p:ph type="ftr" sz="quarter" idx="11"/>
          </p:nvPr>
        </p:nvSpPr>
        <p:spPr/>
        <p:txBody>
          <a:bodyPr/>
          <a:lstStyle/>
          <a:p>
            <a:r>
              <a:rPr lang="en-US"/>
              <a:t>CS-314: Quantum Computing</a:t>
            </a:r>
            <a:endParaRPr lang="en-US" dirty="0"/>
          </a:p>
        </p:txBody>
      </p:sp>
      <p:sp>
        <p:nvSpPr>
          <p:cNvPr id="5" name="Slide Number Placeholder 4">
            <a:extLst>
              <a:ext uri="{FF2B5EF4-FFF2-40B4-BE49-F238E27FC236}">
                <a16:creationId xmlns:a16="http://schemas.microsoft.com/office/drawing/2014/main" id="{B1BBB8E3-0BDD-B023-B6B2-8E5A130A6B64}"/>
              </a:ext>
            </a:extLst>
          </p:cNvPr>
          <p:cNvSpPr>
            <a:spLocks noGrp="1"/>
          </p:cNvSpPr>
          <p:nvPr>
            <p:ph type="sldNum" sz="quarter" idx="12"/>
          </p:nvPr>
        </p:nvSpPr>
        <p:spPr/>
        <p:txBody>
          <a:bodyPr/>
          <a:lstStyle/>
          <a:p>
            <a:fld id="{69121A1F-7885-4E65-AB38-5CCB274F4EF5}" type="slidenum">
              <a:rPr lang="en-US" smtClean="0"/>
              <a:t>4</a:t>
            </a:fld>
            <a:endParaRPr lang="en-US"/>
          </a:p>
        </p:txBody>
      </p:sp>
    </p:spTree>
    <p:extLst>
      <p:ext uri="{BB962C8B-B14F-4D97-AF65-F5344CB8AC3E}">
        <p14:creationId xmlns:p14="http://schemas.microsoft.com/office/powerpoint/2010/main" val="1169843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074EF-C391-D4D0-42E5-C68831F4C854}"/>
              </a:ext>
            </a:extLst>
          </p:cNvPr>
          <p:cNvSpPr>
            <a:spLocks noGrp="1"/>
          </p:cNvSpPr>
          <p:nvPr>
            <p:ph type="title"/>
          </p:nvPr>
        </p:nvSpPr>
        <p:spPr/>
        <p:txBody>
          <a:bodyPr/>
          <a:lstStyle/>
          <a:p>
            <a:r>
              <a:rPr lang="en-US" dirty="0"/>
              <a:t>	Euclidean Norm</a:t>
            </a:r>
          </a:p>
        </p:txBody>
      </p:sp>
      <p:sp>
        <p:nvSpPr>
          <p:cNvPr id="3" name="Content Placeholder 2">
            <a:extLst>
              <a:ext uri="{FF2B5EF4-FFF2-40B4-BE49-F238E27FC236}">
                <a16:creationId xmlns:a16="http://schemas.microsoft.com/office/drawing/2014/main" id="{D8BE6D96-F61D-85FD-8B87-DD5D45F3FC38}"/>
              </a:ext>
            </a:extLst>
          </p:cNvPr>
          <p:cNvSpPr>
            <a:spLocks noGrp="1"/>
          </p:cNvSpPr>
          <p:nvPr>
            <p:ph idx="1"/>
          </p:nvPr>
        </p:nvSpPr>
        <p:spPr/>
        <p:txBody>
          <a:bodyPr/>
          <a:lstStyle/>
          <a:p>
            <a:r>
              <a:rPr lang="en-US" dirty="0"/>
              <a:t>The Euclidean norm of a vector </a:t>
            </a:r>
          </a:p>
          <a:p>
            <a:endParaRPr lang="en-US" dirty="0"/>
          </a:p>
          <a:p>
            <a:endParaRPr lang="en-US" dirty="0"/>
          </a:p>
          <a:p>
            <a:endParaRPr lang="en-US" dirty="0"/>
          </a:p>
          <a:p>
            <a:pPr marL="0" indent="0">
              <a:buNone/>
            </a:pPr>
            <a:r>
              <a:rPr lang="en-US" dirty="0"/>
              <a:t>   is given by: </a:t>
            </a:r>
          </a:p>
        </p:txBody>
      </p:sp>
      <p:sp>
        <p:nvSpPr>
          <p:cNvPr id="4" name="Footer Placeholder 3">
            <a:extLst>
              <a:ext uri="{FF2B5EF4-FFF2-40B4-BE49-F238E27FC236}">
                <a16:creationId xmlns:a16="http://schemas.microsoft.com/office/drawing/2014/main" id="{62215BDB-56F1-CCBF-9396-5F18ECE853A0}"/>
              </a:ext>
            </a:extLst>
          </p:cNvPr>
          <p:cNvSpPr>
            <a:spLocks noGrp="1"/>
          </p:cNvSpPr>
          <p:nvPr>
            <p:ph type="ftr" sz="quarter" idx="11"/>
          </p:nvPr>
        </p:nvSpPr>
        <p:spPr/>
        <p:txBody>
          <a:bodyPr/>
          <a:lstStyle/>
          <a:p>
            <a:r>
              <a:rPr lang="en-US"/>
              <a:t>CS-314: Quantum Computing</a:t>
            </a:r>
            <a:endParaRPr lang="en-US" dirty="0"/>
          </a:p>
        </p:txBody>
      </p:sp>
      <p:sp>
        <p:nvSpPr>
          <p:cNvPr id="5" name="Slide Number Placeholder 4">
            <a:extLst>
              <a:ext uri="{FF2B5EF4-FFF2-40B4-BE49-F238E27FC236}">
                <a16:creationId xmlns:a16="http://schemas.microsoft.com/office/drawing/2014/main" id="{306A3FAD-0E43-40EE-6CE1-C406B6B34662}"/>
              </a:ext>
            </a:extLst>
          </p:cNvPr>
          <p:cNvSpPr>
            <a:spLocks noGrp="1"/>
          </p:cNvSpPr>
          <p:nvPr>
            <p:ph type="sldNum" sz="quarter" idx="12"/>
          </p:nvPr>
        </p:nvSpPr>
        <p:spPr/>
        <p:txBody>
          <a:bodyPr/>
          <a:lstStyle/>
          <a:p>
            <a:fld id="{69121A1F-7885-4E65-AB38-5CCB274F4EF5}" type="slidenum">
              <a:rPr lang="en-US" smtClean="0"/>
              <a:t>5</a:t>
            </a:fld>
            <a:endParaRPr lang="en-US"/>
          </a:p>
        </p:txBody>
      </p:sp>
      <p:pic>
        <p:nvPicPr>
          <p:cNvPr id="7" name="Picture 6">
            <a:extLst>
              <a:ext uri="{FF2B5EF4-FFF2-40B4-BE49-F238E27FC236}">
                <a16:creationId xmlns:a16="http://schemas.microsoft.com/office/drawing/2014/main" id="{09A98838-6154-5D09-EC1F-8E14812CA0BB}"/>
              </a:ext>
            </a:extLst>
          </p:cNvPr>
          <p:cNvPicPr>
            <a:picLocks noChangeAspect="1"/>
          </p:cNvPicPr>
          <p:nvPr/>
        </p:nvPicPr>
        <p:blipFill>
          <a:blip r:embed="rId2"/>
          <a:stretch>
            <a:fillRect/>
          </a:stretch>
        </p:blipFill>
        <p:spPr>
          <a:xfrm>
            <a:off x="5967369" y="1691521"/>
            <a:ext cx="1810168" cy="1775579"/>
          </a:xfrm>
          <a:prstGeom prst="rect">
            <a:avLst/>
          </a:prstGeom>
        </p:spPr>
      </p:pic>
      <p:pic>
        <p:nvPicPr>
          <p:cNvPr id="9" name="Picture 8">
            <a:extLst>
              <a:ext uri="{FF2B5EF4-FFF2-40B4-BE49-F238E27FC236}">
                <a16:creationId xmlns:a16="http://schemas.microsoft.com/office/drawing/2014/main" id="{84BA226A-1CA6-E4E0-F4FE-FA4D2881A8A7}"/>
              </a:ext>
            </a:extLst>
          </p:cNvPr>
          <p:cNvPicPr>
            <a:picLocks noChangeAspect="1"/>
          </p:cNvPicPr>
          <p:nvPr/>
        </p:nvPicPr>
        <p:blipFill>
          <a:blip r:embed="rId3"/>
          <a:stretch>
            <a:fillRect/>
          </a:stretch>
        </p:blipFill>
        <p:spPr>
          <a:xfrm>
            <a:off x="5067735" y="4287979"/>
            <a:ext cx="2709802" cy="1290889"/>
          </a:xfrm>
          <a:prstGeom prst="rect">
            <a:avLst/>
          </a:prstGeom>
        </p:spPr>
      </p:pic>
    </p:spTree>
    <p:extLst>
      <p:ext uri="{BB962C8B-B14F-4D97-AF65-F5344CB8AC3E}">
        <p14:creationId xmlns:p14="http://schemas.microsoft.com/office/powerpoint/2010/main" val="874156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p:cTn id="22" dur="500" fill="hold"/>
                                        <p:tgtEl>
                                          <p:spTgt spid="9"/>
                                        </p:tgtEl>
                                        <p:attrNameLst>
                                          <p:attrName>ppt_w</p:attrName>
                                        </p:attrNameLst>
                                      </p:cBhvr>
                                      <p:tavLst>
                                        <p:tav tm="0">
                                          <p:val>
                                            <p:fltVal val="0"/>
                                          </p:val>
                                        </p:tav>
                                        <p:tav tm="100000">
                                          <p:val>
                                            <p:strVal val="#ppt_w"/>
                                          </p:val>
                                        </p:tav>
                                      </p:tavLst>
                                    </p:anim>
                                    <p:anim calcmode="lin" valueType="num">
                                      <p:cBhvr>
                                        <p:cTn id="23" dur="500" fill="hold"/>
                                        <p:tgtEl>
                                          <p:spTgt spid="9"/>
                                        </p:tgtEl>
                                        <p:attrNameLst>
                                          <p:attrName>ppt_h</p:attrName>
                                        </p:attrNameLst>
                                      </p:cBhvr>
                                      <p:tavLst>
                                        <p:tav tm="0">
                                          <p:val>
                                            <p:fltVal val="0"/>
                                          </p:val>
                                        </p:tav>
                                        <p:tav tm="100000">
                                          <p:val>
                                            <p:strVal val="#ppt_h"/>
                                          </p:val>
                                        </p:tav>
                                      </p:tavLst>
                                    </p:anim>
                                    <p:animEffect transition="in" filter="fade">
                                      <p:cBhvr>
                                        <p:cTn id="2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7BF61-E3B5-87EC-489B-3E60E230FA35}"/>
              </a:ext>
            </a:extLst>
          </p:cNvPr>
          <p:cNvSpPr>
            <a:spLocks noGrp="1"/>
          </p:cNvSpPr>
          <p:nvPr>
            <p:ph type="title"/>
          </p:nvPr>
        </p:nvSpPr>
        <p:spPr/>
        <p:txBody>
          <a:bodyPr/>
          <a:lstStyle/>
          <a:p>
            <a:r>
              <a:rPr lang="en-US" dirty="0"/>
              <a:t>	Qubit</a:t>
            </a:r>
          </a:p>
        </p:txBody>
      </p:sp>
      <p:sp>
        <p:nvSpPr>
          <p:cNvPr id="3" name="Content Placeholder 2">
            <a:extLst>
              <a:ext uri="{FF2B5EF4-FFF2-40B4-BE49-F238E27FC236}">
                <a16:creationId xmlns:a16="http://schemas.microsoft.com/office/drawing/2014/main" id="{A8E0E535-0481-A7E8-CC45-C95A5DC0C5AE}"/>
              </a:ext>
            </a:extLst>
          </p:cNvPr>
          <p:cNvSpPr>
            <a:spLocks noGrp="1"/>
          </p:cNvSpPr>
          <p:nvPr>
            <p:ph idx="1"/>
          </p:nvPr>
        </p:nvSpPr>
        <p:spPr/>
        <p:txBody>
          <a:bodyPr/>
          <a:lstStyle/>
          <a:p>
            <a:r>
              <a:rPr lang="en-US" dirty="0"/>
              <a:t>The term </a:t>
            </a:r>
            <a:r>
              <a:rPr lang="en-US" b="1" i="1" dirty="0"/>
              <a:t>qubit</a:t>
            </a:r>
            <a:r>
              <a:rPr lang="en-US" dirty="0"/>
              <a:t> [quantum bit] refers to a quantum system whose classical state set is {0, 1}. </a:t>
            </a:r>
          </a:p>
          <a:p>
            <a:r>
              <a:rPr lang="en-US" dirty="0"/>
              <a:t>In simpler words, a </a:t>
            </a:r>
            <a:r>
              <a:rPr lang="en-US" i="1" dirty="0"/>
              <a:t>qubit (a quantum </a:t>
            </a:r>
            <a:r>
              <a:rPr lang="en-US" dirty="0"/>
              <a:t>bit) is a bit in a quantum state.</a:t>
            </a:r>
          </a:p>
          <a:p>
            <a:r>
              <a:rPr lang="en-US" dirty="0"/>
              <a:t>Some examples of qubit states are:</a:t>
            </a:r>
          </a:p>
          <a:p>
            <a:endParaRPr lang="en-US" dirty="0"/>
          </a:p>
          <a:p>
            <a:endParaRPr lang="en-US" dirty="0"/>
          </a:p>
          <a:p>
            <a:endParaRPr lang="en-US" dirty="0"/>
          </a:p>
        </p:txBody>
      </p:sp>
      <p:sp>
        <p:nvSpPr>
          <p:cNvPr id="4" name="Footer Placeholder 3">
            <a:extLst>
              <a:ext uri="{FF2B5EF4-FFF2-40B4-BE49-F238E27FC236}">
                <a16:creationId xmlns:a16="http://schemas.microsoft.com/office/drawing/2014/main" id="{B605C204-D167-FE49-A47A-F1515ED8B511}"/>
              </a:ext>
            </a:extLst>
          </p:cNvPr>
          <p:cNvSpPr>
            <a:spLocks noGrp="1"/>
          </p:cNvSpPr>
          <p:nvPr>
            <p:ph type="ftr" sz="quarter" idx="11"/>
          </p:nvPr>
        </p:nvSpPr>
        <p:spPr/>
        <p:txBody>
          <a:bodyPr/>
          <a:lstStyle/>
          <a:p>
            <a:r>
              <a:rPr lang="en-US"/>
              <a:t>CS-314: Quantum Computing</a:t>
            </a:r>
            <a:endParaRPr lang="en-US" dirty="0"/>
          </a:p>
        </p:txBody>
      </p:sp>
      <p:sp>
        <p:nvSpPr>
          <p:cNvPr id="5" name="Slide Number Placeholder 4">
            <a:extLst>
              <a:ext uri="{FF2B5EF4-FFF2-40B4-BE49-F238E27FC236}">
                <a16:creationId xmlns:a16="http://schemas.microsoft.com/office/drawing/2014/main" id="{7407302C-B86B-F9D8-1A3A-D30B2A2B52F7}"/>
              </a:ext>
            </a:extLst>
          </p:cNvPr>
          <p:cNvSpPr>
            <a:spLocks noGrp="1"/>
          </p:cNvSpPr>
          <p:nvPr>
            <p:ph type="sldNum" sz="quarter" idx="12"/>
          </p:nvPr>
        </p:nvSpPr>
        <p:spPr/>
        <p:txBody>
          <a:bodyPr/>
          <a:lstStyle/>
          <a:p>
            <a:fld id="{69121A1F-7885-4E65-AB38-5CCB274F4EF5}" type="slidenum">
              <a:rPr lang="en-US" smtClean="0"/>
              <a:t>6</a:t>
            </a:fld>
            <a:endParaRPr lang="en-US"/>
          </a:p>
        </p:txBody>
      </p:sp>
      <p:pic>
        <p:nvPicPr>
          <p:cNvPr id="7" name="Picture 6">
            <a:extLst>
              <a:ext uri="{FF2B5EF4-FFF2-40B4-BE49-F238E27FC236}">
                <a16:creationId xmlns:a16="http://schemas.microsoft.com/office/drawing/2014/main" id="{CC852A9A-6FC9-B3B8-A223-126BB63AA575}"/>
              </a:ext>
            </a:extLst>
          </p:cNvPr>
          <p:cNvPicPr>
            <a:picLocks noChangeAspect="1"/>
          </p:cNvPicPr>
          <p:nvPr/>
        </p:nvPicPr>
        <p:blipFill>
          <a:blip r:embed="rId2"/>
          <a:stretch>
            <a:fillRect/>
          </a:stretch>
        </p:blipFill>
        <p:spPr>
          <a:xfrm>
            <a:off x="1696827" y="3846401"/>
            <a:ext cx="3823214" cy="955803"/>
          </a:xfrm>
          <a:prstGeom prst="rect">
            <a:avLst/>
          </a:prstGeom>
        </p:spPr>
      </p:pic>
      <p:pic>
        <p:nvPicPr>
          <p:cNvPr id="9" name="Picture 8">
            <a:extLst>
              <a:ext uri="{FF2B5EF4-FFF2-40B4-BE49-F238E27FC236}">
                <a16:creationId xmlns:a16="http://schemas.microsoft.com/office/drawing/2014/main" id="{F6878E9E-EA46-BFA0-E557-CAD1E9759AE0}"/>
              </a:ext>
            </a:extLst>
          </p:cNvPr>
          <p:cNvPicPr>
            <a:picLocks noChangeAspect="1"/>
          </p:cNvPicPr>
          <p:nvPr/>
        </p:nvPicPr>
        <p:blipFill>
          <a:blip r:embed="rId3"/>
          <a:stretch>
            <a:fillRect/>
          </a:stretch>
        </p:blipFill>
        <p:spPr>
          <a:xfrm>
            <a:off x="1569375" y="4970688"/>
            <a:ext cx="3671180" cy="1354211"/>
          </a:xfrm>
          <a:prstGeom prst="rect">
            <a:avLst/>
          </a:prstGeom>
        </p:spPr>
      </p:pic>
      <p:pic>
        <p:nvPicPr>
          <p:cNvPr id="11" name="Picture 10">
            <a:extLst>
              <a:ext uri="{FF2B5EF4-FFF2-40B4-BE49-F238E27FC236}">
                <a16:creationId xmlns:a16="http://schemas.microsoft.com/office/drawing/2014/main" id="{01DD1562-2D4A-AC74-A6C4-E8A5ADC94029}"/>
              </a:ext>
            </a:extLst>
          </p:cNvPr>
          <p:cNvPicPr>
            <a:picLocks noChangeAspect="1"/>
          </p:cNvPicPr>
          <p:nvPr/>
        </p:nvPicPr>
        <p:blipFill>
          <a:blip r:embed="rId4"/>
          <a:stretch>
            <a:fillRect/>
          </a:stretch>
        </p:blipFill>
        <p:spPr>
          <a:xfrm>
            <a:off x="6275592" y="4210314"/>
            <a:ext cx="4043171" cy="1224875"/>
          </a:xfrm>
          <a:prstGeom prst="rect">
            <a:avLst/>
          </a:prstGeom>
        </p:spPr>
      </p:pic>
    </p:spTree>
    <p:extLst>
      <p:ext uri="{BB962C8B-B14F-4D97-AF65-F5344CB8AC3E}">
        <p14:creationId xmlns:p14="http://schemas.microsoft.com/office/powerpoint/2010/main" val="714658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animEffect transition="in" filter="fade">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p:cTn id="26" dur="500" fill="hold"/>
                                        <p:tgtEl>
                                          <p:spTgt spid="9"/>
                                        </p:tgtEl>
                                        <p:attrNameLst>
                                          <p:attrName>ppt_w</p:attrName>
                                        </p:attrNameLst>
                                      </p:cBhvr>
                                      <p:tavLst>
                                        <p:tav tm="0">
                                          <p:val>
                                            <p:fltVal val="0"/>
                                          </p:val>
                                        </p:tav>
                                        <p:tav tm="100000">
                                          <p:val>
                                            <p:strVal val="#ppt_w"/>
                                          </p:val>
                                        </p:tav>
                                      </p:tavLst>
                                    </p:anim>
                                    <p:anim calcmode="lin" valueType="num">
                                      <p:cBhvr>
                                        <p:cTn id="27" dur="500" fill="hold"/>
                                        <p:tgtEl>
                                          <p:spTgt spid="9"/>
                                        </p:tgtEl>
                                        <p:attrNameLst>
                                          <p:attrName>ppt_h</p:attrName>
                                        </p:attrNameLst>
                                      </p:cBhvr>
                                      <p:tavLst>
                                        <p:tav tm="0">
                                          <p:val>
                                            <p:fltVal val="0"/>
                                          </p:val>
                                        </p:tav>
                                        <p:tav tm="100000">
                                          <p:val>
                                            <p:strVal val="#ppt_h"/>
                                          </p:val>
                                        </p:tav>
                                      </p:tavLst>
                                    </p:anim>
                                    <p:animEffect transition="in" filter="fade">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p:cTn id="33" dur="500" fill="hold"/>
                                        <p:tgtEl>
                                          <p:spTgt spid="11"/>
                                        </p:tgtEl>
                                        <p:attrNameLst>
                                          <p:attrName>ppt_w</p:attrName>
                                        </p:attrNameLst>
                                      </p:cBhvr>
                                      <p:tavLst>
                                        <p:tav tm="0">
                                          <p:val>
                                            <p:fltVal val="0"/>
                                          </p:val>
                                        </p:tav>
                                        <p:tav tm="100000">
                                          <p:val>
                                            <p:strVal val="#ppt_w"/>
                                          </p:val>
                                        </p:tav>
                                      </p:tavLst>
                                    </p:anim>
                                    <p:anim calcmode="lin" valueType="num">
                                      <p:cBhvr>
                                        <p:cTn id="34" dur="500" fill="hold"/>
                                        <p:tgtEl>
                                          <p:spTgt spid="11"/>
                                        </p:tgtEl>
                                        <p:attrNameLst>
                                          <p:attrName>ppt_h</p:attrName>
                                        </p:attrNameLst>
                                      </p:cBhvr>
                                      <p:tavLst>
                                        <p:tav tm="0">
                                          <p:val>
                                            <p:fltVal val="0"/>
                                          </p:val>
                                        </p:tav>
                                        <p:tav tm="100000">
                                          <p:val>
                                            <p:strVal val="#ppt_h"/>
                                          </p:val>
                                        </p:tav>
                                      </p:tavLst>
                                    </p:anim>
                                    <p:animEffect transition="in" filter="fade">
                                      <p:cBhvr>
                                        <p:cTn id="3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F93F7-A907-90A6-10E4-64967144836D}"/>
              </a:ext>
            </a:extLst>
          </p:cNvPr>
          <p:cNvSpPr>
            <a:spLocks noGrp="1"/>
          </p:cNvSpPr>
          <p:nvPr>
            <p:ph type="title"/>
          </p:nvPr>
        </p:nvSpPr>
        <p:spPr/>
        <p:txBody>
          <a:bodyPr/>
          <a:lstStyle/>
          <a:p>
            <a:r>
              <a:rPr lang="en-US" dirty="0"/>
              <a:t>	Qubit - Examples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F3ED30D-967E-32C1-3861-D99E1697D69F}"/>
                  </a:ext>
                </a:extLst>
              </p:cNvPr>
              <p:cNvSpPr>
                <a:spLocks noGrp="1"/>
              </p:cNvSpPr>
              <p:nvPr>
                <p:ph idx="1"/>
              </p:nvPr>
            </p:nvSpPr>
            <p:spPr/>
            <p:txBody>
              <a:bodyPr>
                <a:normAutofit/>
              </a:bodyPr>
              <a:lstStyle/>
              <a:p>
                <a:pPr>
                  <a:lnSpc>
                    <a:spcPct val="150000"/>
                  </a:lnSpc>
                  <a:spcBef>
                    <a:spcPts val="600"/>
                  </a:spcBef>
                  <a:spcAft>
                    <a:spcPts val="600"/>
                  </a:spcAft>
                </a:pPr>
                <a:r>
                  <a:rPr lang="en-US" sz="2600" dirty="0"/>
                  <a:t>Let us consider each of these examples:</a:t>
                </a:r>
              </a:p>
              <a:p>
                <a:pPr>
                  <a:lnSpc>
                    <a:spcPct val="150000"/>
                  </a:lnSpc>
                  <a:spcBef>
                    <a:spcPts val="600"/>
                  </a:spcBef>
                  <a:spcAft>
                    <a:spcPts val="600"/>
                  </a:spcAft>
                </a:pPr>
                <a:r>
                  <a:rPr lang="en-US" sz="2600" dirty="0"/>
                  <a:t>For the qubit 		                                           .</a:t>
                </a:r>
              </a:p>
              <a:p>
                <a:pPr marL="0" indent="0">
                  <a:lnSpc>
                    <a:spcPct val="150000"/>
                  </a:lnSpc>
                  <a:spcBef>
                    <a:spcPts val="600"/>
                  </a:spcBef>
                  <a:spcAft>
                    <a:spcPts val="600"/>
                  </a:spcAft>
                  <a:buNone/>
                </a:pPr>
                <a:endParaRPr lang="en-US" sz="2600" dirty="0"/>
              </a:p>
              <a:p>
                <a:pPr>
                  <a:lnSpc>
                    <a:spcPct val="150000"/>
                  </a:lnSpc>
                  <a:spcBef>
                    <a:spcPts val="600"/>
                  </a:spcBef>
                  <a:spcAft>
                    <a:spcPts val="600"/>
                  </a:spcAft>
                </a:pPr>
                <a:r>
                  <a:rPr lang="en-US" sz="2600" dirty="0"/>
                  <a:t>For the qubit,                                                                      ..</a:t>
                </a:r>
              </a:p>
              <a:p>
                <a:pPr>
                  <a:lnSpc>
                    <a:spcPct val="150000"/>
                  </a:lnSpc>
                  <a:spcBef>
                    <a:spcPts val="600"/>
                  </a:spcBef>
                  <a:spcAft>
                    <a:spcPts val="600"/>
                  </a:spcAft>
                </a:pPr>
                <a:r>
                  <a:rPr lang="en-US" sz="2600" dirty="0"/>
                  <a:t>Note that these qubits are </a:t>
                </a:r>
                <a:r>
                  <a:rPr lang="en-US" sz="2600" i="1" dirty="0"/>
                  <a:t>linear combinations</a:t>
                </a:r>
                <a:r>
                  <a:rPr lang="en-US" sz="2600" dirty="0"/>
                  <a:t> of the states </a:t>
                </a:r>
                <a14:m>
                  <m:oMath xmlns:m="http://schemas.openxmlformats.org/officeDocument/2006/math">
                    <m:r>
                      <a:rPr lang="en-US" sz="2600">
                        <a:latin typeface="Cambria Math" panose="02040503050406030204" pitchFamily="18" charset="0"/>
                      </a:rPr>
                      <m:t>|</m:t>
                    </m:r>
                    <m:d>
                      <m:dPr>
                        <m:begChr m:val=""/>
                        <m:endChr m:val="⟩"/>
                        <m:ctrlPr>
                          <a:rPr lang="en-US" sz="2600" i="1">
                            <a:latin typeface="Cambria Math" panose="02040503050406030204" pitchFamily="18" charset="0"/>
                          </a:rPr>
                        </m:ctrlPr>
                      </m:dPr>
                      <m:e>
                        <m:r>
                          <a:rPr lang="en-US" sz="2600" i="1">
                            <a:latin typeface="Cambria Math" panose="02040503050406030204" pitchFamily="18" charset="0"/>
                          </a:rPr>
                          <m:t>0</m:t>
                        </m:r>
                      </m:e>
                    </m:d>
                    <m:r>
                      <a:rPr lang="en-US" sz="2600" b="0" i="0" smtClean="0">
                        <a:latin typeface="Cambria Math" panose="02040503050406030204" pitchFamily="18" charset="0"/>
                      </a:rPr>
                      <m:t> </m:t>
                    </m:r>
                  </m:oMath>
                </a14:m>
                <a:r>
                  <a:rPr lang="en-US" sz="2600" b="0" i="0" dirty="0"/>
                  <a:t>and</a:t>
                </a:r>
                <a:r>
                  <a:rPr lang="en-US" sz="2600" b="0" i="0" dirty="0">
                    <a:latin typeface="Cambria Math" panose="02040503050406030204" pitchFamily="18" charset="0"/>
                  </a:rPr>
                  <a:t> </a:t>
                </a:r>
                <a14:m>
                  <m:oMath xmlns:m="http://schemas.openxmlformats.org/officeDocument/2006/math">
                    <m:r>
                      <a:rPr lang="en-US" sz="2600">
                        <a:latin typeface="Cambria Math" panose="02040503050406030204" pitchFamily="18" charset="0"/>
                      </a:rPr>
                      <m:t>|</m:t>
                    </m:r>
                    <m:d>
                      <m:dPr>
                        <m:begChr m:val=""/>
                        <m:endChr m:val="⟩"/>
                        <m:ctrlPr>
                          <a:rPr lang="en-US" sz="2600" i="1">
                            <a:latin typeface="Cambria Math" panose="02040503050406030204" pitchFamily="18" charset="0"/>
                          </a:rPr>
                        </m:ctrlPr>
                      </m:dPr>
                      <m:e>
                        <m:r>
                          <a:rPr lang="en-US" sz="2600" i="1">
                            <a:latin typeface="Cambria Math" panose="02040503050406030204" pitchFamily="18" charset="0"/>
                          </a:rPr>
                          <m:t>1</m:t>
                        </m:r>
                      </m:e>
                    </m:d>
                    <m:r>
                      <a:rPr lang="en-US" sz="2600" b="0" i="1" smtClean="0">
                        <a:latin typeface="Cambria Math" panose="02040503050406030204" pitchFamily="18" charset="0"/>
                      </a:rPr>
                      <m:t>.</m:t>
                    </m:r>
                  </m:oMath>
                </a14:m>
                <a:endParaRPr lang="en-US" sz="2600" dirty="0"/>
              </a:p>
              <a:p>
                <a:pPr>
                  <a:lnSpc>
                    <a:spcPct val="150000"/>
                  </a:lnSpc>
                  <a:spcBef>
                    <a:spcPts val="600"/>
                  </a:spcBef>
                  <a:spcAft>
                    <a:spcPts val="600"/>
                  </a:spcAft>
                </a:pPr>
                <a:r>
                  <a:rPr lang="en-US" sz="2600" dirty="0"/>
                  <a:t>We also say that these qubits are </a:t>
                </a:r>
                <a:r>
                  <a:rPr lang="en-US" sz="2600" i="1" dirty="0"/>
                  <a:t>superpositions </a:t>
                </a:r>
                <a:r>
                  <a:rPr lang="en-US" sz="2600" dirty="0"/>
                  <a:t>of the states </a:t>
                </a:r>
                <a14:m>
                  <m:oMath xmlns:m="http://schemas.openxmlformats.org/officeDocument/2006/math">
                    <m:r>
                      <a:rPr lang="en-US" sz="2600">
                        <a:latin typeface="Cambria Math" panose="02040503050406030204" pitchFamily="18" charset="0"/>
                      </a:rPr>
                      <m:t>|</m:t>
                    </m:r>
                    <m:d>
                      <m:dPr>
                        <m:begChr m:val=""/>
                        <m:endChr m:val="⟩"/>
                        <m:ctrlPr>
                          <a:rPr lang="en-US" sz="2600" i="1">
                            <a:latin typeface="Cambria Math" panose="02040503050406030204" pitchFamily="18" charset="0"/>
                          </a:rPr>
                        </m:ctrlPr>
                      </m:dPr>
                      <m:e>
                        <m:r>
                          <a:rPr lang="en-US" sz="2600" i="1">
                            <a:latin typeface="Cambria Math" panose="02040503050406030204" pitchFamily="18" charset="0"/>
                          </a:rPr>
                          <m:t>0</m:t>
                        </m:r>
                      </m:e>
                    </m:d>
                    <m:r>
                      <a:rPr lang="en-US" sz="2600">
                        <a:latin typeface="Cambria Math" panose="02040503050406030204" pitchFamily="18" charset="0"/>
                      </a:rPr>
                      <m:t> </m:t>
                    </m:r>
                  </m:oMath>
                </a14:m>
                <a:r>
                  <a:rPr lang="en-US" sz="2600" dirty="0"/>
                  <a:t>and</a:t>
                </a:r>
                <a:r>
                  <a:rPr lang="en-US" sz="2600" dirty="0">
                    <a:latin typeface="Cambria Math" panose="02040503050406030204" pitchFamily="18" charset="0"/>
                  </a:rPr>
                  <a:t> </a:t>
                </a:r>
                <a14:m>
                  <m:oMath xmlns:m="http://schemas.openxmlformats.org/officeDocument/2006/math">
                    <m:r>
                      <a:rPr lang="en-US" sz="2600">
                        <a:latin typeface="Cambria Math" panose="02040503050406030204" pitchFamily="18" charset="0"/>
                      </a:rPr>
                      <m:t>|</m:t>
                    </m:r>
                    <m:d>
                      <m:dPr>
                        <m:begChr m:val=""/>
                        <m:endChr m:val="⟩"/>
                        <m:ctrlPr>
                          <a:rPr lang="en-US" sz="2600" i="1">
                            <a:latin typeface="Cambria Math" panose="02040503050406030204" pitchFamily="18" charset="0"/>
                          </a:rPr>
                        </m:ctrlPr>
                      </m:dPr>
                      <m:e>
                        <m:r>
                          <a:rPr lang="en-US" sz="2600" i="1">
                            <a:latin typeface="Cambria Math" panose="02040503050406030204" pitchFamily="18" charset="0"/>
                          </a:rPr>
                          <m:t>1</m:t>
                        </m:r>
                      </m:e>
                    </m:d>
                    <m:r>
                      <a:rPr lang="en-US" sz="2600" i="1">
                        <a:latin typeface="Cambria Math" panose="02040503050406030204" pitchFamily="18" charset="0"/>
                      </a:rPr>
                      <m:t>.</m:t>
                    </m:r>
                  </m:oMath>
                </a14:m>
                <a:endParaRPr lang="en-US" sz="2600" dirty="0"/>
              </a:p>
            </p:txBody>
          </p:sp>
        </mc:Choice>
        <mc:Fallback xmlns="">
          <p:sp>
            <p:nvSpPr>
              <p:cNvPr id="3" name="Content Placeholder 2">
                <a:extLst>
                  <a:ext uri="{FF2B5EF4-FFF2-40B4-BE49-F238E27FC236}">
                    <a16:creationId xmlns:a16="http://schemas.microsoft.com/office/drawing/2014/main" id="{BF3ED30D-967E-32C1-3861-D99E1697D69F}"/>
                  </a:ext>
                </a:extLst>
              </p:cNvPr>
              <p:cNvSpPr>
                <a:spLocks noGrp="1" noRot="1" noChangeAspect="1" noMove="1" noResize="1" noEditPoints="1" noAdjustHandles="1" noChangeArrowheads="1" noChangeShapeType="1" noTextEdit="1"/>
              </p:cNvSpPr>
              <p:nvPr>
                <p:ph idx="1"/>
              </p:nvPr>
            </p:nvSpPr>
            <p:spPr>
              <a:blipFill>
                <a:blip r:embed="rId2"/>
                <a:stretch>
                  <a:fillRect l="-928" b="-364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F001E869-4842-03E1-B9FB-555B3FB93473}"/>
              </a:ext>
            </a:extLst>
          </p:cNvPr>
          <p:cNvSpPr>
            <a:spLocks noGrp="1"/>
          </p:cNvSpPr>
          <p:nvPr>
            <p:ph type="ftr" sz="quarter" idx="11"/>
          </p:nvPr>
        </p:nvSpPr>
        <p:spPr/>
        <p:txBody>
          <a:bodyPr/>
          <a:lstStyle/>
          <a:p>
            <a:r>
              <a:rPr lang="en-US"/>
              <a:t>CS-314: Quantum Computing</a:t>
            </a:r>
            <a:endParaRPr lang="en-US" dirty="0"/>
          </a:p>
        </p:txBody>
      </p:sp>
      <p:sp>
        <p:nvSpPr>
          <p:cNvPr id="5" name="Slide Number Placeholder 4">
            <a:extLst>
              <a:ext uri="{FF2B5EF4-FFF2-40B4-BE49-F238E27FC236}">
                <a16:creationId xmlns:a16="http://schemas.microsoft.com/office/drawing/2014/main" id="{988B736C-8D65-AF25-2977-6593050AE56F}"/>
              </a:ext>
            </a:extLst>
          </p:cNvPr>
          <p:cNvSpPr>
            <a:spLocks noGrp="1"/>
          </p:cNvSpPr>
          <p:nvPr>
            <p:ph type="sldNum" sz="quarter" idx="12"/>
          </p:nvPr>
        </p:nvSpPr>
        <p:spPr/>
        <p:txBody>
          <a:bodyPr/>
          <a:lstStyle/>
          <a:p>
            <a:fld id="{69121A1F-7885-4E65-AB38-5CCB274F4EF5}" type="slidenum">
              <a:rPr lang="en-US" smtClean="0"/>
              <a:t>7</a:t>
            </a:fld>
            <a:endParaRPr lang="en-US"/>
          </a:p>
        </p:txBody>
      </p:sp>
      <p:pic>
        <p:nvPicPr>
          <p:cNvPr id="9" name="Picture 8">
            <a:extLst>
              <a:ext uri="{FF2B5EF4-FFF2-40B4-BE49-F238E27FC236}">
                <a16:creationId xmlns:a16="http://schemas.microsoft.com/office/drawing/2014/main" id="{F0BEC69D-CCF0-1E7A-CE3F-5249CBFD929F}"/>
              </a:ext>
            </a:extLst>
          </p:cNvPr>
          <p:cNvPicPr>
            <a:picLocks noChangeAspect="1"/>
          </p:cNvPicPr>
          <p:nvPr/>
        </p:nvPicPr>
        <p:blipFill>
          <a:blip r:embed="rId3"/>
          <a:stretch>
            <a:fillRect/>
          </a:stretch>
        </p:blipFill>
        <p:spPr>
          <a:xfrm>
            <a:off x="3126307" y="2601880"/>
            <a:ext cx="1895871" cy="827120"/>
          </a:xfrm>
          <a:prstGeom prst="rect">
            <a:avLst/>
          </a:prstGeom>
        </p:spPr>
      </p:pic>
      <p:pic>
        <p:nvPicPr>
          <p:cNvPr id="11" name="Picture 10">
            <a:extLst>
              <a:ext uri="{FF2B5EF4-FFF2-40B4-BE49-F238E27FC236}">
                <a16:creationId xmlns:a16="http://schemas.microsoft.com/office/drawing/2014/main" id="{40BDEA51-A82E-3C18-D3C6-B9173E07DAC5}"/>
              </a:ext>
            </a:extLst>
          </p:cNvPr>
          <p:cNvPicPr>
            <a:picLocks noChangeAspect="1"/>
          </p:cNvPicPr>
          <p:nvPr/>
        </p:nvPicPr>
        <p:blipFill>
          <a:blip r:embed="rId4"/>
          <a:stretch>
            <a:fillRect/>
          </a:stretch>
        </p:blipFill>
        <p:spPr>
          <a:xfrm>
            <a:off x="5308432" y="2601879"/>
            <a:ext cx="3329600" cy="726947"/>
          </a:xfrm>
          <a:prstGeom prst="rect">
            <a:avLst/>
          </a:prstGeom>
        </p:spPr>
      </p:pic>
      <p:pic>
        <p:nvPicPr>
          <p:cNvPr id="13" name="Picture 12">
            <a:extLst>
              <a:ext uri="{FF2B5EF4-FFF2-40B4-BE49-F238E27FC236}">
                <a16:creationId xmlns:a16="http://schemas.microsoft.com/office/drawing/2014/main" id="{079F2ED0-D5D0-5CE1-D8DD-C2F498B00696}"/>
              </a:ext>
            </a:extLst>
          </p:cNvPr>
          <p:cNvPicPr>
            <a:picLocks noChangeAspect="1"/>
          </p:cNvPicPr>
          <p:nvPr/>
        </p:nvPicPr>
        <p:blipFill>
          <a:blip r:embed="rId5"/>
          <a:stretch>
            <a:fillRect/>
          </a:stretch>
        </p:blipFill>
        <p:spPr>
          <a:xfrm>
            <a:off x="3159227" y="4106479"/>
            <a:ext cx="2149205" cy="696502"/>
          </a:xfrm>
          <a:prstGeom prst="rect">
            <a:avLst/>
          </a:prstGeom>
        </p:spPr>
      </p:pic>
      <p:pic>
        <p:nvPicPr>
          <p:cNvPr id="15" name="Picture 14">
            <a:extLst>
              <a:ext uri="{FF2B5EF4-FFF2-40B4-BE49-F238E27FC236}">
                <a16:creationId xmlns:a16="http://schemas.microsoft.com/office/drawing/2014/main" id="{D170BF31-AB2F-D8F4-5B72-84AF6F475E80}"/>
              </a:ext>
            </a:extLst>
          </p:cNvPr>
          <p:cNvPicPr>
            <a:picLocks noChangeAspect="1"/>
          </p:cNvPicPr>
          <p:nvPr/>
        </p:nvPicPr>
        <p:blipFill>
          <a:blip r:embed="rId6"/>
          <a:stretch>
            <a:fillRect/>
          </a:stretch>
        </p:blipFill>
        <p:spPr>
          <a:xfrm>
            <a:off x="5459447" y="4076034"/>
            <a:ext cx="4101237" cy="812126"/>
          </a:xfrm>
          <a:prstGeom prst="rect">
            <a:avLst/>
          </a:prstGeom>
        </p:spPr>
      </p:pic>
    </p:spTree>
    <p:extLst>
      <p:ext uri="{BB962C8B-B14F-4D97-AF65-F5344CB8AC3E}">
        <p14:creationId xmlns:p14="http://schemas.microsoft.com/office/powerpoint/2010/main" val="1642992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p:cTn id="15" dur="500" fill="hold"/>
                                        <p:tgtEl>
                                          <p:spTgt spid="9"/>
                                        </p:tgtEl>
                                        <p:attrNameLst>
                                          <p:attrName>ppt_w</p:attrName>
                                        </p:attrNameLst>
                                      </p:cBhvr>
                                      <p:tavLst>
                                        <p:tav tm="0">
                                          <p:val>
                                            <p:fltVal val="0"/>
                                          </p:val>
                                        </p:tav>
                                        <p:tav tm="100000">
                                          <p:val>
                                            <p:strVal val="#ppt_w"/>
                                          </p:val>
                                        </p:tav>
                                      </p:tavLst>
                                    </p:anim>
                                    <p:anim calcmode="lin" valueType="num">
                                      <p:cBhvr>
                                        <p:cTn id="16" dur="500" fill="hold"/>
                                        <p:tgtEl>
                                          <p:spTgt spid="9"/>
                                        </p:tgtEl>
                                        <p:attrNameLst>
                                          <p:attrName>ppt_h</p:attrName>
                                        </p:attrNameLst>
                                      </p:cBhvr>
                                      <p:tavLst>
                                        <p:tav tm="0">
                                          <p:val>
                                            <p:fltVal val="0"/>
                                          </p:val>
                                        </p:tav>
                                        <p:tav tm="100000">
                                          <p:val>
                                            <p:strVal val="#ppt_h"/>
                                          </p:val>
                                        </p:tav>
                                      </p:tavLst>
                                    </p:anim>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p:cTn id="22" dur="500" fill="hold"/>
                                        <p:tgtEl>
                                          <p:spTgt spid="11"/>
                                        </p:tgtEl>
                                        <p:attrNameLst>
                                          <p:attrName>ppt_w</p:attrName>
                                        </p:attrNameLst>
                                      </p:cBhvr>
                                      <p:tavLst>
                                        <p:tav tm="0">
                                          <p:val>
                                            <p:fltVal val="0"/>
                                          </p:val>
                                        </p:tav>
                                        <p:tav tm="100000">
                                          <p:val>
                                            <p:strVal val="#ppt_w"/>
                                          </p:val>
                                        </p:tav>
                                      </p:tavLst>
                                    </p:anim>
                                    <p:anim calcmode="lin" valueType="num">
                                      <p:cBhvr>
                                        <p:cTn id="23" dur="500" fill="hold"/>
                                        <p:tgtEl>
                                          <p:spTgt spid="11"/>
                                        </p:tgtEl>
                                        <p:attrNameLst>
                                          <p:attrName>ppt_h</p:attrName>
                                        </p:attrNameLst>
                                      </p:cBhvr>
                                      <p:tavLst>
                                        <p:tav tm="0">
                                          <p:val>
                                            <p:fltVal val="0"/>
                                          </p:val>
                                        </p:tav>
                                        <p:tav tm="100000">
                                          <p:val>
                                            <p:strVal val="#ppt_h"/>
                                          </p:val>
                                        </p:tav>
                                      </p:tavLst>
                                    </p:anim>
                                    <p:animEffect transition="in" filter="fade">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p:cTn id="33" dur="500" fill="hold"/>
                                        <p:tgtEl>
                                          <p:spTgt spid="13"/>
                                        </p:tgtEl>
                                        <p:attrNameLst>
                                          <p:attrName>ppt_w</p:attrName>
                                        </p:attrNameLst>
                                      </p:cBhvr>
                                      <p:tavLst>
                                        <p:tav tm="0">
                                          <p:val>
                                            <p:fltVal val="0"/>
                                          </p:val>
                                        </p:tav>
                                        <p:tav tm="100000">
                                          <p:val>
                                            <p:strVal val="#ppt_w"/>
                                          </p:val>
                                        </p:tav>
                                      </p:tavLst>
                                    </p:anim>
                                    <p:anim calcmode="lin" valueType="num">
                                      <p:cBhvr>
                                        <p:cTn id="34" dur="500" fill="hold"/>
                                        <p:tgtEl>
                                          <p:spTgt spid="13"/>
                                        </p:tgtEl>
                                        <p:attrNameLst>
                                          <p:attrName>ppt_h</p:attrName>
                                        </p:attrNameLst>
                                      </p:cBhvr>
                                      <p:tavLst>
                                        <p:tav tm="0">
                                          <p:val>
                                            <p:fltVal val="0"/>
                                          </p:val>
                                        </p:tav>
                                        <p:tav tm="100000">
                                          <p:val>
                                            <p:strVal val="#ppt_h"/>
                                          </p:val>
                                        </p:tav>
                                      </p:tavLst>
                                    </p:anim>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nodeType="clickEffect">
                                  <p:stCondLst>
                                    <p:cond delay="0"/>
                                  </p:stCondLst>
                                  <p:childTnLst>
                                    <p:set>
                                      <p:cBhvr>
                                        <p:cTn id="39" dur="1" fill="hold">
                                          <p:stCondLst>
                                            <p:cond delay="0"/>
                                          </p:stCondLst>
                                        </p:cTn>
                                        <p:tgtEl>
                                          <p:spTgt spid="15"/>
                                        </p:tgtEl>
                                        <p:attrNameLst>
                                          <p:attrName>style.visibility</p:attrName>
                                        </p:attrNameLst>
                                      </p:cBhvr>
                                      <p:to>
                                        <p:strVal val="visible"/>
                                      </p:to>
                                    </p:set>
                                    <p:anim calcmode="lin" valueType="num">
                                      <p:cBhvr>
                                        <p:cTn id="40" dur="500" fill="hold"/>
                                        <p:tgtEl>
                                          <p:spTgt spid="15"/>
                                        </p:tgtEl>
                                        <p:attrNameLst>
                                          <p:attrName>ppt_w</p:attrName>
                                        </p:attrNameLst>
                                      </p:cBhvr>
                                      <p:tavLst>
                                        <p:tav tm="0">
                                          <p:val>
                                            <p:fltVal val="0"/>
                                          </p:val>
                                        </p:tav>
                                        <p:tav tm="100000">
                                          <p:val>
                                            <p:strVal val="#ppt_w"/>
                                          </p:val>
                                        </p:tav>
                                      </p:tavLst>
                                    </p:anim>
                                    <p:anim calcmode="lin" valueType="num">
                                      <p:cBhvr>
                                        <p:cTn id="41" dur="500" fill="hold"/>
                                        <p:tgtEl>
                                          <p:spTgt spid="15"/>
                                        </p:tgtEl>
                                        <p:attrNameLst>
                                          <p:attrName>ppt_h</p:attrName>
                                        </p:attrNameLst>
                                      </p:cBhvr>
                                      <p:tavLst>
                                        <p:tav tm="0">
                                          <p:val>
                                            <p:fltVal val="0"/>
                                          </p:val>
                                        </p:tav>
                                        <p:tav tm="100000">
                                          <p:val>
                                            <p:strVal val="#ppt_h"/>
                                          </p:val>
                                        </p:tav>
                                      </p:tavLst>
                                    </p:anim>
                                    <p:animEffect transition="in" filter="fade">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FBEA7-1B32-C9C4-A8B0-81AA8894F0EE}"/>
              </a:ext>
            </a:extLst>
          </p:cNvPr>
          <p:cNvSpPr>
            <a:spLocks noGrp="1"/>
          </p:cNvSpPr>
          <p:nvPr>
            <p:ph type="title"/>
          </p:nvPr>
        </p:nvSpPr>
        <p:spPr/>
        <p:txBody>
          <a:bodyPr/>
          <a:lstStyle/>
          <a:p>
            <a:r>
              <a:rPr lang="en-US" dirty="0"/>
              <a:t>	Qubit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34ACCF0-4370-1ADD-5041-9AAB160C3454}"/>
                  </a:ext>
                </a:extLst>
              </p:cNvPr>
              <p:cNvSpPr>
                <a:spLocks noGrp="1"/>
              </p:cNvSpPr>
              <p:nvPr>
                <p:ph idx="1"/>
              </p:nvPr>
            </p:nvSpPr>
            <p:spPr>
              <a:xfrm>
                <a:off x="838200" y="1825625"/>
                <a:ext cx="6281791" cy="4351338"/>
              </a:xfrm>
            </p:spPr>
            <p:txBody>
              <a:bodyPr>
                <a:normAutofit fontScale="92500"/>
              </a:bodyPr>
              <a:lstStyle/>
              <a:p>
                <a:pPr>
                  <a:lnSpc>
                    <a:spcPct val="150000"/>
                  </a:lnSpc>
                </a:pPr>
                <a:r>
                  <a:rPr lang="en-US" sz="2600" dirty="0"/>
                  <a:t>In general, a qubit can be regarded as a mathematical object with a linear combination of the states </a:t>
                </a:r>
                <a14:m>
                  <m:oMath xmlns:m="http://schemas.openxmlformats.org/officeDocument/2006/math">
                    <m:r>
                      <a:rPr lang="en-US" sz="2600">
                        <a:latin typeface="Cambria Math" panose="02040503050406030204" pitchFamily="18" charset="0"/>
                      </a:rPr>
                      <m:t>|</m:t>
                    </m:r>
                    <m:d>
                      <m:dPr>
                        <m:begChr m:val=""/>
                        <m:endChr m:val="⟩"/>
                        <m:ctrlPr>
                          <a:rPr lang="en-US" sz="2600" i="1">
                            <a:latin typeface="Cambria Math" panose="02040503050406030204" pitchFamily="18" charset="0"/>
                          </a:rPr>
                        </m:ctrlPr>
                      </m:dPr>
                      <m:e>
                        <m:r>
                          <a:rPr lang="en-US" sz="2600" i="1">
                            <a:latin typeface="Cambria Math" panose="02040503050406030204" pitchFamily="18" charset="0"/>
                          </a:rPr>
                          <m:t>0</m:t>
                        </m:r>
                      </m:e>
                    </m:d>
                    <m:r>
                      <a:rPr lang="en-US" sz="2600">
                        <a:latin typeface="Cambria Math" panose="02040503050406030204" pitchFamily="18" charset="0"/>
                      </a:rPr>
                      <m:t> </m:t>
                    </m:r>
                  </m:oMath>
                </a14:m>
                <a:r>
                  <a:rPr lang="en-US" sz="2600" dirty="0"/>
                  <a:t>and</a:t>
                </a:r>
                <a:r>
                  <a:rPr lang="en-US" sz="2600" dirty="0">
                    <a:latin typeface="Cambria Math" panose="02040503050406030204" pitchFamily="18" charset="0"/>
                  </a:rPr>
                  <a:t> </a:t>
                </a:r>
                <a14:m>
                  <m:oMath xmlns:m="http://schemas.openxmlformats.org/officeDocument/2006/math">
                    <m:r>
                      <a:rPr lang="en-US" sz="2600">
                        <a:latin typeface="Cambria Math" panose="02040503050406030204" pitchFamily="18" charset="0"/>
                      </a:rPr>
                      <m:t>|</m:t>
                    </m:r>
                    <m:d>
                      <m:dPr>
                        <m:begChr m:val=""/>
                        <m:endChr m:val="⟩"/>
                        <m:ctrlPr>
                          <a:rPr lang="en-US" sz="2600" i="1">
                            <a:latin typeface="Cambria Math" panose="02040503050406030204" pitchFamily="18" charset="0"/>
                          </a:rPr>
                        </m:ctrlPr>
                      </m:dPr>
                      <m:e>
                        <m:r>
                          <a:rPr lang="en-US" sz="2600" i="1">
                            <a:latin typeface="Cambria Math" panose="02040503050406030204" pitchFamily="18" charset="0"/>
                          </a:rPr>
                          <m:t>1</m:t>
                        </m:r>
                      </m:e>
                    </m:d>
                  </m:oMath>
                </a14:m>
                <a:r>
                  <a:rPr lang="en-US" sz="2600" dirty="0"/>
                  <a:t>.</a:t>
                </a:r>
              </a:p>
              <a:p>
                <a:pPr>
                  <a:lnSpc>
                    <a:spcPct val="150000"/>
                  </a:lnSpc>
                </a:pPr>
                <a:r>
                  <a:rPr lang="en-US" sz="2600" dirty="0"/>
                  <a:t>Given a qubit </a:t>
                </a:r>
                <a14:m>
                  <m:oMath xmlns:m="http://schemas.openxmlformats.org/officeDocument/2006/math">
                    <m:r>
                      <a:rPr lang="en-US" sz="2600" b="0" i="0" smtClean="0">
                        <a:latin typeface="Cambria Math" panose="02040503050406030204" pitchFamily="18" charset="0"/>
                      </a:rPr>
                      <m:t>|</m:t>
                    </m:r>
                    <m:d>
                      <m:dPr>
                        <m:begChr m:val=""/>
                        <m:endChr m:val="⟩"/>
                        <m:ctrlPr>
                          <a:rPr lang="en-US" sz="2600" i="1" smtClean="0">
                            <a:latin typeface="Cambria Math" panose="02040503050406030204" pitchFamily="18" charset="0"/>
                          </a:rPr>
                        </m:ctrlPr>
                      </m:dPr>
                      <m:e>
                        <m:r>
                          <a:rPr lang="en-US" sz="2600" i="0" smtClean="0">
                            <a:latin typeface="Cambria Math" panose="02040503050406030204" pitchFamily="18" charset="0"/>
                            <a:sym typeface="Symbol" panose="05050102010706020507" pitchFamily="18" charset="2"/>
                          </a:rPr>
                          <m:t></m:t>
                        </m:r>
                      </m:e>
                    </m:d>
                  </m:oMath>
                </a14:m>
                <a:r>
                  <a:rPr lang="en-US" sz="2600" dirty="0"/>
                  <a:t> = </a:t>
                </a:r>
                <a:r>
                  <a:rPr lang="en-US" sz="2600" dirty="0">
                    <a:sym typeface="Symbol" panose="05050102010706020507" pitchFamily="18" charset="2"/>
                  </a:rPr>
                  <a:t></a:t>
                </a:r>
                <a14:m>
                  <m:oMath xmlns:m="http://schemas.openxmlformats.org/officeDocument/2006/math">
                    <m:r>
                      <a:rPr lang="en-US" sz="2600" b="0" i="1" smtClean="0">
                        <a:latin typeface="Cambria Math" panose="02040503050406030204" pitchFamily="18" charset="0"/>
                      </a:rPr>
                      <m:t> </m:t>
                    </m:r>
                    <m:r>
                      <a:rPr lang="en-US" sz="2600">
                        <a:latin typeface="Cambria Math" panose="02040503050406030204" pitchFamily="18" charset="0"/>
                      </a:rPr>
                      <m:t>|</m:t>
                    </m:r>
                    <m:d>
                      <m:dPr>
                        <m:begChr m:val=""/>
                        <m:endChr m:val="⟩"/>
                        <m:ctrlPr>
                          <a:rPr lang="en-US" sz="2600" i="1">
                            <a:latin typeface="Cambria Math" panose="02040503050406030204" pitchFamily="18" charset="0"/>
                          </a:rPr>
                        </m:ctrlPr>
                      </m:dPr>
                      <m:e>
                        <m:r>
                          <a:rPr lang="en-US" sz="2600" i="1">
                            <a:latin typeface="Cambria Math" panose="02040503050406030204" pitchFamily="18" charset="0"/>
                          </a:rPr>
                          <m:t>0</m:t>
                        </m:r>
                      </m:e>
                    </m:d>
                    <m:r>
                      <a:rPr lang="en-US" sz="2600" b="0" i="0" smtClean="0">
                        <a:latin typeface="Cambria Math" panose="02040503050406030204" pitchFamily="18" charset="0"/>
                      </a:rPr>
                      <m:t>+</m:t>
                    </m:r>
                  </m:oMath>
                </a14:m>
                <a:r>
                  <a:rPr lang="en-US" sz="2600" dirty="0">
                    <a:sym typeface="Symbol" panose="05050102010706020507" pitchFamily="18" charset="2"/>
                  </a:rPr>
                  <a:t></a:t>
                </a:r>
                <a14:m>
                  <m:oMath xmlns:m="http://schemas.openxmlformats.org/officeDocument/2006/math">
                    <m:r>
                      <a:rPr lang="en-US" sz="2600" b="0" i="0" smtClean="0">
                        <a:latin typeface="Cambria Math" panose="02040503050406030204" pitchFamily="18" charset="0"/>
                      </a:rPr>
                      <m:t> </m:t>
                    </m:r>
                    <m:r>
                      <a:rPr lang="en-US" sz="2600">
                        <a:latin typeface="Cambria Math" panose="02040503050406030204" pitchFamily="18" charset="0"/>
                      </a:rPr>
                      <m:t>|</m:t>
                    </m:r>
                    <m:d>
                      <m:dPr>
                        <m:begChr m:val=""/>
                        <m:endChr m:val="⟩"/>
                        <m:ctrlPr>
                          <a:rPr lang="en-US" sz="2600" i="1">
                            <a:latin typeface="Cambria Math" panose="02040503050406030204" pitchFamily="18" charset="0"/>
                          </a:rPr>
                        </m:ctrlPr>
                      </m:dPr>
                      <m:e>
                        <m:r>
                          <a:rPr lang="en-US" sz="2600" i="1">
                            <a:latin typeface="Cambria Math" panose="02040503050406030204" pitchFamily="18" charset="0"/>
                          </a:rPr>
                          <m:t>1</m:t>
                        </m:r>
                      </m:e>
                    </m:d>
                    <m:r>
                      <a:rPr lang="en-US" sz="2600" b="0" i="1" smtClean="0">
                        <a:latin typeface="Cambria Math" panose="02040503050406030204" pitchFamily="18" charset="0"/>
                      </a:rPr>
                      <m:t>,  </m:t>
                    </m:r>
                    <m:sSup>
                      <m:sSupPr>
                        <m:ctrlPr>
                          <a:rPr lang="pt-BR" sz="2600" b="0" i="1" smtClean="0">
                            <a:latin typeface="Cambria Math" panose="02040503050406030204" pitchFamily="18" charset="0"/>
                          </a:rPr>
                        </m:ctrlPr>
                      </m:sSupPr>
                      <m:e>
                        <m:r>
                          <a:rPr lang="pt-BR" sz="2600" b="0" i="0" smtClean="0">
                            <a:latin typeface="Cambria Math" panose="02040503050406030204" pitchFamily="18" charset="0"/>
                            <a:sym typeface="Symbol" panose="05050102010706020507" pitchFamily="18" charset="2"/>
                          </a:rPr>
                          <m:t></m:t>
                        </m:r>
                      </m:e>
                      <m:sup>
                        <m:r>
                          <a:rPr lang="pt-BR" sz="2600" b="0" i="1" smtClean="0">
                            <a:latin typeface="Cambria Math" panose="02040503050406030204" pitchFamily="18" charset="0"/>
                          </a:rPr>
                          <m:t>2</m:t>
                        </m:r>
                      </m:sup>
                    </m:sSup>
                    <m:r>
                      <a:rPr lang="pt-BR" sz="2600" b="0" i="1" smtClean="0">
                        <a:latin typeface="Cambria Math" panose="02040503050406030204" pitchFamily="18" charset="0"/>
                      </a:rPr>
                      <m:t>+</m:t>
                    </m:r>
                    <m:sSup>
                      <m:sSupPr>
                        <m:ctrlPr>
                          <a:rPr lang="pt-BR" sz="2600" b="0" i="1" smtClean="0">
                            <a:latin typeface="Cambria Math" panose="02040503050406030204" pitchFamily="18" charset="0"/>
                          </a:rPr>
                        </m:ctrlPr>
                      </m:sSupPr>
                      <m:e>
                        <m:r>
                          <a:rPr lang="pt-BR" sz="2600" b="0" i="1" smtClean="0">
                            <a:latin typeface="Cambria Math" panose="02040503050406030204" pitchFamily="18" charset="0"/>
                            <a:sym typeface="Symbol" panose="05050102010706020507" pitchFamily="18" charset="2"/>
                          </a:rPr>
                          <m:t></m:t>
                        </m:r>
                      </m:e>
                      <m:sup>
                        <m:r>
                          <a:rPr lang="pt-BR" sz="2600" b="0" i="1" smtClean="0">
                            <a:latin typeface="Cambria Math" panose="02040503050406030204" pitchFamily="18" charset="0"/>
                          </a:rPr>
                          <m:t>2</m:t>
                        </m:r>
                      </m:sup>
                    </m:sSup>
                    <m:r>
                      <a:rPr lang="en-US" sz="2600" b="0" i="1" smtClean="0">
                        <a:latin typeface="Cambria Math" panose="02040503050406030204" pitchFamily="18" charset="0"/>
                      </a:rPr>
                      <m:t>=</m:t>
                    </m:r>
                  </m:oMath>
                </a14:m>
                <a:r>
                  <a:rPr lang="en-US" sz="2600" dirty="0"/>
                  <a:t> </a:t>
                </a:r>
                <a:r>
                  <a:rPr lang="en-US" sz="2600" dirty="0">
                    <a:latin typeface="Times New Roman" panose="02020603050405020304" pitchFamily="18" charset="0"/>
                    <a:cs typeface="Times New Roman" panose="02020603050405020304" pitchFamily="18" charset="0"/>
                  </a:rPr>
                  <a:t>1,</a:t>
                </a:r>
              </a:p>
              <a:p>
                <a:pPr>
                  <a:lnSpc>
                    <a:spcPct val="150000"/>
                  </a:lnSpc>
                </a:pPr>
                <a:r>
                  <a:rPr lang="en-US" sz="2600" dirty="0">
                    <a:cs typeface="Times New Roman" panose="02020603050405020304" pitchFamily="18" charset="0"/>
                  </a:rPr>
                  <a:t>Here </a:t>
                </a:r>
                <a:r>
                  <a:rPr lang="en-US" sz="2600" i="1" dirty="0">
                    <a:sym typeface="Symbol" panose="05050102010706020507" pitchFamily="18" charset="2"/>
                  </a:rPr>
                  <a:t></a:t>
                </a:r>
                <a:r>
                  <a:rPr lang="en-US" sz="2600" dirty="0">
                    <a:sym typeface="Symbol" panose="05050102010706020507" pitchFamily="18" charset="2"/>
                  </a:rPr>
                  <a:t> and </a:t>
                </a:r>
                <a:r>
                  <a:rPr lang="en-US" sz="2600" i="1" dirty="0">
                    <a:sym typeface="Symbol" panose="05050102010706020507" pitchFamily="18" charset="2"/>
                  </a:rPr>
                  <a:t> </a:t>
                </a:r>
                <a:r>
                  <a:rPr lang="en-US" sz="2600" dirty="0">
                    <a:sym typeface="Symbol" panose="05050102010706020507" pitchFamily="18" charset="2"/>
                  </a:rPr>
                  <a:t>can be considered as projections of the vectors </a:t>
                </a:r>
                <a14:m>
                  <m:oMath xmlns:m="http://schemas.openxmlformats.org/officeDocument/2006/math">
                    <m:r>
                      <a:rPr lang="en-US" sz="2600">
                        <a:latin typeface="Cambria Math" panose="02040503050406030204" pitchFamily="18" charset="0"/>
                      </a:rPr>
                      <m:t>|</m:t>
                    </m:r>
                    <m:d>
                      <m:dPr>
                        <m:begChr m:val=""/>
                        <m:endChr m:val="⟩"/>
                        <m:ctrlPr>
                          <a:rPr lang="en-US" sz="2600" i="1">
                            <a:latin typeface="Cambria Math" panose="02040503050406030204" pitchFamily="18" charset="0"/>
                          </a:rPr>
                        </m:ctrlPr>
                      </m:dPr>
                      <m:e>
                        <m:r>
                          <a:rPr lang="en-US" sz="2600" i="1">
                            <a:latin typeface="Cambria Math" panose="02040503050406030204" pitchFamily="18" charset="0"/>
                          </a:rPr>
                          <m:t>0</m:t>
                        </m:r>
                      </m:e>
                    </m:d>
                  </m:oMath>
                </a14:m>
                <a:r>
                  <a:rPr lang="en-US" sz="2600" dirty="0">
                    <a:cs typeface="Times New Roman" panose="02020603050405020304" pitchFamily="18" charset="0"/>
                  </a:rPr>
                  <a:t> and </a:t>
                </a:r>
                <a14:m>
                  <m:oMath xmlns:m="http://schemas.openxmlformats.org/officeDocument/2006/math">
                    <m:r>
                      <a:rPr lang="en-US" sz="2600">
                        <a:latin typeface="Cambria Math" panose="02040503050406030204" pitchFamily="18" charset="0"/>
                      </a:rPr>
                      <m:t>|</m:t>
                    </m:r>
                    <m:d>
                      <m:dPr>
                        <m:begChr m:val=""/>
                        <m:endChr m:val="⟩"/>
                        <m:ctrlPr>
                          <a:rPr lang="en-US" sz="2600" i="1">
                            <a:latin typeface="Cambria Math" panose="02040503050406030204" pitchFamily="18" charset="0"/>
                          </a:rPr>
                        </m:ctrlPr>
                      </m:dPr>
                      <m:e>
                        <m:r>
                          <a:rPr lang="en-US" sz="2600" i="1">
                            <a:latin typeface="Cambria Math" panose="02040503050406030204" pitchFamily="18" charset="0"/>
                          </a:rPr>
                          <m:t>1</m:t>
                        </m:r>
                      </m:e>
                    </m:d>
                  </m:oMath>
                </a14:m>
                <a:r>
                  <a:rPr lang="en-US" sz="2600" dirty="0">
                    <a:cs typeface="Times New Roman" panose="02020603050405020304" pitchFamily="18" charset="0"/>
                  </a:rPr>
                  <a:t> in an orthonormal basis for |</a:t>
                </a:r>
                <a:r>
                  <a:rPr lang="en-US" sz="2600" i="1" dirty="0">
                    <a:cs typeface="Times New Roman" panose="02020603050405020304" pitchFamily="18" charset="0"/>
                    <a:sym typeface="Symbol" panose="05050102010706020507" pitchFamily="18" charset="2"/>
                  </a:rPr>
                  <a:t> </a:t>
                </a:r>
                <a:r>
                  <a:rPr lang="en-US" sz="2600" dirty="0">
                    <a:cs typeface="Times New Roman" panose="02020603050405020304" pitchFamily="18" charset="0"/>
                    <a:sym typeface="Symbol" panose="05050102010706020507" pitchFamily="18" charset="2"/>
                  </a:rPr>
                  <a:t>.</a:t>
                </a:r>
                <a:endParaRPr lang="en-US" sz="2600" dirty="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034ACCF0-4370-1ADD-5041-9AAB160C3454}"/>
                  </a:ext>
                </a:extLst>
              </p:cNvPr>
              <p:cNvSpPr>
                <a:spLocks noGrp="1" noRot="1" noChangeAspect="1" noMove="1" noResize="1" noEditPoints="1" noAdjustHandles="1" noChangeArrowheads="1" noChangeShapeType="1" noTextEdit="1"/>
              </p:cNvSpPr>
              <p:nvPr>
                <p:ph idx="1"/>
              </p:nvPr>
            </p:nvSpPr>
            <p:spPr>
              <a:xfrm>
                <a:off x="838200" y="1825625"/>
                <a:ext cx="6281791" cy="4351338"/>
              </a:xfrm>
              <a:blipFill>
                <a:blip r:embed="rId2"/>
                <a:stretch>
                  <a:fillRect l="-1359" r="-1845" b="-308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06BBE91A-D6C4-1ECF-9F88-20F9CA557CE5}"/>
              </a:ext>
            </a:extLst>
          </p:cNvPr>
          <p:cNvSpPr>
            <a:spLocks noGrp="1"/>
          </p:cNvSpPr>
          <p:nvPr>
            <p:ph type="ftr" sz="quarter" idx="11"/>
          </p:nvPr>
        </p:nvSpPr>
        <p:spPr/>
        <p:txBody>
          <a:bodyPr/>
          <a:lstStyle/>
          <a:p>
            <a:r>
              <a:rPr lang="en-US"/>
              <a:t>CS-314: Quantum Computing</a:t>
            </a:r>
            <a:endParaRPr lang="en-US" dirty="0"/>
          </a:p>
        </p:txBody>
      </p:sp>
      <p:sp>
        <p:nvSpPr>
          <p:cNvPr id="5" name="Slide Number Placeholder 4">
            <a:extLst>
              <a:ext uri="{FF2B5EF4-FFF2-40B4-BE49-F238E27FC236}">
                <a16:creationId xmlns:a16="http://schemas.microsoft.com/office/drawing/2014/main" id="{49111F01-077D-BBB7-46EE-559845BFCAF4}"/>
              </a:ext>
            </a:extLst>
          </p:cNvPr>
          <p:cNvSpPr>
            <a:spLocks noGrp="1"/>
          </p:cNvSpPr>
          <p:nvPr>
            <p:ph type="sldNum" sz="quarter" idx="12"/>
          </p:nvPr>
        </p:nvSpPr>
        <p:spPr/>
        <p:txBody>
          <a:bodyPr/>
          <a:lstStyle/>
          <a:p>
            <a:fld id="{69121A1F-7885-4E65-AB38-5CCB274F4EF5}" type="slidenum">
              <a:rPr lang="en-US" smtClean="0"/>
              <a:t>8</a:t>
            </a:fld>
            <a:endParaRPr lang="en-US"/>
          </a:p>
        </p:txBody>
      </p:sp>
      <p:pic>
        <p:nvPicPr>
          <p:cNvPr id="7" name="Picture 6">
            <a:extLst>
              <a:ext uri="{FF2B5EF4-FFF2-40B4-BE49-F238E27FC236}">
                <a16:creationId xmlns:a16="http://schemas.microsoft.com/office/drawing/2014/main" id="{B063B707-F592-F2B0-8922-E9D28040D460}"/>
              </a:ext>
            </a:extLst>
          </p:cNvPr>
          <p:cNvPicPr>
            <a:picLocks noChangeAspect="1"/>
          </p:cNvPicPr>
          <p:nvPr/>
        </p:nvPicPr>
        <p:blipFill>
          <a:blip r:embed="rId3"/>
          <a:stretch>
            <a:fillRect/>
          </a:stretch>
        </p:blipFill>
        <p:spPr>
          <a:xfrm>
            <a:off x="7477716" y="2554851"/>
            <a:ext cx="4267279" cy="3005822"/>
          </a:xfrm>
          <a:prstGeom prst="rect">
            <a:avLst/>
          </a:prstGeom>
        </p:spPr>
      </p:pic>
    </p:spTree>
    <p:extLst>
      <p:ext uri="{BB962C8B-B14F-4D97-AF65-F5344CB8AC3E}">
        <p14:creationId xmlns:p14="http://schemas.microsoft.com/office/powerpoint/2010/main" val="84829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animEffect transition="in" filter="fade">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6F716-557B-4AE5-EE06-9AA4132226C9}"/>
              </a:ext>
            </a:extLst>
          </p:cNvPr>
          <p:cNvSpPr>
            <a:spLocks noGrp="1"/>
          </p:cNvSpPr>
          <p:nvPr>
            <p:ph type="title"/>
          </p:nvPr>
        </p:nvSpPr>
        <p:spPr/>
        <p:txBody>
          <a:bodyPr/>
          <a:lstStyle/>
          <a:p>
            <a:r>
              <a:rPr lang="en-US" dirty="0"/>
              <a:t>	Measuring a qubit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E200346-FF26-2851-3328-F84676A40811}"/>
                  </a:ext>
                </a:extLst>
              </p:cNvPr>
              <p:cNvSpPr>
                <a:spLocks noGrp="1"/>
              </p:cNvSpPr>
              <p:nvPr>
                <p:ph idx="1"/>
              </p:nvPr>
            </p:nvSpPr>
            <p:spPr/>
            <p:txBody>
              <a:bodyPr>
                <a:noAutofit/>
              </a:bodyPr>
              <a:lstStyle/>
              <a:p>
                <a:pPr>
                  <a:lnSpc>
                    <a:spcPct val="125000"/>
                  </a:lnSpc>
                  <a:spcBef>
                    <a:spcPts val="600"/>
                  </a:spcBef>
                  <a:spcAft>
                    <a:spcPts val="600"/>
                  </a:spcAft>
                </a:pPr>
                <a:r>
                  <a:rPr lang="en-US" sz="2400" dirty="0"/>
                  <a:t>When we measure a qubit – it results in one of its basis states.</a:t>
                </a:r>
              </a:p>
              <a:p>
                <a:pPr>
                  <a:lnSpc>
                    <a:spcPct val="125000"/>
                  </a:lnSpc>
                  <a:spcBef>
                    <a:spcPts val="600"/>
                  </a:spcBef>
                  <a:spcAft>
                    <a:spcPts val="600"/>
                  </a:spcAft>
                </a:pPr>
                <a:r>
                  <a:rPr lang="en-US" sz="2400" dirty="0"/>
                  <a:t>More specifically, when we measure a qubit </a:t>
                </a:r>
                <a14:m>
                  <m:oMath xmlns:m="http://schemas.openxmlformats.org/officeDocument/2006/math">
                    <m:r>
                      <a:rPr lang="en-US" sz="2400" b="0" i="0" smtClean="0">
                        <a:latin typeface="Cambria Math" panose="02040503050406030204" pitchFamily="18" charset="0"/>
                      </a:rPr>
                      <m:t>|</m:t>
                    </m:r>
                    <m:d>
                      <m:dPr>
                        <m:begChr m:val=""/>
                        <m:endChr m:val="⟩"/>
                        <m:ctrlPr>
                          <a:rPr lang="en-US" sz="2400" i="1" smtClean="0">
                            <a:latin typeface="Cambria Math" panose="02040503050406030204" pitchFamily="18" charset="0"/>
                          </a:rPr>
                        </m:ctrlPr>
                      </m:dPr>
                      <m:e>
                        <m:r>
                          <a:rPr lang="en-US" sz="2400" i="0" smtClean="0">
                            <a:latin typeface="Cambria Math" panose="02040503050406030204" pitchFamily="18" charset="0"/>
                            <a:sym typeface="Symbol" panose="05050102010706020507" pitchFamily="18" charset="2"/>
                          </a:rPr>
                          <m:t></m:t>
                        </m:r>
                      </m:e>
                    </m:d>
                  </m:oMath>
                </a14:m>
                <a:r>
                  <a:rPr lang="en-US" sz="2400" dirty="0"/>
                  <a:t> = </a:t>
                </a:r>
                <a:r>
                  <a:rPr lang="en-US" sz="2400" dirty="0">
                    <a:sym typeface="Symbol" panose="05050102010706020507" pitchFamily="18" charset="2"/>
                  </a:rPr>
                  <a:t></a:t>
                </a:r>
                <a14:m>
                  <m:oMath xmlns:m="http://schemas.openxmlformats.org/officeDocument/2006/math">
                    <m:r>
                      <a:rPr lang="en-US" sz="2400" b="0" i="1" smtClean="0">
                        <a:latin typeface="Cambria Math" panose="02040503050406030204" pitchFamily="18" charset="0"/>
                      </a:rPr>
                      <m:t> </m:t>
                    </m:r>
                    <m:r>
                      <a:rPr lang="en-US" sz="240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0</m:t>
                        </m:r>
                      </m:e>
                    </m:d>
                    <m:r>
                      <a:rPr lang="en-US" sz="2400" b="0" i="0" smtClean="0">
                        <a:latin typeface="Cambria Math" panose="02040503050406030204" pitchFamily="18" charset="0"/>
                      </a:rPr>
                      <m:t>+</m:t>
                    </m:r>
                  </m:oMath>
                </a14:m>
                <a:r>
                  <a:rPr lang="en-US" sz="2400" dirty="0">
                    <a:sym typeface="Symbol" panose="05050102010706020507" pitchFamily="18" charset="2"/>
                  </a:rPr>
                  <a:t></a:t>
                </a:r>
                <a14:m>
                  <m:oMath xmlns:m="http://schemas.openxmlformats.org/officeDocument/2006/math">
                    <m:r>
                      <a:rPr lang="en-US" sz="2400" b="0" i="0" smtClean="0">
                        <a:latin typeface="Cambria Math" panose="02040503050406030204" pitchFamily="18" charset="0"/>
                      </a:rPr>
                      <m:t> </m:t>
                    </m:r>
                    <m:r>
                      <a:rPr lang="en-US" sz="240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1</m:t>
                        </m:r>
                      </m:e>
                    </m:d>
                  </m:oMath>
                </a14:m>
                <a:r>
                  <a:rPr lang="en-US" sz="2400" dirty="0"/>
                  <a:t>, the probability that the measurement will result in a </a:t>
                </a:r>
                <a14:m>
                  <m:oMath xmlns:m="http://schemas.openxmlformats.org/officeDocument/2006/math">
                    <m:r>
                      <a:rPr lang="en-US" sz="240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0</m:t>
                        </m:r>
                      </m:e>
                    </m:d>
                  </m:oMath>
                </a14:m>
                <a:r>
                  <a:rPr lang="en-US" sz="2400" dirty="0"/>
                  <a:t> is </a:t>
                </a:r>
                <a:r>
                  <a:rPr lang="en-US" sz="2400" dirty="0">
                    <a:sym typeface="Symbol" panose="05050102010706020507" pitchFamily="18" charset="2"/>
                  </a:rPr>
                  <a:t></a:t>
                </a:r>
                <a:r>
                  <a:rPr lang="en-US" sz="2400" baseline="30000" dirty="0">
                    <a:sym typeface="Symbol" panose="05050102010706020507" pitchFamily="18" charset="2"/>
                  </a:rPr>
                  <a:t>2</a:t>
                </a:r>
                <a:r>
                  <a:rPr lang="en-US" sz="2400" baseline="-25000" dirty="0">
                    <a:sym typeface="Symbol" panose="05050102010706020507" pitchFamily="18" charset="2"/>
                  </a:rPr>
                  <a:t> </a:t>
                </a:r>
                <a:r>
                  <a:rPr lang="en-US" sz="2400" dirty="0">
                    <a:sym typeface="Symbol" panose="05050102010706020507" pitchFamily="18" charset="2"/>
                  </a:rPr>
                  <a:t>.</a:t>
                </a:r>
              </a:p>
              <a:p>
                <a:pPr>
                  <a:lnSpc>
                    <a:spcPct val="125000"/>
                  </a:lnSpc>
                  <a:spcBef>
                    <a:spcPts val="600"/>
                  </a:spcBef>
                  <a:spcAft>
                    <a:spcPts val="600"/>
                  </a:spcAft>
                </a:pPr>
                <a:r>
                  <a:rPr lang="en-US" sz="2400" dirty="0">
                    <a:sym typeface="Symbol" panose="05050102010706020507" pitchFamily="18" charset="2"/>
                  </a:rPr>
                  <a:t>Likewise, measurement may result in a </a:t>
                </a:r>
                <a14:m>
                  <m:oMath xmlns:m="http://schemas.openxmlformats.org/officeDocument/2006/math">
                    <m:r>
                      <a:rPr lang="en-US" sz="2400"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1</m:t>
                        </m:r>
                      </m:e>
                    </m:d>
                  </m:oMath>
                </a14:m>
                <a:r>
                  <a:rPr lang="en-US" sz="2400" dirty="0">
                    <a:sym typeface="Symbol" panose="05050102010706020507" pitchFamily="18" charset="2"/>
                  </a:rPr>
                  <a:t> state with a probability of </a:t>
                </a:r>
                <a:r>
                  <a:rPr lang="en-US" sz="2400" baseline="30000" dirty="0">
                    <a:sym typeface="Symbol" panose="05050102010706020507" pitchFamily="18" charset="2"/>
                  </a:rPr>
                  <a:t>2</a:t>
                </a:r>
                <a:r>
                  <a:rPr lang="en-US" sz="2400" dirty="0">
                    <a:sym typeface="Symbol" panose="05050102010706020507" pitchFamily="18" charset="2"/>
                  </a:rPr>
                  <a:t>.</a:t>
                </a:r>
              </a:p>
              <a:p>
                <a:pPr>
                  <a:lnSpc>
                    <a:spcPct val="125000"/>
                  </a:lnSpc>
                  <a:spcBef>
                    <a:spcPts val="600"/>
                  </a:spcBef>
                  <a:spcAft>
                    <a:spcPts val="600"/>
                  </a:spcAft>
                </a:pPr>
                <a:r>
                  <a:rPr lang="en-US" sz="2400" dirty="0">
                    <a:sym typeface="Symbol" panose="05050102010706020507" pitchFamily="18" charset="2"/>
                  </a:rPr>
                  <a:t>If  is a complex number, i.e. </a:t>
                </a:r>
                <a:r>
                  <a:rPr lang="en-US" sz="2400" dirty="0">
                    <a:latin typeface="Times New Roman" panose="02020603050405020304" pitchFamily="18" charset="0"/>
                    <a:cs typeface="Times New Roman" panose="02020603050405020304" pitchFamily="18" charset="0"/>
                    <a:sym typeface="Symbol" panose="05050102010706020507" pitchFamily="18" charset="2"/>
                  </a:rPr>
                  <a:t> = </a:t>
                </a:r>
                <a:r>
                  <a:rPr lang="en-US" sz="2400" i="1" dirty="0">
                    <a:latin typeface="Times New Roman" panose="02020603050405020304" pitchFamily="18" charset="0"/>
                    <a:cs typeface="Times New Roman" panose="02020603050405020304" pitchFamily="18" charset="0"/>
                    <a:sym typeface="Symbol" panose="05050102010706020507" pitchFamily="18" charset="2"/>
                  </a:rPr>
                  <a:t>a</a:t>
                </a:r>
                <a:r>
                  <a:rPr lang="en-US" sz="2400" dirty="0">
                    <a:latin typeface="Times New Roman" panose="02020603050405020304" pitchFamily="18" charset="0"/>
                    <a:cs typeface="Times New Roman" panose="02020603050405020304" pitchFamily="18" charset="0"/>
                    <a:sym typeface="Symbol" panose="05050102010706020507" pitchFamily="18" charset="2"/>
                  </a:rPr>
                  <a:t> + </a:t>
                </a:r>
                <a:r>
                  <a:rPr lang="en-US" sz="2400" i="1" dirty="0">
                    <a:latin typeface="Times New Roman" panose="02020603050405020304" pitchFamily="18" charset="0"/>
                    <a:cs typeface="Times New Roman" panose="02020603050405020304" pitchFamily="18" charset="0"/>
                    <a:sym typeface="Symbol" panose="05050102010706020507" pitchFamily="18" charset="2"/>
                  </a:rPr>
                  <a:t>bi</a:t>
                </a:r>
                <a:r>
                  <a:rPr lang="en-US" sz="2400" dirty="0">
                    <a:latin typeface="Times New Roman" panose="02020603050405020304" pitchFamily="18" charset="0"/>
                    <a:cs typeface="Times New Roman" panose="02020603050405020304" pitchFamily="18" charset="0"/>
                    <a:sym typeface="Symbol" panose="05050102010706020507" pitchFamily="18" charset="2"/>
                  </a:rPr>
                  <a:t>, </a:t>
                </a:r>
                <a:r>
                  <a:rPr lang="en-US" sz="2400" dirty="0">
                    <a:cs typeface="Times New Roman" panose="02020603050405020304" pitchFamily="18" charset="0"/>
                    <a:sym typeface="Symbol" panose="05050102010706020507" pitchFamily="18" charset="2"/>
                  </a:rPr>
                  <a:t>then the probability of measuring a </a:t>
                </a:r>
                <a14:m>
                  <m:oMath xmlns:m="http://schemas.openxmlformats.org/officeDocument/2006/math">
                    <m:r>
                      <a:rPr lang="en-US" sz="2400"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0</m:t>
                        </m:r>
                      </m:e>
                    </m:d>
                  </m:oMath>
                </a14:m>
                <a:r>
                  <a:rPr lang="en-US" sz="2400" dirty="0"/>
                  <a:t>  is |</a:t>
                </a:r>
                <a:r>
                  <a:rPr lang="en-US" sz="2400" dirty="0">
                    <a:latin typeface="Times New Roman" panose="02020603050405020304" pitchFamily="18" charset="0"/>
                    <a:cs typeface="Times New Roman" panose="02020603050405020304" pitchFamily="18" charset="0"/>
                    <a:sym typeface="Symbol" panose="05050102010706020507" pitchFamily="18" charset="2"/>
                  </a:rPr>
                  <a:t></a:t>
                </a:r>
                <a:r>
                  <a:rPr lang="en-US" sz="2400" dirty="0"/>
                  <a:t>|</a:t>
                </a:r>
                <a:r>
                  <a:rPr lang="en-US" sz="2400" baseline="30000" dirty="0">
                    <a:latin typeface="Times New Roman" panose="02020603050405020304" pitchFamily="18" charset="0"/>
                    <a:cs typeface="Times New Roman" panose="02020603050405020304" pitchFamily="18" charset="0"/>
                    <a:sym typeface="Symbol" panose="05050102010706020507" pitchFamily="18" charset="2"/>
                  </a:rPr>
                  <a:t>2</a:t>
                </a:r>
                <a:r>
                  <a:rPr lang="en-US" sz="2400" dirty="0">
                    <a:latin typeface="Times New Roman" panose="02020603050405020304" pitchFamily="18" charset="0"/>
                    <a:cs typeface="Times New Roman" panose="02020603050405020304" pitchFamily="18" charset="0"/>
                    <a:sym typeface="Symbol" panose="05050102010706020507" pitchFamily="18" charset="2"/>
                  </a:rPr>
                  <a:t> = | </a:t>
                </a:r>
                <a:r>
                  <a:rPr lang="en-US" sz="2400" i="1" dirty="0">
                    <a:latin typeface="Times New Roman" panose="02020603050405020304" pitchFamily="18" charset="0"/>
                    <a:cs typeface="Times New Roman" panose="02020603050405020304" pitchFamily="18" charset="0"/>
                    <a:sym typeface="Symbol" panose="05050102010706020507" pitchFamily="18" charset="2"/>
                  </a:rPr>
                  <a:t>a</a:t>
                </a:r>
                <a:r>
                  <a:rPr lang="en-US" sz="2400" dirty="0">
                    <a:latin typeface="Times New Roman" panose="02020603050405020304" pitchFamily="18" charset="0"/>
                    <a:cs typeface="Times New Roman" panose="02020603050405020304" pitchFamily="18" charset="0"/>
                    <a:sym typeface="Symbol" panose="05050102010706020507" pitchFamily="18" charset="2"/>
                  </a:rPr>
                  <a:t> + </a:t>
                </a:r>
                <a:r>
                  <a:rPr lang="en-US" sz="2400" i="1" dirty="0">
                    <a:latin typeface="Times New Roman" panose="02020603050405020304" pitchFamily="18" charset="0"/>
                    <a:cs typeface="Times New Roman" panose="02020603050405020304" pitchFamily="18" charset="0"/>
                    <a:sym typeface="Symbol" panose="05050102010706020507" pitchFamily="18" charset="2"/>
                  </a:rPr>
                  <a:t>bi |</a:t>
                </a:r>
                <a:r>
                  <a:rPr lang="en-US" sz="2400" baseline="30000" dirty="0">
                    <a:latin typeface="Times New Roman" panose="02020603050405020304" pitchFamily="18" charset="0"/>
                    <a:cs typeface="Times New Roman" panose="02020603050405020304" pitchFamily="18" charset="0"/>
                    <a:sym typeface="Symbol" panose="05050102010706020507" pitchFamily="18" charset="2"/>
                  </a:rPr>
                  <a:t>2</a:t>
                </a:r>
                <a:r>
                  <a:rPr lang="en-US" sz="2400" i="1" dirty="0">
                    <a:latin typeface="Times New Roman" panose="02020603050405020304" pitchFamily="18" charset="0"/>
                    <a:cs typeface="Times New Roman" panose="02020603050405020304" pitchFamily="18" charset="0"/>
                    <a:sym typeface="Symbol" panose="05050102010706020507" pitchFamily="18" charset="2"/>
                  </a:rPr>
                  <a:t> = </a:t>
                </a:r>
                <a:r>
                  <a:rPr lang="en-US" sz="2400" dirty="0">
                    <a:latin typeface="Times New Roman" panose="02020603050405020304" pitchFamily="18" charset="0"/>
                    <a:cs typeface="Times New Roman" panose="02020603050405020304" pitchFamily="18" charset="0"/>
                    <a:sym typeface="Symbol" panose="05050102010706020507" pitchFamily="18" charset="2"/>
                  </a:rPr>
                  <a:t>(</a:t>
                </a:r>
                <a14:m>
                  <m:oMath xmlns:m="http://schemas.openxmlformats.org/officeDocument/2006/math">
                    <m:rad>
                      <m:radPr>
                        <m:degHide m:val="on"/>
                        <m:ctrlPr>
                          <a:rPr lang="en-US" sz="2400" i="1" smtClean="0">
                            <a:latin typeface="Cambria Math" panose="02040503050406030204" pitchFamily="18" charset="0"/>
                            <a:cs typeface="Times New Roman" panose="02020603050405020304" pitchFamily="18" charset="0"/>
                            <a:sym typeface="Symbol" panose="05050102010706020507" pitchFamily="18" charset="2"/>
                          </a:rPr>
                        </m:ctrlPr>
                      </m:radPr>
                      <m:deg/>
                      <m:e>
                        <m:r>
                          <a:rPr lang="en-US" sz="2400" b="0" i="1" smtClean="0">
                            <a:latin typeface="Cambria Math" panose="02040503050406030204" pitchFamily="18" charset="0"/>
                            <a:cs typeface="Times New Roman" panose="02020603050405020304" pitchFamily="18" charset="0"/>
                            <a:sym typeface="Symbol" panose="05050102010706020507" pitchFamily="18" charset="2"/>
                          </a:rPr>
                          <m:t>𝑎</m:t>
                        </m:r>
                        <m:r>
                          <a:rPr lang="en-US" sz="2400" b="0" i="1" baseline="30000" smtClean="0">
                            <a:latin typeface="Cambria Math" panose="02040503050406030204" pitchFamily="18" charset="0"/>
                            <a:cs typeface="Times New Roman" panose="02020603050405020304" pitchFamily="18" charset="0"/>
                            <a:sym typeface="Symbol" panose="05050102010706020507" pitchFamily="18" charset="2"/>
                          </a:rPr>
                          <m:t>2</m:t>
                        </m:r>
                        <m:r>
                          <a:rPr lang="en-US" sz="2400" b="0" i="1" smtClean="0">
                            <a:latin typeface="Cambria Math" panose="02040503050406030204" pitchFamily="18" charset="0"/>
                            <a:cs typeface="Times New Roman" panose="02020603050405020304" pitchFamily="18" charset="0"/>
                            <a:sym typeface="Symbol" panose="05050102010706020507" pitchFamily="18" charset="2"/>
                          </a:rPr>
                          <m:t>+</m:t>
                        </m:r>
                        <m:r>
                          <a:rPr lang="en-US" sz="2400" b="0" i="1" smtClean="0">
                            <a:latin typeface="Cambria Math" panose="02040503050406030204" pitchFamily="18" charset="0"/>
                            <a:cs typeface="Times New Roman" panose="02020603050405020304" pitchFamily="18" charset="0"/>
                            <a:sym typeface="Symbol" panose="05050102010706020507" pitchFamily="18" charset="2"/>
                          </a:rPr>
                          <m:t>𝑏</m:t>
                        </m:r>
                        <m:r>
                          <a:rPr lang="en-US" sz="2400" b="0" i="1" baseline="30000" smtClean="0">
                            <a:latin typeface="Cambria Math" panose="02040503050406030204" pitchFamily="18" charset="0"/>
                            <a:cs typeface="Times New Roman" panose="02020603050405020304" pitchFamily="18" charset="0"/>
                            <a:sym typeface="Symbol" panose="05050102010706020507" pitchFamily="18" charset="2"/>
                          </a:rPr>
                          <m:t>2</m:t>
                        </m:r>
                      </m:e>
                    </m:rad>
                    <m:r>
                      <a:rPr lang="en-US" sz="2400" b="0" i="1" smtClean="0">
                        <a:latin typeface="Cambria Math" panose="02040503050406030204" pitchFamily="18" charset="0"/>
                        <a:cs typeface="Times New Roman" panose="02020603050405020304" pitchFamily="18" charset="0"/>
                        <a:sym typeface="Symbol" panose="05050102010706020507" pitchFamily="18" charset="2"/>
                      </a:rPr>
                      <m:t> )</m:t>
                    </m:r>
                    <m:r>
                      <a:rPr lang="en-US" sz="2400" b="0" i="1" baseline="30000" smtClean="0">
                        <a:latin typeface="Cambria Math" panose="02040503050406030204" pitchFamily="18" charset="0"/>
                        <a:cs typeface="Times New Roman" panose="02020603050405020304" pitchFamily="18" charset="0"/>
                        <a:sym typeface="Symbol" panose="05050102010706020507" pitchFamily="18" charset="2"/>
                      </a:rPr>
                      <m:t>2</m:t>
                    </m:r>
                    <m:r>
                      <a:rPr lang="en-US" sz="2400" b="0" i="0" baseline="30000" smtClean="0">
                        <a:latin typeface="Cambria Math" panose="02040503050406030204" pitchFamily="18" charset="0"/>
                        <a:cs typeface="Times New Roman" panose="02020603050405020304" pitchFamily="18" charset="0"/>
                        <a:sym typeface="Symbol" panose="05050102010706020507" pitchFamily="18" charset="2"/>
                      </a:rPr>
                      <m:t> </m:t>
                    </m:r>
                  </m:oMath>
                </a14:m>
                <a:r>
                  <a:rPr lang="en-US" sz="2400" baseline="30000" dirty="0">
                    <a:latin typeface="Times New Roman" panose="02020603050405020304" pitchFamily="18" charset="0"/>
                    <a:cs typeface="Times New Roman" panose="02020603050405020304" pitchFamily="18" charset="0"/>
                    <a:sym typeface="Symbol" panose="05050102010706020507" pitchFamily="18" charset="2"/>
                  </a:rPr>
                  <a:t> </a:t>
                </a:r>
                <a:r>
                  <a:rPr lang="en-US" sz="2400" dirty="0">
                    <a:latin typeface="Times New Roman" panose="02020603050405020304" pitchFamily="18" charset="0"/>
                    <a:cs typeface="Times New Roman" panose="02020603050405020304" pitchFamily="18" charset="0"/>
                    <a:sym typeface="Symbol" panose="05050102010706020507" pitchFamily="18" charset="2"/>
                  </a:rPr>
                  <a:t>= </a:t>
                </a:r>
                <a:r>
                  <a:rPr lang="en-US" sz="2400" i="1" dirty="0">
                    <a:latin typeface="Times New Roman" panose="02020603050405020304" pitchFamily="18" charset="0"/>
                    <a:cs typeface="Times New Roman" panose="02020603050405020304" pitchFamily="18" charset="0"/>
                    <a:sym typeface="Symbol" panose="05050102010706020507" pitchFamily="18" charset="2"/>
                  </a:rPr>
                  <a:t>a</a:t>
                </a:r>
                <a:r>
                  <a:rPr lang="en-US" sz="2400" baseline="30000" dirty="0">
                    <a:latin typeface="Times New Roman" panose="02020603050405020304" pitchFamily="18" charset="0"/>
                    <a:cs typeface="Times New Roman" panose="02020603050405020304" pitchFamily="18" charset="0"/>
                    <a:sym typeface="Symbol" panose="05050102010706020507" pitchFamily="18" charset="2"/>
                  </a:rPr>
                  <a:t>2</a:t>
                </a:r>
                <a:r>
                  <a:rPr lang="en-US" sz="2400" dirty="0">
                    <a:latin typeface="Times New Roman" panose="02020603050405020304" pitchFamily="18" charset="0"/>
                    <a:cs typeface="Times New Roman" panose="02020603050405020304" pitchFamily="18" charset="0"/>
                    <a:sym typeface="Symbol" panose="05050102010706020507" pitchFamily="18" charset="2"/>
                  </a:rPr>
                  <a:t> + </a:t>
                </a:r>
                <a:r>
                  <a:rPr lang="en-US" sz="2400" i="1" dirty="0">
                    <a:latin typeface="Times New Roman" panose="02020603050405020304" pitchFamily="18" charset="0"/>
                    <a:cs typeface="Times New Roman" panose="02020603050405020304" pitchFamily="18" charset="0"/>
                    <a:sym typeface="Symbol" panose="05050102010706020507" pitchFamily="18" charset="2"/>
                  </a:rPr>
                  <a:t>b</a:t>
                </a:r>
                <a:r>
                  <a:rPr lang="en-US" sz="2400" baseline="30000" dirty="0">
                    <a:latin typeface="Times New Roman" panose="02020603050405020304" pitchFamily="18" charset="0"/>
                    <a:cs typeface="Times New Roman" panose="02020603050405020304" pitchFamily="18" charset="0"/>
                    <a:sym typeface="Symbol" panose="05050102010706020507" pitchFamily="18" charset="2"/>
                  </a:rPr>
                  <a:t>2</a:t>
                </a:r>
                <a:r>
                  <a:rPr lang="en-US" sz="2400" dirty="0">
                    <a:latin typeface="Times New Roman" panose="02020603050405020304" pitchFamily="18" charset="0"/>
                    <a:cs typeface="Times New Roman" panose="02020603050405020304" pitchFamily="18" charset="0"/>
                    <a:sym typeface="Symbol" panose="05050102010706020507" pitchFamily="18" charset="2"/>
                  </a:rPr>
                  <a:t>.</a:t>
                </a:r>
              </a:p>
              <a:p>
                <a:pPr>
                  <a:lnSpc>
                    <a:spcPct val="125000"/>
                  </a:lnSpc>
                  <a:spcBef>
                    <a:spcPts val="600"/>
                  </a:spcBef>
                  <a:spcAft>
                    <a:spcPts val="600"/>
                  </a:spcAft>
                </a:pPr>
                <a:r>
                  <a:rPr lang="en-US" sz="2400" dirty="0">
                    <a:cs typeface="Times New Roman" panose="02020603050405020304" pitchFamily="18" charset="0"/>
                    <a:sym typeface="Symbol" panose="05050102010706020507" pitchFamily="18" charset="2"/>
                  </a:rPr>
                  <a:t>Note that, as a result of the measurement, the qubit </a:t>
                </a:r>
                <a:r>
                  <a:rPr lang="en-US" sz="2400" i="1" dirty="0">
                    <a:cs typeface="Times New Roman" panose="02020603050405020304" pitchFamily="18" charset="0"/>
                    <a:sym typeface="Symbol" panose="05050102010706020507" pitchFamily="18" charset="2"/>
                  </a:rPr>
                  <a:t>collapses </a:t>
                </a:r>
                <a:r>
                  <a:rPr lang="en-US" sz="2400" dirty="0">
                    <a:cs typeface="Times New Roman" panose="02020603050405020304" pitchFamily="18" charset="0"/>
                    <a:sym typeface="Symbol" panose="05050102010706020507" pitchFamily="18" charset="2"/>
                  </a:rPr>
                  <a:t>to one of its basis states.  All the information residing in </a:t>
                </a:r>
                <a:r>
                  <a:rPr lang="en-US" sz="2400" dirty="0">
                    <a:sym typeface="Symbol" panose="05050102010706020507" pitchFamily="18" charset="2"/>
                  </a:rPr>
                  <a:t> or  is lost.</a:t>
                </a:r>
                <a:endParaRPr lang="en-US" sz="2400" dirty="0">
                  <a:latin typeface="Times New Roman" panose="02020603050405020304" pitchFamily="18" charset="0"/>
                  <a:cs typeface="Times New Roman" panose="02020603050405020304" pitchFamily="18" charset="0"/>
                  <a:sym typeface="Symbol" panose="05050102010706020507" pitchFamily="18" charset="2"/>
                </a:endParaRPr>
              </a:p>
            </p:txBody>
          </p:sp>
        </mc:Choice>
        <mc:Fallback xmlns="">
          <p:sp>
            <p:nvSpPr>
              <p:cNvPr id="3" name="Content Placeholder 2">
                <a:extLst>
                  <a:ext uri="{FF2B5EF4-FFF2-40B4-BE49-F238E27FC236}">
                    <a16:creationId xmlns:a16="http://schemas.microsoft.com/office/drawing/2014/main" id="{5E200346-FF26-2851-3328-F84676A40811}"/>
                  </a:ext>
                </a:extLst>
              </p:cNvPr>
              <p:cNvSpPr>
                <a:spLocks noGrp="1" noRot="1" noChangeAspect="1" noMove="1" noResize="1" noEditPoints="1" noAdjustHandles="1" noChangeArrowheads="1" noChangeShapeType="1" noTextEdit="1"/>
              </p:cNvSpPr>
              <p:nvPr>
                <p:ph idx="1"/>
              </p:nvPr>
            </p:nvSpPr>
            <p:spPr>
              <a:blipFill>
                <a:blip r:embed="rId2"/>
                <a:stretch>
                  <a:fillRect l="-812" r="-2667" b="-336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87E5AF57-E026-C3AA-664A-5C8E89ADEFD2}"/>
              </a:ext>
            </a:extLst>
          </p:cNvPr>
          <p:cNvSpPr>
            <a:spLocks noGrp="1"/>
          </p:cNvSpPr>
          <p:nvPr>
            <p:ph type="ftr" sz="quarter" idx="11"/>
          </p:nvPr>
        </p:nvSpPr>
        <p:spPr/>
        <p:txBody>
          <a:bodyPr/>
          <a:lstStyle/>
          <a:p>
            <a:r>
              <a:rPr lang="en-US"/>
              <a:t>CS-314: Quantum Computing</a:t>
            </a:r>
            <a:endParaRPr lang="en-US" dirty="0"/>
          </a:p>
        </p:txBody>
      </p:sp>
      <p:sp>
        <p:nvSpPr>
          <p:cNvPr id="5" name="Slide Number Placeholder 4">
            <a:extLst>
              <a:ext uri="{FF2B5EF4-FFF2-40B4-BE49-F238E27FC236}">
                <a16:creationId xmlns:a16="http://schemas.microsoft.com/office/drawing/2014/main" id="{A9DD4D67-C61D-C2B9-EFAB-B84BA7DC72EA}"/>
              </a:ext>
            </a:extLst>
          </p:cNvPr>
          <p:cNvSpPr>
            <a:spLocks noGrp="1"/>
          </p:cNvSpPr>
          <p:nvPr>
            <p:ph type="sldNum" sz="quarter" idx="12"/>
          </p:nvPr>
        </p:nvSpPr>
        <p:spPr/>
        <p:txBody>
          <a:bodyPr/>
          <a:lstStyle/>
          <a:p>
            <a:fld id="{69121A1F-7885-4E65-AB38-5CCB274F4EF5}" type="slidenum">
              <a:rPr lang="en-US" smtClean="0"/>
              <a:t>9</a:t>
            </a:fld>
            <a:endParaRPr lang="en-US"/>
          </a:p>
        </p:txBody>
      </p:sp>
    </p:spTree>
    <p:extLst>
      <p:ext uri="{BB962C8B-B14F-4D97-AF65-F5344CB8AC3E}">
        <p14:creationId xmlns:p14="http://schemas.microsoft.com/office/powerpoint/2010/main" val="2802659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7FC02-4754-69C7-35A6-66DE08EBC593}"/>
              </a:ext>
            </a:extLst>
          </p:cNvPr>
          <p:cNvSpPr>
            <a:spLocks noGrp="1"/>
          </p:cNvSpPr>
          <p:nvPr>
            <p:ph type="title"/>
          </p:nvPr>
        </p:nvSpPr>
        <p:spPr/>
        <p:txBody>
          <a:bodyPr/>
          <a:lstStyle/>
          <a:p>
            <a:r>
              <a:rPr lang="en-US" dirty="0"/>
              <a:t>	What is a qubit – physically?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F4E355E-9380-6408-3156-2D1205809EC0}"/>
                  </a:ext>
                </a:extLst>
              </p:cNvPr>
              <p:cNvSpPr>
                <a:spLocks noGrp="1"/>
              </p:cNvSpPr>
              <p:nvPr>
                <p:ph idx="1"/>
              </p:nvPr>
            </p:nvSpPr>
            <p:spPr>
              <a:xfrm>
                <a:off x="838200" y="1825625"/>
                <a:ext cx="6281791" cy="4351338"/>
              </a:xfrm>
            </p:spPr>
            <p:txBody>
              <a:bodyPr>
                <a:normAutofit/>
              </a:bodyPr>
              <a:lstStyle/>
              <a:p>
                <a:pPr>
                  <a:lnSpc>
                    <a:spcPct val="100000"/>
                  </a:lnSpc>
                  <a:spcBef>
                    <a:spcPts val="600"/>
                  </a:spcBef>
                  <a:spcAft>
                    <a:spcPts val="600"/>
                  </a:spcAft>
                </a:pPr>
                <a:r>
                  <a:rPr lang="en-US" sz="2600" dirty="0">
                    <a:hlinkClick r:id="rId2"/>
                  </a:rPr>
                  <a:t>https://youtu.be/90za6mazNps?si=uv73uNkfTJCu_CaX</a:t>
                </a:r>
                <a:endParaRPr lang="en-US" sz="2600" dirty="0"/>
              </a:p>
              <a:p>
                <a:pPr>
                  <a:lnSpc>
                    <a:spcPct val="100000"/>
                  </a:lnSpc>
                  <a:spcBef>
                    <a:spcPts val="600"/>
                  </a:spcBef>
                  <a:spcAft>
                    <a:spcPts val="600"/>
                  </a:spcAft>
                </a:pPr>
                <a:r>
                  <a:rPr lang="en-US" sz="2600" dirty="0"/>
                  <a:t>Several technologies in place to physically realize a qubit.</a:t>
                </a:r>
              </a:p>
              <a:p>
                <a:pPr>
                  <a:lnSpc>
                    <a:spcPct val="100000"/>
                  </a:lnSpc>
                  <a:spcBef>
                    <a:spcPts val="600"/>
                  </a:spcBef>
                  <a:spcAft>
                    <a:spcPts val="600"/>
                  </a:spcAft>
                </a:pPr>
                <a:r>
                  <a:rPr lang="en-US" sz="2600" dirty="0"/>
                  <a:t>In case of electrons: </a:t>
                </a:r>
                <a14:m>
                  <m:oMath xmlns:m="http://schemas.openxmlformats.org/officeDocument/2006/math">
                    <m:r>
                      <a:rPr lang="en-US" sz="2600" smtClean="0">
                        <a:latin typeface="Cambria Math" panose="02040503050406030204" pitchFamily="18" charset="0"/>
                      </a:rPr>
                      <m:t>|</m:t>
                    </m:r>
                    <m:d>
                      <m:dPr>
                        <m:begChr m:val=""/>
                        <m:endChr m:val="⟩"/>
                        <m:ctrlPr>
                          <a:rPr lang="en-US" sz="2600" i="1">
                            <a:latin typeface="Cambria Math" panose="02040503050406030204" pitchFamily="18" charset="0"/>
                          </a:rPr>
                        </m:ctrlPr>
                      </m:dPr>
                      <m:e>
                        <m:r>
                          <a:rPr lang="en-US" sz="2600" i="1">
                            <a:latin typeface="Cambria Math" panose="02040503050406030204" pitchFamily="18" charset="0"/>
                          </a:rPr>
                          <m:t>0</m:t>
                        </m:r>
                      </m:e>
                    </m:d>
                    <m:r>
                      <a:rPr lang="en-US" sz="2600" b="0" i="0" smtClean="0">
                        <a:latin typeface="Cambria Math" panose="02040503050406030204" pitchFamily="18" charset="0"/>
                      </a:rPr>
                      <m:t> </m:t>
                    </m:r>
                  </m:oMath>
                </a14:m>
                <a:r>
                  <a:rPr lang="en-US" sz="2600" dirty="0">
                    <a:sym typeface="Symbol" panose="05050102010706020507" pitchFamily="18" charset="2"/>
                  </a:rPr>
                  <a:t>represents the ground state, while</a:t>
                </a:r>
                <a14:m>
                  <m:oMath xmlns:m="http://schemas.openxmlformats.org/officeDocument/2006/math">
                    <m:r>
                      <a:rPr lang="en-US" sz="2600" b="0" i="0" smtClean="0">
                        <a:latin typeface="Cambria Math" panose="02040503050406030204" pitchFamily="18" charset="0"/>
                      </a:rPr>
                      <m:t> </m:t>
                    </m:r>
                    <m:r>
                      <a:rPr lang="en-US" sz="2600">
                        <a:latin typeface="Cambria Math" panose="02040503050406030204" pitchFamily="18" charset="0"/>
                      </a:rPr>
                      <m:t>|</m:t>
                    </m:r>
                    <m:d>
                      <m:dPr>
                        <m:begChr m:val=""/>
                        <m:endChr m:val="⟩"/>
                        <m:ctrlPr>
                          <a:rPr lang="en-US" sz="2600" i="1">
                            <a:latin typeface="Cambria Math" panose="02040503050406030204" pitchFamily="18" charset="0"/>
                          </a:rPr>
                        </m:ctrlPr>
                      </m:dPr>
                      <m:e>
                        <m:r>
                          <a:rPr lang="en-US" sz="2600" i="1">
                            <a:latin typeface="Cambria Math" panose="02040503050406030204" pitchFamily="18" charset="0"/>
                          </a:rPr>
                          <m:t>1</m:t>
                        </m:r>
                      </m:e>
                    </m:d>
                  </m:oMath>
                </a14:m>
                <a:r>
                  <a:rPr lang="en-US" sz="2600" dirty="0"/>
                  <a:t> may represent the excited state. </a:t>
                </a:r>
              </a:p>
              <a:p>
                <a:pPr>
                  <a:lnSpc>
                    <a:spcPct val="100000"/>
                  </a:lnSpc>
                  <a:spcBef>
                    <a:spcPts val="600"/>
                  </a:spcBef>
                  <a:spcAft>
                    <a:spcPts val="600"/>
                  </a:spcAft>
                </a:pPr>
                <a:r>
                  <a:rPr lang="en-US" sz="2600" dirty="0"/>
                  <a:t>An electron can be an infinite number of superpositions of these two states.</a:t>
                </a:r>
              </a:p>
            </p:txBody>
          </p:sp>
        </mc:Choice>
        <mc:Fallback xmlns="">
          <p:sp>
            <p:nvSpPr>
              <p:cNvPr id="3" name="Content Placeholder 2">
                <a:extLst>
                  <a:ext uri="{FF2B5EF4-FFF2-40B4-BE49-F238E27FC236}">
                    <a16:creationId xmlns:a16="http://schemas.microsoft.com/office/drawing/2014/main" id="{0F4E355E-9380-6408-3156-2D1205809EC0}"/>
                  </a:ext>
                </a:extLst>
              </p:cNvPr>
              <p:cNvSpPr>
                <a:spLocks noGrp="1" noRot="1" noChangeAspect="1" noMove="1" noResize="1" noEditPoints="1" noAdjustHandles="1" noChangeArrowheads="1" noChangeShapeType="1" noTextEdit="1"/>
              </p:cNvSpPr>
              <p:nvPr>
                <p:ph idx="1"/>
              </p:nvPr>
            </p:nvSpPr>
            <p:spPr>
              <a:xfrm>
                <a:off x="838200" y="1825625"/>
                <a:ext cx="6281791" cy="4351338"/>
              </a:xfrm>
              <a:blipFill>
                <a:blip r:embed="rId3"/>
                <a:stretch>
                  <a:fillRect l="-1553" t="-1261" r="-1456"/>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680CA018-3D33-AD89-0B39-B7A81965C5FA}"/>
              </a:ext>
            </a:extLst>
          </p:cNvPr>
          <p:cNvSpPr>
            <a:spLocks noGrp="1"/>
          </p:cNvSpPr>
          <p:nvPr>
            <p:ph type="ftr" sz="quarter" idx="11"/>
          </p:nvPr>
        </p:nvSpPr>
        <p:spPr/>
        <p:txBody>
          <a:bodyPr/>
          <a:lstStyle/>
          <a:p>
            <a:r>
              <a:rPr lang="en-US"/>
              <a:t>CS-314: Quantum Computing</a:t>
            </a:r>
            <a:endParaRPr lang="en-US" dirty="0"/>
          </a:p>
        </p:txBody>
      </p:sp>
      <p:sp>
        <p:nvSpPr>
          <p:cNvPr id="5" name="Slide Number Placeholder 4">
            <a:extLst>
              <a:ext uri="{FF2B5EF4-FFF2-40B4-BE49-F238E27FC236}">
                <a16:creationId xmlns:a16="http://schemas.microsoft.com/office/drawing/2014/main" id="{BACFCAA2-A3F9-1419-FB0D-25D3CC46947E}"/>
              </a:ext>
            </a:extLst>
          </p:cNvPr>
          <p:cNvSpPr>
            <a:spLocks noGrp="1"/>
          </p:cNvSpPr>
          <p:nvPr>
            <p:ph type="sldNum" sz="quarter" idx="12"/>
          </p:nvPr>
        </p:nvSpPr>
        <p:spPr/>
        <p:txBody>
          <a:bodyPr/>
          <a:lstStyle/>
          <a:p>
            <a:fld id="{69121A1F-7885-4E65-AB38-5CCB274F4EF5}" type="slidenum">
              <a:rPr lang="en-US" smtClean="0"/>
              <a:t>10</a:t>
            </a:fld>
            <a:endParaRPr lang="en-US"/>
          </a:p>
        </p:txBody>
      </p:sp>
      <p:pic>
        <p:nvPicPr>
          <p:cNvPr id="7" name="Picture 6">
            <a:extLst>
              <a:ext uri="{FF2B5EF4-FFF2-40B4-BE49-F238E27FC236}">
                <a16:creationId xmlns:a16="http://schemas.microsoft.com/office/drawing/2014/main" id="{BDA99A0E-06A3-4857-1909-129C79F61658}"/>
              </a:ext>
            </a:extLst>
          </p:cNvPr>
          <p:cNvPicPr>
            <a:picLocks noChangeAspect="1"/>
          </p:cNvPicPr>
          <p:nvPr/>
        </p:nvPicPr>
        <p:blipFill>
          <a:blip r:embed="rId4"/>
          <a:stretch>
            <a:fillRect/>
          </a:stretch>
        </p:blipFill>
        <p:spPr>
          <a:xfrm>
            <a:off x="6954523" y="2649875"/>
            <a:ext cx="5096703" cy="3261306"/>
          </a:xfrm>
          <a:prstGeom prst="rect">
            <a:avLst/>
          </a:prstGeom>
        </p:spPr>
      </p:pic>
    </p:spTree>
    <p:extLst>
      <p:ext uri="{BB962C8B-B14F-4D97-AF65-F5344CB8AC3E}">
        <p14:creationId xmlns:p14="http://schemas.microsoft.com/office/powerpoint/2010/main" val="1872174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500" fill="hold"/>
                                        <p:tgtEl>
                                          <p:spTgt spid="7"/>
                                        </p:tgtEl>
                                        <p:attrNameLst>
                                          <p:attrName>ppt_w</p:attrName>
                                        </p:attrNameLst>
                                      </p:cBhvr>
                                      <p:tavLst>
                                        <p:tav tm="0">
                                          <p:val>
                                            <p:fltVal val="0"/>
                                          </p:val>
                                        </p:tav>
                                        <p:tav tm="100000">
                                          <p:val>
                                            <p:strVal val="#ppt_w"/>
                                          </p:val>
                                        </p:tav>
                                      </p:tavLst>
                                    </p:anim>
                                    <p:anim calcmode="lin" valueType="num">
                                      <p:cBhvr>
                                        <p:cTn id="24" dur="500" fill="hold"/>
                                        <p:tgtEl>
                                          <p:spTgt spid="7"/>
                                        </p:tgtEl>
                                        <p:attrNameLst>
                                          <p:attrName>ppt_h</p:attrName>
                                        </p:attrNameLst>
                                      </p:cBhvr>
                                      <p:tavLst>
                                        <p:tav tm="0">
                                          <p:val>
                                            <p:fltVal val="0"/>
                                          </p:val>
                                        </p:tav>
                                        <p:tav tm="100000">
                                          <p:val>
                                            <p:strVal val="#ppt_h"/>
                                          </p:val>
                                        </p:tav>
                                      </p:tavLst>
                                    </p:anim>
                                    <p:animEffect transition="in" filter="fade">
                                      <p:cBhvr>
                                        <p:cTn id="2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FF90B-EE5E-8FDD-2025-2961E90E21D3}"/>
              </a:ext>
            </a:extLst>
          </p:cNvPr>
          <p:cNvSpPr>
            <a:spLocks noGrp="1"/>
          </p:cNvSpPr>
          <p:nvPr>
            <p:ph type="title"/>
          </p:nvPr>
        </p:nvSpPr>
        <p:spPr/>
        <p:txBody>
          <a:bodyPr/>
          <a:lstStyle/>
          <a:p>
            <a:r>
              <a:rPr lang="en-US" dirty="0"/>
              <a:t>	Dual of a Qubit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5CFFE8B-610B-EB94-623F-F300E8925E02}"/>
                  </a:ext>
                </a:extLst>
              </p:cNvPr>
              <p:cNvSpPr>
                <a:spLocks noGrp="1"/>
              </p:cNvSpPr>
              <p:nvPr>
                <p:ph idx="1"/>
              </p:nvPr>
            </p:nvSpPr>
            <p:spPr/>
            <p:txBody>
              <a:bodyPr>
                <a:normAutofit/>
              </a:bodyPr>
              <a:lstStyle/>
              <a:p>
                <a:pPr>
                  <a:lnSpc>
                    <a:spcPct val="100000"/>
                  </a:lnSpc>
                  <a:spcBef>
                    <a:spcPts val="600"/>
                  </a:spcBef>
                  <a:spcAft>
                    <a:spcPts val="600"/>
                  </a:spcAft>
                </a:pPr>
                <a:r>
                  <a:rPr lang="en-US" sz="2600" dirty="0"/>
                  <a:t>Similar to the classical information model, the dual vector of a qubit </a:t>
                </a:r>
                <a14:m>
                  <m:oMath xmlns:m="http://schemas.openxmlformats.org/officeDocument/2006/math">
                    <m:r>
                      <a:rPr lang="en-US" sz="2600" b="0" i="0" smtClean="0">
                        <a:latin typeface="Cambria Math" panose="02040503050406030204" pitchFamily="18" charset="0"/>
                      </a:rPr>
                      <m:t>|</m:t>
                    </m:r>
                    <m:d>
                      <m:dPr>
                        <m:begChr m:val=""/>
                        <m:endChr m:val="⟩"/>
                        <m:ctrlPr>
                          <a:rPr lang="en-US" sz="2600" i="1" smtClean="0">
                            <a:latin typeface="Cambria Math" panose="02040503050406030204" pitchFamily="18" charset="0"/>
                          </a:rPr>
                        </m:ctrlPr>
                      </m:dPr>
                      <m:e>
                        <m:r>
                          <a:rPr lang="en-US" sz="2600" i="0" smtClean="0">
                            <a:latin typeface="Cambria Math" panose="02040503050406030204" pitchFamily="18" charset="0"/>
                            <a:sym typeface="Symbol" panose="05050102010706020507" pitchFamily="18" charset="2"/>
                          </a:rPr>
                          <m:t></m:t>
                        </m:r>
                      </m:e>
                    </m:d>
                  </m:oMath>
                </a14:m>
                <a:r>
                  <a:rPr lang="en-US" sz="2600" dirty="0"/>
                  <a:t> = </a:t>
                </a:r>
                <a:r>
                  <a:rPr lang="en-US" sz="2600" dirty="0">
                    <a:sym typeface="Symbol" panose="05050102010706020507" pitchFamily="18" charset="2"/>
                  </a:rPr>
                  <a:t></a:t>
                </a:r>
                <a14:m>
                  <m:oMath xmlns:m="http://schemas.openxmlformats.org/officeDocument/2006/math">
                    <m:r>
                      <a:rPr lang="en-US" sz="2600" b="0" i="1" smtClean="0">
                        <a:latin typeface="Cambria Math" panose="02040503050406030204" pitchFamily="18" charset="0"/>
                      </a:rPr>
                      <m:t> </m:t>
                    </m:r>
                    <m:r>
                      <a:rPr lang="en-US" sz="2600">
                        <a:latin typeface="Cambria Math" panose="02040503050406030204" pitchFamily="18" charset="0"/>
                      </a:rPr>
                      <m:t>|</m:t>
                    </m:r>
                    <m:d>
                      <m:dPr>
                        <m:begChr m:val=""/>
                        <m:endChr m:val="⟩"/>
                        <m:ctrlPr>
                          <a:rPr lang="en-US" sz="2600" i="1">
                            <a:latin typeface="Cambria Math" panose="02040503050406030204" pitchFamily="18" charset="0"/>
                          </a:rPr>
                        </m:ctrlPr>
                      </m:dPr>
                      <m:e>
                        <m:r>
                          <a:rPr lang="en-US" sz="2600" i="1">
                            <a:latin typeface="Cambria Math" panose="02040503050406030204" pitchFamily="18" charset="0"/>
                          </a:rPr>
                          <m:t>0</m:t>
                        </m:r>
                      </m:e>
                    </m:d>
                    <m:r>
                      <a:rPr lang="en-US" sz="2600" b="0" i="0" smtClean="0">
                        <a:latin typeface="Cambria Math" panose="02040503050406030204" pitchFamily="18" charset="0"/>
                      </a:rPr>
                      <m:t>+</m:t>
                    </m:r>
                  </m:oMath>
                </a14:m>
                <a:r>
                  <a:rPr lang="en-US" sz="2600" dirty="0">
                    <a:sym typeface="Symbol" panose="05050102010706020507" pitchFamily="18" charset="2"/>
                  </a:rPr>
                  <a:t></a:t>
                </a:r>
                <a14:m>
                  <m:oMath xmlns:m="http://schemas.openxmlformats.org/officeDocument/2006/math">
                    <m:r>
                      <a:rPr lang="en-US" sz="2600" b="0" i="0" smtClean="0">
                        <a:latin typeface="Cambria Math" panose="02040503050406030204" pitchFamily="18" charset="0"/>
                      </a:rPr>
                      <m:t> </m:t>
                    </m:r>
                    <m:r>
                      <a:rPr lang="en-US" sz="2600">
                        <a:latin typeface="Cambria Math" panose="02040503050406030204" pitchFamily="18" charset="0"/>
                      </a:rPr>
                      <m:t>|</m:t>
                    </m:r>
                    <m:d>
                      <m:dPr>
                        <m:begChr m:val=""/>
                        <m:endChr m:val="⟩"/>
                        <m:ctrlPr>
                          <a:rPr lang="en-US" sz="2600" i="1">
                            <a:latin typeface="Cambria Math" panose="02040503050406030204" pitchFamily="18" charset="0"/>
                          </a:rPr>
                        </m:ctrlPr>
                      </m:dPr>
                      <m:e>
                        <m:r>
                          <a:rPr lang="en-US" sz="2600" i="1">
                            <a:latin typeface="Cambria Math" panose="02040503050406030204" pitchFamily="18" charset="0"/>
                          </a:rPr>
                          <m:t>1</m:t>
                        </m:r>
                      </m:e>
                    </m:d>
                  </m:oMath>
                </a14:m>
                <a:r>
                  <a:rPr lang="en-US" sz="2600" dirty="0"/>
                  <a:t> is represented by </a:t>
                </a:r>
                <a14:m>
                  <m:oMath xmlns:m="http://schemas.openxmlformats.org/officeDocument/2006/math">
                    <m:d>
                      <m:dPr>
                        <m:begChr m:val="⟨"/>
                        <m:endChr m:val=""/>
                        <m:ctrlPr>
                          <a:rPr lang="en-US" sz="2600" i="1">
                            <a:latin typeface="Cambria Math" panose="02040503050406030204" pitchFamily="18" charset="0"/>
                          </a:rPr>
                        </m:ctrlPr>
                      </m:dPr>
                      <m:e>
                        <m:r>
                          <a:rPr lang="en-US" sz="2600" i="1">
                            <a:latin typeface="Cambria Math" panose="02040503050406030204" pitchFamily="18" charset="0"/>
                            <a:sym typeface="Symbol" panose="05050102010706020507" pitchFamily="18" charset="2"/>
                          </a:rPr>
                          <m:t></m:t>
                        </m:r>
                      </m:e>
                    </m:d>
                    <m:r>
                      <a:rPr lang="en-US" sz="2600" i="1">
                        <a:latin typeface="Cambria Math" panose="02040503050406030204" pitchFamily="18" charset="0"/>
                      </a:rPr>
                      <m:t>|</m:t>
                    </m:r>
                  </m:oMath>
                </a14:m>
                <a:r>
                  <a:rPr lang="en-US" sz="2600" dirty="0"/>
                  <a:t>.</a:t>
                </a:r>
              </a:p>
              <a:p>
                <a:pPr>
                  <a:lnSpc>
                    <a:spcPct val="100000"/>
                  </a:lnSpc>
                  <a:spcBef>
                    <a:spcPts val="600"/>
                  </a:spcBef>
                  <a:spcAft>
                    <a:spcPts val="600"/>
                  </a:spcAft>
                </a:pPr>
                <a:r>
                  <a:rPr lang="en-US" sz="2600" dirty="0"/>
                  <a:t>Note that to find that dual, use the complex conjugate of the coefficients </a:t>
                </a:r>
                <a:r>
                  <a:rPr lang="en-US" sz="2600" dirty="0">
                    <a:sym typeface="Symbol" panose="05050102010706020507" pitchFamily="18" charset="2"/>
                  </a:rPr>
                  <a:t> and .</a:t>
                </a:r>
              </a:p>
              <a:p>
                <a:pPr>
                  <a:lnSpc>
                    <a:spcPct val="100000"/>
                  </a:lnSpc>
                  <a:spcBef>
                    <a:spcPts val="600"/>
                  </a:spcBef>
                  <a:spcAft>
                    <a:spcPts val="600"/>
                  </a:spcAft>
                </a:pPr>
                <a:r>
                  <a:rPr lang="en-US" sz="2600" dirty="0">
                    <a:sym typeface="Symbol" panose="05050102010706020507" pitchFamily="18" charset="2"/>
                  </a:rPr>
                  <a:t>For example, if </a:t>
                </a:r>
                <a14:m>
                  <m:oMath xmlns:m="http://schemas.openxmlformats.org/officeDocument/2006/math">
                    <m:r>
                      <a:rPr lang="en-US" sz="2600" b="0" i="0" smtClean="0">
                        <a:latin typeface="Cambria Math" panose="02040503050406030204" pitchFamily="18" charset="0"/>
                      </a:rPr>
                      <m:t>|</m:t>
                    </m:r>
                    <m:d>
                      <m:dPr>
                        <m:begChr m:val=""/>
                        <m:endChr m:val="⟩"/>
                        <m:ctrlPr>
                          <a:rPr lang="en-US" sz="2600" i="1" smtClean="0">
                            <a:latin typeface="Cambria Math" panose="02040503050406030204" pitchFamily="18" charset="0"/>
                          </a:rPr>
                        </m:ctrlPr>
                      </m:dPr>
                      <m:e>
                        <m:r>
                          <a:rPr lang="en-US" sz="2600" i="0" smtClean="0">
                            <a:latin typeface="Cambria Math" panose="02040503050406030204" pitchFamily="18" charset="0"/>
                            <a:sym typeface="Symbol" panose="05050102010706020507" pitchFamily="18" charset="2"/>
                          </a:rPr>
                          <m:t></m:t>
                        </m:r>
                      </m:e>
                    </m:d>
                  </m:oMath>
                </a14:m>
                <a:r>
                  <a:rPr lang="en-US" sz="2600" dirty="0"/>
                  <a:t> = </a:t>
                </a:r>
              </a:p>
              <a:p>
                <a:pPr>
                  <a:lnSpc>
                    <a:spcPct val="100000"/>
                  </a:lnSpc>
                  <a:spcBef>
                    <a:spcPts val="600"/>
                  </a:spcBef>
                  <a:spcAft>
                    <a:spcPts val="600"/>
                  </a:spcAft>
                </a:pPr>
                <a:endParaRPr lang="en-US" sz="2600" dirty="0"/>
              </a:p>
              <a:p>
                <a:pPr>
                  <a:lnSpc>
                    <a:spcPct val="100000"/>
                  </a:lnSpc>
                  <a:spcBef>
                    <a:spcPts val="600"/>
                  </a:spcBef>
                  <a:spcAft>
                    <a:spcPts val="600"/>
                  </a:spcAft>
                </a:pPr>
                <a:r>
                  <a:rPr lang="en-US" sz="2600" dirty="0"/>
                  <a:t>Then </a:t>
                </a:r>
              </a:p>
            </p:txBody>
          </p:sp>
        </mc:Choice>
        <mc:Fallback xmlns="">
          <p:sp>
            <p:nvSpPr>
              <p:cNvPr id="3" name="Content Placeholder 2">
                <a:extLst>
                  <a:ext uri="{FF2B5EF4-FFF2-40B4-BE49-F238E27FC236}">
                    <a16:creationId xmlns:a16="http://schemas.microsoft.com/office/drawing/2014/main" id="{85CFFE8B-610B-EB94-623F-F300E8925E02}"/>
                  </a:ext>
                </a:extLst>
              </p:cNvPr>
              <p:cNvSpPr>
                <a:spLocks noGrp="1" noRot="1" noChangeAspect="1" noMove="1" noResize="1" noEditPoints="1" noAdjustHandles="1" noChangeArrowheads="1" noChangeShapeType="1" noTextEdit="1"/>
              </p:cNvSpPr>
              <p:nvPr>
                <p:ph idx="1"/>
              </p:nvPr>
            </p:nvSpPr>
            <p:spPr>
              <a:blipFill>
                <a:blip r:embed="rId2"/>
                <a:stretch>
                  <a:fillRect l="-928" t="-1261" r="-348"/>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CE506A9A-0D88-8B37-8AF7-55F8061ADBC3}"/>
              </a:ext>
            </a:extLst>
          </p:cNvPr>
          <p:cNvSpPr>
            <a:spLocks noGrp="1"/>
          </p:cNvSpPr>
          <p:nvPr>
            <p:ph type="ftr" sz="quarter" idx="11"/>
          </p:nvPr>
        </p:nvSpPr>
        <p:spPr/>
        <p:txBody>
          <a:bodyPr/>
          <a:lstStyle/>
          <a:p>
            <a:r>
              <a:rPr lang="en-US"/>
              <a:t>CS-314: Quantum Computing</a:t>
            </a:r>
            <a:endParaRPr lang="en-US" dirty="0"/>
          </a:p>
        </p:txBody>
      </p:sp>
      <p:sp>
        <p:nvSpPr>
          <p:cNvPr id="5" name="Slide Number Placeholder 4">
            <a:extLst>
              <a:ext uri="{FF2B5EF4-FFF2-40B4-BE49-F238E27FC236}">
                <a16:creationId xmlns:a16="http://schemas.microsoft.com/office/drawing/2014/main" id="{0A2C25D9-3D89-C41E-55DF-85F8B2CB53F1}"/>
              </a:ext>
            </a:extLst>
          </p:cNvPr>
          <p:cNvSpPr>
            <a:spLocks noGrp="1"/>
          </p:cNvSpPr>
          <p:nvPr>
            <p:ph type="sldNum" sz="quarter" idx="12"/>
          </p:nvPr>
        </p:nvSpPr>
        <p:spPr/>
        <p:txBody>
          <a:bodyPr/>
          <a:lstStyle/>
          <a:p>
            <a:fld id="{69121A1F-7885-4E65-AB38-5CCB274F4EF5}" type="slidenum">
              <a:rPr lang="en-US" smtClean="0"/>
              <a:t>11</a:t>
            </a:fld>
            <a:endParaRPr lang="en-US"/>
          </a:p>
        </p:txBody>
      </p:sp>
      <p:pic>
        <p:nvPicPr>
          <p:cNvPr id="7" name="Picture 6">
            <a:extLst>
              <a:ext uri="{FF2B5EF4-FFF2-40B4-BE49-F238E27FC236}">
                <a16:creationId xmlns:a16="http://schemas.microsoft.com/office/drawing/2014/main" id="{CCFF374E-301A-FA9C-D80C-FE9A73B005EB}"/>
              </a:ext>
            </a:extLst>
          </p:cNvPr>
          <p:cNvPicPr>
            <a:picLocks noChangeAspect="1"/>
          </p:cNvPicPr>
          <p:nvPr/>
        </p:nvPicPr>
        <p:blipFill>
          <a:blip r:embed="rId3"/>
          <a:stretch>
            <a:fillRect/>
          </a:stretch>
        </p:blipFill>
        <p:spPr>
          <a:xfrm>
            <a:off x="3915310" y="3418726"/>
            <a:ext cx="3153310" cy="1117518"/>
          </a:xfrm>
          <a:prstGeom prst="rect">
            <a:avLst/>
          </a:prstGeom>
        </p:spPr>
      </p:pic>
      <p:pic>
        <p:nvPicPr>
          <p:cNvPr id="9" name="Picture 8">
            <a:extLst>
              <a:ext uri="{FF2B5EF4-FFF2-40B4-BE49-F238E27FC236}">
                <a16:creationId xmlns:a16="http://schemas.microsoft.com/office/drawing/2014/main" id="{297C3E9E-A9C8-AB12-E17A-AC4F9FC54E7E}"/>
              </a:ext>
            </a:extLst>
          </p:cNvPr>
          <p:cNvPicPr>
            <a:picLocks noChangeAspect="1"/>
          </p:cNvPicPr>
          <p:nvPr/>
        </p:nvPicPr>
        <p:blipFill>
          <a:blip r:embed="rId4"/>
          <a:stretch>
            <a:fillRect/>
          </a:stretch>
        </p:blipFill>
        <p:spPr>
          <a:xfrm>
            <a:off x="1979478" y="4685853"/>
            <a:ext cx="4780917" cy="832305"/>
          </a:xfrm>
          <a:prstGeom prst="rect">
            <a:avLst/>
          </a:prstGeom>
        </p:spPr>
      </p:pic>
    </p:spTree>
    <p:extLst>
      <p:ext uri="{BB962C8B-B14F-4D97-AF65-F5344CB8AC3E}">
        <p14:creationId xmlns:p14="http://schemas.microsoft.com/office/powerpoint/2010/main" val="859771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animEffect transition="in" filter="fade">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p:cTn id="30" dur="500" fill="hold"/>
                                        <p:tgtEl>
                                          <p:spTgt spid="9"/>
                                        </p:tgtEl>
                                        <p:attrNameLst>
                                          <p:attrName>ppt_w</p:attrName>
                                        </p:attrNameLst>
                                      </p:cBhvr>
                                      <p:tavLst>
                                        <p:tav tm="0">
                                          <p:val>
                                            <p:fltVal val="0"/>
                                          </p:val>
                                        </p:tav>
                                        <p:tav tm="100000">
                                          <p:val>
                                            <p:strVal val="#ppt_w"/>
                                          </p:val>
                                        </p:tav>
                                      </p:tavLst>
                                    </p:anim>
                                    <p:anim calcmode="lin" valueType="num">
                                      <p:cBhvr>
                                        <p:cTn id="31" dur="500" fill="hold"/>
                                        <p:tgtEl>
                                          <p:spTgt spid="9"/>
                                        </p:tgtEl>
                                        <p:attrNameLst>
                                          <p:attrName>ppt_h</p:attrName>
                                        </p:attrNameLst>
                                      </p:cBhvr>
                                      <p:tavLst>
                                        <p:tav tm="0">
                                          <p:val>
                                            <p:fltVal val="0"/>
                                          </p:val>
                                        </p:tav>
                                        <p:tav tm="100000">
                                          <p:val>
                                            <p:strVal val="#ppt_h"/>
                                          </p:val>
                                        </p:tav>
                                      </p:tavLst>
                                    </p:anim>
                                    <p:animEffect transition="in" filter="fade">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FC870-E8FE-1A53-C08F-C6DCD89C8C52}"/>
              </a:ext>
            </a:extLst>
          </p:cNvPr>
          <p:cNvSpPr>
            <a:spLocks noGrp="1"/>
          </p:cNvSpPr>
          <p:nvPr>
            <p:ph type="title"/>
          </p:nvPr>
        </p:nvSpPr>
        <p:spPr/>
        <p:txBody>
          <a:bodyPr/>
          <a:lstStyle/>
          <a:p>
            <a:r>
              <a:rPr lang="en-US" dirty="0"/>
              <a:t>	Some Class Exercises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E9D5461-AB3D-A6A9-6D81-22E819EF1161}"/>
                  </a:ext>
                </a:extLst>
              </p:cNvPr>
              <p:cNvSpPr>
                <a:spLocks noGrp="1"/>
              </p:cNvSpPr>
              <p:nvPr>
                <p:ph idx="1"/>
              </p:nvPr>
            </p:nvSpPr>
            <p:spPr/>
            <p:txBody>
              <a:bodyPr/>
              <a:lstStyle/>
              <a:p>
                <a:r>
                  <a:rPr lang="en-US" dirty="0"/>
                  <a:t>Similar to the classical states, in case of qubits we have </a:t>
                </a:r>
                <a14:m>
                  <m:oMath xmlns:m="http://schemas.openxmlformats.org/officeDocument/2006/math">
                    <m:d>
                      <m:dPr>
                        <m:begChr m:val="⟨"/>
                        <m:endChr m:val="⟩"/>
                        <m:ctrlPr>
                          <a:rPr lang="en-US" sz="2800" i="1" smtClean="0">
                            <a:latin typeface="Cambria Math" panose="02040503050406030204" pitchFamily="18" charset="0"/>
                          </a:rPr>
                        </m:ctrlPr>
                      </m:dPr>
                      <m:e>
                        <m:r>
                          <a:rPr lang="en-US" sz="2800" b="0" i="1" smtClean="0">
                            <a:latin typeface="Cambria Math" panose="02040503050406030204" pitchFamily="18" charset="0"/>
                          </a:rPr>
                          <m:t>0</m:t>
                        </m:r>
                      </m:e>
                      <m:e>
                        <m:r>
                          <a:rPr lang="en-US" sz="2800" b="0" i="1" smtClean="0">
                            <a:latin typeface="Cambria Math" panose="02040503050406030204" pitchFamily="18" charset="0"/>
                          </a:rPr>
                          <m:t>0</m:t>
                        </m:r>
                      </m:e>
                    </m:d>
                  </m:oMath>
                </a14:m>
                <a:r>
                  <a:rPr lang="en-US" dirty="0"/>
                  <a:t> = 1, </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0</m:t>
                        </m:r>
                      </m:e>
                      <m:e>
                        <m:r>
                          <a:rPr lang="en-US" i="1">
                            <a:latin typeface="Cambria Math" panose="02040503050406030204" pitchFamily="18" charset="0"/>
                          </a:rPr>
                          <m:t>1</m:t>
                        </m:r>
                      </m:e>
                    </m:d>
                  </m:oMath>
                </a14:m>
                <a:r>
                  <a:rPr lang="en-US" dirty="0"/>
                  <a:t> </a:t>
                </a:r>
                <a:r>
                  <a:rPr lang="en-US"/>
                  <a:t>= 0, </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1</m:t>
                        </m:r>
                      </m:e>
                      <m:e>
                        <m:r>
                          <a:rPr lang="en-US" i="1">
                            <a:latin typeface="Cambria Math" panose="02040503050406030204" pitchFamily="18" charset="0"/>
                          </a:rPr>
                          <m:t>0</m:t>
                        </m:r>
                      </m:e>
                    </m:d>
                  </m:oMath>
                </a14:m>
                <a:r>
                  <a:rPr lang="en-US" dirty="0"/>
                  <a:t> = 0, and </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1</m:t>
                        </m:r>
                      </m:e>
                      <m:e>
                        <m:r>
                          <a:rPr lang="en-US" i="1">
                            <a:latin typeface="Cambria Math" panose="02040503050406030204" pitchFamily="18" charset="0"/>
                          </a:rPr>
                          <m:t>1</m:t>
                        </m:r>
                      </m:e>
                    </m:d>
                    <m:r>
                      <a:rPr lang="en-US" b="0" i="1" smtClean="0">
                        <a:latin typeface="Cambria Math" panose="02040503050406030204" pitchFamily="18" charset="0"/>
                      </a:rPr>
                      <m:t>=</m:t>
                    </m:r>
                  </m:oMath>
                </a14:m>
                <a:r>
                  <a:rPr lang="en-US" dirty="0"/>
                  <a:t>1.</a:t>
                </a:r>
              </a:p>
              <a:p>
                <a:endParaRPr lang="en-US" dirty="0"/>
              </a:p>
              <a:p>
                <a:r>
                  <a:rPr lang="en-US" dirty="0"/>
                  <a:t>If </a:t>
                </a:r>
                <a14:m>
                  <m:oMath xmlns:m="http://schemas.openxmlformats.org/officeDocument/2006/math">
                    <m:r>
                      <a:rPr lang="en-US" sz="2800" b="0" i="0" smtClean="0">
                        <a:latin typeface="Cambria Math" panose="02040503050406030204" pitchFamily="18" charset="0"/>
                      </a:rPr>
                      <m:t>|</m:t>
                    </m:r>
                    <m:d>
                      <m:dPr>
                        <m:begChr m:val=""/>
                        <m:endChr m:val="⟩"/>
                        <m:ctrlPr>
                          <a:rPr lang="en-US" sz="2800" i="1" smtClean="0">
                            <a:latin typeface="Cambria Math" panose="02040503050406030204" pitchFamily="18" charset="0"/>
                          </a:rPr>
                        </m:ctrlPr>
                      </m:dPr>
                      <m:e>
                        <m:r>
                          <a:rPr lang="en-US" sz="2800" i="0" smtClean="0">
                            <a:latin typeface="Cambria Math" panose="02040503050406030204" pitchFamily="18" charset="0"/>
                            <a:sym typeface="Symbol" panose="05050102010706020507" pitchFamily="18" charset="2"/>
                          </a:rPr>
                          <m:t></m:t>
                        </m:r>
                      </m:e>
                    </m:d>
                  </m:oMath>
                </a14:m>
                <a:r>
                  <a:rPr lang="en-US" sz="2800" dirty="0"/>
                  <a:t> = </a:t>
                </a:r>
              </a:p>
              <a:p>
                <a:pPr marL="0" indent="0">
                  <a:buNone/>
                </a:pPr>
                <a:endParaRPr lang="en-US" dirty="0"/>
              </a:p>
              <a:p>
                <a:pPr marL="0" indent="0">
                  <a:buNone/>
                </a:pPr>
                <a:r>
                  <a:rPr lang="en-US" dirty="0"/>
                  <a:t>  find </a:t>
                </a:r>
                <a14:m>
                  <m:oMath xmlns:m="http://schemas.openxmlformats.org/officeDocument/2006/math">
                    <m:d>
                      <m:dPr>
                        <m:begChr m:val="⟨"/>
                        <m:endChr m:val="⟩"/>
                        <m:ctrlPr>
                          <a:rPr lang="en-US" sz="2800" i="1" smtClean="0">
                            <a:latin typeface="Cambria Math" panose="02040503050406030204" pitchFamily="18" charset="0"/>
                          </a:rPr>
                        </m:ctrlPr>
                      </m:dPr>
                      <m:e>
                        <m:r>
                          <a:rPr lang="en-US" sz="2800" b="0" i="1" smtClean="0">
                            <a:latin typeface="Cambria Math" panose="02040503050406030204" pitchFamily="18" charset="0"/>
                          </a:rPr>
                          <m:t>0</m:t>
                        </m:r>
                      </m:e>
                      <m:e>
                        <m:r>
                          <a:rPr lang="en-US" i="1">
                            <a:latin typeface="Cambria Math" panose="02040503050406030204" pitchFamily="18" charset="0"/>
                            <a:sym typeface="Symbol" panose="05050102010706020507" pitchFamily="18" charset="2"/>
                          </a:rPr>
                          <m:t></m:t>
                        </m:r>
                      </m:e>
                    </m:d>
                  </m:oMath>
                </a14:m>
                <a:r>
                  <a:rPr lang="en-US" dirty="0"/>
                  <a:t>, </a:t>
                </a:r>
                <a14:m>
                  <m:oMath xmlns:m="http://schemas.openxmlformats.org/officeDocument/2006/math">
                    <m:d>
                      <m:dPr>
                        <m:begChr m:val="⟨"/>
                        <m:endChr m:val="⟩"/>
                        <m:ctrlPr>
                          <a:rPr lang="en-US" i="1">
                            <a:latin typeface="Cambria Math" panose="02040503050406030204" pitchFamily="18" charset="0"/>
                          </a:rPr>
                        </m:ctrlPr>
                      </m:dPr>
                      <m:e>
                        <m:r>
                          <a:rPr lang="en-US" b="0" i="1" smtClean="0">
                            <a:latin typeface="Cambria Math" panose="02040503050406030204" pitchFamily="18" charset="0"/>
                          </a:rPr>
                          <m:t>1</m:t>
                        </m:r>
                      </m:e>
                      <m:e>
                        <m:r>
                          <a:rPr lang="en-US" i="1">
                            <a:latin typeface="Cambria Math" panose="02040503050406030204" pitchFamily="18" charset="0"/>
                            <a:sym typeface="Symbol" panose="05050102010706020507" pitchFamily="18" charset="2"/>
                          </a:rPr>
                          <m:t></m:t>
                        </m:r>
                      </m:e>
                    </m:d>
                  </m:oMath>
                </a14:m>
                <a:r>
                  <a:rPr lang="en-US" dirty="0"/>
                  <a:t> and </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sym typeface="Symbol" panose="05050102010706020507" pitchFamily="18" charset="2"/>
                          </a:rPr>
                          <m:t></m:t>
                        </m:r>
                      </m:e>
                      <m:e>
                        <m:r>
                          <a:rPr lang="en-US" i="1">
                            <a:latin typeface="Cambria Math" panose="02040503050406030204" pitchFamily="18" charset="0"/>
                            <a:sym typeface="Symbol" panose="05050102010706020507" pitchFamily="18" charset="2"/>
                          </a:rPr>
                          <m:t></m:t>
                        </m:r>
                      </m:e>
                    </m:d>
                    <m:r>
                      <a:rPr lang="en-US" b="0" i="1" smtClean="0">
                        <a:latin typeface="Cambria Math" panose="02040503050406030204" pitchFamily="18" charset="0"/>
                        <a:sym typeface="Symbol" panose="05050102010706020507" pitchFamily="18" charset="2"/>
                      </a:rPr>
                      <m:t>.</m:t>
                    </m:r>
                  </m:oMath>
                </a14:m>
                <a:endParaRPr lang="en-US" b="0" dirty="0">
                  <a:sym typeface="Symbol" panose="05050102010706020507" pitchFamily="18" charset="2"/>
                </a:endParaRPr>
              </a:p>
              <a:p>
                <a:pPr marL="0" indent="0">
                  <a:buNone/>
                </a:pPr>
                <a:endParaRPr lang="en-US" dirty="0"/>
              </a:p>
              <a:p>
                <a:r>
                  <a:rPr lang="en-US" dirty="0"/>
                  <a:t>Does your result satisfy </a:t>
                </a:r>
                <a14:m>
                  <m:oMath xmlns:m="http://schemas.openxmlformats.org/officeDocument/2006/math">
                    <m:d>
                      <m:dPr>
                        <m:begChr m:val="⟨"/>
                        <m:endChr m:val="⟩"/>
                        <m:ctrlPr>
                          <a:rPr lang="en-US" i="1" smtClean="0">
                            <a:latin typeface="Cambria Math" panose="02040503050406030204" pitchFamily="18" charset="0"/>
                          </a:rPr>
                        </m:ctrlPr>
                      </m:dPr>
                      <m:e>
                        <m:r>
                          <a:rPr lang="en-US" i="1">
                            <a:latin typeface="Cambria Math" panose="02040503050406030204" pitchFamily="18" charset="0"/>
                            <a:sym typeface="Symbol" panose="05050102010706020507" pitchFamily="18" charset="2"/>
                          </a:rPr>
                          <m:t></m:t>
                        </m:r>
                      </m:e>
                      <m:e>
                        <m:r>
                          <a:rPr lang="en-US" i="1">
                            <a:latin typeface="Cambria Math" panose="02040503050406030204" pitchFamily="18" charset="0"/>
                            <a:sym typeface="Symbol" panose="05050102010706020507" pitchFamily="18" charset="2"/>
                          </a:rPr>
                          <m:t></m:t>
                        </m:r>
                      </m:e>
                    </m:d>
                  </m:oMath>
                </a14:m>
                <a:r>
                  <a:rPr lang="en-US" dirty="0"/>
                  <a:t> = 1?</a:t>
                </a:r>
              </a:p>
            </p:txBody>
          </p:sp>
        </mc:Choice>
        <mc:Fallback xmlns="">
          <p:sp>
            <p:nvSpPr>
              <p:cNvPr id="3" name="Content Placeholder 2">
                <a:extLst>
                  <a:ext uri="{FF2B5EF4-FFF2-40B4-BE49-F238E27FC236}">
                    <a16:creationId xmlns:a16="http://schemas.microsoft.com/office/drawing/2014/main" id="{AE9D5461-AB3D-A6A9-6D81-22E819EF1161}"/>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69AF3C10-9E9A-7341-DA59-E39B407AFF00}"/>
              </a:ext>
            </a:extLst>
          </p:cNvPr>
          <p:cNvSpPr>
            <a:spLocks noGrp="1"/>
          </p:cNvSpPr>
          <p:nvPr>
            <p:ph type="ftr" sz="quarter" idx="11"/>
          </p:nvPr>
        </p:nvSpPr>
        <p:spPr/>
        <p:txBody>
          <a:bodyPr/>
          <a:lstStyle/>
          <a:p>
            <a:r>
              <a:rPr lang="en-US"/>
              <a:t>CS-314: Quantum Computing</a:t>
            </a:r>
            <a:endParaRPr lang="en-US" dirty="0"/>
          </a:p>
        </p:txBody>
      </p:sp>
      <p:sp>
        <p:nvSpPr>
          <p:cNvPr id="5" name="Slide Number Placeholder 4">
            <a:extLst>
              <a:ext uri="{FF2B5EF4-FFF2-40B4-BE49-F238E27FC236}">
                <a16:creationId xmlns:a16="http://schemas.microsoft.com/office/drawing/2014/main" id="{22E88B62-CA8D-E33A-D362-A89FA201E9AE}"/>
              </a:ext>
            </a:extLst>
          </p:cNvPr>
          <p:cNvSpPr>
            <a:spLocks noGrp="1"/>
          </p:cNvSpPr>
          <p:nvPr>
            <p:ph type="sldNum" sz="quarter" idx="12"/>
          </p:nvPr>
        </p:nvSpPr>
        <p:spPr/>
        <p:txBody>
          <a:bodyPr/>
          <a:lstStyle/>
          <a:p>
            <a:fld id="{69121A1F-7885-4E65-AB38-5CCB274F4EF5}" type="slidenum">
              <a:rPr lang="en-US" smtClean="0"/>
              <a:t>12</a:t>
            </a:fld>
            <a:endParaRPr lang="en-US"/>
          </a:p>
        </p:txBody>
      </p:sp>
      <p:pic>
        <p:nvPicPr>
          <p:cNvPr id="6" name="Picture 5">
            <a:extLst>
              <a:ext uri="{FF2B5EF4-FFF2-40B4-BE49-F238E27FC236}">
                <a16:creationId xmlns:a16="http://schemas.microsoft.com/office/drawing/2014/main" id="{A9B100D8-DE10-C792-3323-161E5A7900ED}"/>
              </a:ext>
            </a:extLst>
          </p:cNvPr>
          <p:cNvPicPr>
            <a:picLocks noChangeAspect="1"/>
          </p:cNvPicPr>
          <p:nvPr/>
        </p:nvPicPr>
        <p:blipFill>
          <a:blip r:embed="rId3"/>
          <a:stretch>
            <a:fillRect/>
          </a:stretch>
        </p:blipFill>
        <p:spPr>
          <a:xfrm>
            <a:off x="2271445" y="2923828"/>
            <a:ext cx="3040294" cy="1077466"/>
          </a:xfrm>
          <a:prstGeom prst="rect">
            <a:avLst/>
          </a:prstGeom>
        </p:spPr>
      </p:pic>
    </p:spTree>
    <p:extLst>
      <p:ext uri="{BB962C8B-B14F-4D97-AF65-F5344CB8AC3E}">
        <p14:creationId xmlns:p14="http://schemas.microsoft.com/office/powerpoint/2010/main" val="3017976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500" fill="hold"/>
                                        <p:tgtEl>
                                          <p:spTgt spid="6"/>
                                        </p:tgtEl>
                                        <p:attrNameLst>
                                          <p:attrName>ppt_w</p:attrName>
                                        </p:attrNameLst>
                                      </p:cBhvr>
                                      <p:tavLst>
                                        <p:tav tm="0">
                                          <p:val>
                                            <p:fltVal val="0"/>
                                          </p:val>
                                        </p:tav>
                                        <p:tav tm="100000">
                                          <p:val>
                                            <p:strVal val="#ppt_w"/>
                                          </p:val>
                                        </p:tav>
                                      </p:tavLst>
                                    </p:anim>
                                    <p:anim calcmode="lin" valueType="num">
                                      <p:cBhvr>
                                        <p:cTn id="16" dur="500" fill="hold"/>
                                        <p:tgtEl>
                                          <p:spTgt spid="6"/>
                                        </p:tgtEl>
                                        <p:attrNameLst>
                                          <p:attrName>ppt_h</p:attrName>
                                        </p:attrNameLst>
                                      </p:cBhvr>
                                      <p:tavLst>
                                        <p:tav tm="0">
                                          <p:val>
                                            <p:fltVal val="0"/>
                                          </p:val>
                                        </p:tav>
                                        <p:tav tm="100000">
                                          <p:val>
                                            <p:strVal val="#ppt_h"/>
                                          </p:val>
                                        </p:tav>
                                      </p:tavLst>
                                    </p:anim>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127F7-4574-39B5-16DE-D39F4382A377}"/>
              </a:ext>
            </a:extLst>
          </p:cNvPr>
          <p:cNvSpPr>
            <a:spLocks noGrp="1"/>
          </p:cNvSpPr>
          <p:nvPr>
            <p:ph type="title"/>
          </p:nvPr>
        </p:nvSpPr>
        <p:spPr/>
        <p:txBody>
          <a:bodyPr/>
          <a:lstStyle/>
          <a:p>
            <a:r>
              <a:rPr lang="en-US" dirty="0"/>
              <a:t>	Special Quantum States (or Qubits)</a:t>
            </a:r>
          </a:p>
        </p:txBody>
      </p:sp>
      <p:sp>
        <p:nvSpPr>
          <p:cNvPr id="3" name="Content Placeholder 2">
            <a:extLst>
              <a:ext uri="{FF2B5EF4-FFF2-40B4-BE49-F238E27FC236}">
                <a16:creationId xmlns:a16="http://schemas.microsoft.com/office/drawing/2014/main" id="{FBCE291E-855D-30D1-C2E7-25BBF5563910}"/>
              </a:ext>
            </a:extLst>
          </p:cNvPr>
          <p:cNvSpPr>
            <a:spLocks noGrp="1"/>
          </p:cNvSpPr>
          <p:nvPr>
            <p:ph idx="1"/>
          </p:nvPr>
        </p:nvSpPr>
        <p:spPr/>
        <p:txBody>
          <a:bodyPr/>
          <a:lstStyle/>
          <a:p>
            <a:r>
              <a:rPr lang="en-US" dirty="0"/>
              <a:t>The following states are special states and encountered frequently in quantum computing:</a:t>
            </a:r>
          </a:p>
          <a:p>
            <a:endParaRPr lang="en-US" dirty="0"/>
          </a:p>
        </p:txBody>
      </p:sp>
      <p:sp>
        <p:nvSpPr>
          <p:cNvPr id="4" name="Footer Placeholder 3">
            <a:extLst>
              <a:ext uri="{FF2B5EF4-FFF2-40B4-BE49-F238E27FC236}">
                <a16:creationId xmlns:a16="http://schemas.microsoft.com/office/drawing/2014/main" id="{9FE45F2C-E15D-A557-151D-34C7866FFCDF}"/>
              </a:ext>
            </a:extLst>
          </p:cNvPr>
          <p:cNvSpPr>
            <a:spLocks noGrp="1"/>
          </p:cNvSpPr>
          <p:nvPr>
            <p:ph type="ftr" sz="quarter" idx="11"/>
          </p:nvPr>
        </p:nvSpPr>
        <p:spPr/>
        <p:txBody>
          <a:bodyPr/>
          <a:lstStyle/>
          <a:p>
            <a:r>
              <a:rPr lang="en-US"/>
              <a:t>CS-314: Quantum Computing</a:t>
            </a:r>
            <a:endParaRPr lang="en-US" dirty="0"/>
          </a:p>
        </p:txBody>
      </p:sp>
      <p:sp>
        <p:nvSpPr>
          <p:cNvPr id="5" name="Slide Number Placeholder 4">
            <a:extLst>
              <a:ext uri="{FF2B5EF4-FFF2-40B4-BE49-F238E27FC236}">
                <a16:creationId xmlns:a16="http://schemas.microsoft.com/office/drawing/2014/main" id="{C3B331C3-CF0E-CCB3-9E77-6C931EC4FA51}"/>
              </a:ext>
            </a:extLst>
          </p:cNvPr>
          <p:cNvSpPr>
            <a:spLocks noGrp="1"/>
          </p:cNvSpPr>
          <p:nvPr>
            <p:ph type="sldNum" sz="quarter" idx="12"/>
          </p:nvPr>
        </p:nvSpPr>
        <p:spPr/>
        <p:txBody>
          <a:bodyPr/>
          <a:lstStyle/>
          <a:p>
            <a:fld id="{69121A1F-7885-4E65-AB38-5CCB274F4EF5}" type="slidenum">
              <a:rPr lang="en-US" smtClean="0"/>
              <a:t>13</a:t>
            </a:fld>
            <a:endParaRPr lang="en-US"/>
          </a:p>
        </p:txBody>
      </p:sp>
      <p:pic>
        <p:nvPicPr>
          <p:cNvPr id="7" name="Picture 6">
            <a:extLst>
              <a:ext uri="{FF2B5EF4-FFF2-40B4-BE49-F238E27FC236}">
                <a16:creationId xmlns:a16="http://schemas.microsoft.com/office/drawing/2014/main" id="{2AECCE1D-291B-6FE1-F0B5-9C1504E1D4F9}"/>
              </a:ext>
            </a:extLst>
          </p:cNvPr>
          <p:cNvPicPr>
            <a:picLocks noChangeAspect="1"/>
          </p:cNvPicPr>
          <p:nvPr/>
        </p:nvPicPr>
        <p:blipFill>
          <a:blip r:embed="rId2"/>
          <a:stretch>
            <a:fillRect/>
          </a:stretch>
        </p:blipFill>
        <p:spPr>
          <a:xfrm>
            <a:off x="3783545" y="3019457"/>
            <a:ext cx="3801778" cy="2672426"/>
          </a:xfrm>
          <a:prstGeom prst="rect">
            <a:avLst/>
          </a:prstGeom>
        </p:spPr>
      </p:pic>
    </p:spTree>
    <p:extLst>
      <p:ext uri="{BB962C8B-B14F-4D97-AF65-F5344CB8AC3E}">
        <p14:creationId xmlns:p14="http://schemas.microsoft.com/office/powerpoint/2010/main" val="2684588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E100525-ACAD-01B2-AE14-68135B426CCD}"/>
                  </a:ext>
                </a:extLst>
              </p:cNvPr>
              <p:cNvSpPr>
                <a:spLocks noGrp="1"/>
              </p:cNvSpPr>
              <p:nvPr>
                <p:ph type="title"/>
              </p:nvPr>
            </p:nvSpPr>
            <p:spPr/>
            <p:txBody>
              <a:bodyPr/>
              <a:lstStyle/>
              <a:p>
                <a:r>
                  <a:rPr lang="en-US" dirty="0"/>
                  <a:t>	Measurement of |</a:t>
                </a:r>
                <a14:m>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m:t>
                        </m:r>
                      </m:e>
                    </m:d>
                  </m:oMath>
                </a14:m>
                <a:r>
                  <a:rPr lang="en-US" dirty="0"/>
                  <a:t> and </a:t>
                </a:r>
                <a14:m>
                  <m:oMath xmlns:m="http://schemas.openxmlformats.org/officeDocument/2006/math">
                    <m:r>
                      <a:rPr lang="en-US">
                        <a:latin typeface="Cambria Math" panose="02040503050406030204" pitchFamily="18" charset="0"/>
                      </a:rPr>
                      <m:t>|</m:t>
                    </m:r>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m:t>
                        </m:r>
                      </m:e>
                    </m:d>
                  </m:oMath>
                </a14:m>
                <a:endParaRPr lang="en-US" dirty="0"/>
              </a:p>
            </p:txBody>
          </p:sp>
        </mc:Choice>
        <mc:Fallback xmlns="">
          <p:sp>
            <p:nvSpPr>
              <p:cNvPr id="2" name="Title 1">
                <a:extLst>
                  <a:ext uri="{FF2B5EF4-FFF2-40B4-BE49-F238E27FC236}">
                    <a16:creationId xmlns:a16="http://schemas.microsoft.com/office/drawing/2014/main" id="{CE100525-ACAD-01B2-AE14-68135B426CCD}"/>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5FE3B9F-0B01-B7B3-22FE-D2B426001324}"/>
                  </a:ext>
                </a:extLst>
              </p:cNvPr>
              <p:cNvSpPr>
                <a:spLocks noGrp="1"/>
              </p:cNvSpPr>
              <p:nvPr>
                <p:ph idx="1"/>
              </p:nvPr>
            </p:nvSpPr>
            <p:spPr/>
            <p:txBody>
              <a:bodyPr>
                <a:normAutofit/>
              </a:bodyPr>
              <a:lstStyle/>
              <a:p>
                <a:r>
                  <a:rPr lang="en-US" sz="2600" dirty="0"/>
                  <a:t>As mentioned previously, if a quantum state is measured, each classical state of the system results with probability equal to the absolute value squared of the amplitude in the quantum state vector corresponding to that classical state. </a:t>
                </a:r>
              </a:p>
              <a:p>
                <a:r>
                  <a:rPr lang="en-US" sz="2600" dirty="0"/>
                  <a:t>This is known as the Born rule in quantum mechanics. </a:t>
                </a:r>
              </a:p>
              <a:p>
                <a:r>
                  <a:rPr lang="en-US" sz="2600" dirty="0"/>
                  <a:t>For the |</a:t>
                </a:r>
                <a14:m>
                  <m:oMath xmlns:m="http://schemas.openxmlformats.org/officeDocument/2006/math">
                    <m:d>
                      <m:dPr>
                        <m:begChr m:val=""/>
                        <m:endChr m:val="⟩"/>
                        <m:ctrlPr>
                          <a:rPr lang="en-US" sz="2600" i="1" smtClean="0">
                            <a:latin typeface="Cambria Math" panose="02040503050406030204" pitchFamily="18" charset="0"/>
                          </a:rPr>
                        </m:ctrlPr>
                      </m:dPr>
                      <m:e>
                        <m:r>
                          <a:rPr lang="en-US" sz="2600" b="0" i="1" smtClean="0">
                            <a:latin typeface="Cambria Math" panose="02040503050406030204" pitchFamily="18" charset="0"/>
                          </a:rPr>
                          <m:t>+</m:t>
                        </m:r>
                      </m:e>
                    </m:d>
                  </m:oMath>
                </a14:m>
                <a:r>
                  <a:rPr lang="en-US" sz="2600" dirty="0"/>
                  <a:t> = (1/</a:t>
                </a:r>
                <a14:m>
                  <m:oMath xmlns:m="http://schemas.openxmlformats.org/officeDocument/2006/math">
                    <m:rad>
                      <m:radPr>
                        <m:degHide m:val="on"/>
                        <m:ctrlPr>
                          <a:rPr lang="en-US" sz="2600" i="1" smtClean="0">
                            <a:latin typeface="Cambria Math" panose="02040503050406030204" pitchFamily="18" charset="0"/>
                          </a:rPr>
                        </m:ctrlPr>
                      </m:radPr>
                      <m:deg/>
                      <m:e>
                        <m:r>
                          <a:rPr lang="en-US" sz="2600" b="0" i="1" smtClean="0">
                            <a:latin typeface="Cambria Math" panose="02040503050406030204" pitchFamily="18" charset="0"/>
                          </a:rPr>
                          <m:t>2</m:t>
                        </m:r>
                      </m:e>
                    </m:rad>
                  </m:oMath>
                </a14:m>
                <a:r>
                  <a:rPr lang="en-US" sz="2600" dirty="0"/>
                  <a:t>) |</a:t>
                </a:r>
                <a14:m>
                  <m:oMath xmlns:m="http://schemas.openxmlformats.org/officeDocument/2006/math">
                    <m:d>
                      <m:dPr>
                        <m:begChr m:val=""/>
                        <m:endChr m:val="⟩"/>
                        <m:ctrlPr>
                          <a:rPr lang="en-US" sz="2600" i="1">
                            <a:latin typeface="Cambria Math" panose="02040503050406030204" pitchFamily="18" charset="0"/>
                          </a:rPr>
                        </m:ctrlPr>
                      </m:dPr>
                      <m:e>
                        <m:r>
                          <a:rPr lang="en-US" sz="2600" b="0" i="1" smtClean="0">
                            <a:latin typeface="Cambria Math" panose="02040503050406030204" pitchFamily="18" charset="0"/>
                          </a:rPr>
                          <m:t>0</m:t>
                        </m:r>
                      </m:e>
                    </m:d>
                  </m:oMath>
                </a14:m>
                <a:r>
                  <a:rPr lang="en-US" sz="2600" dirty="0"/>
                  <a:t> + (1/</a:t>
                </a:r>
                <a14:m>
                  <m:oMath xmlns:m="http://schemas.openxmlformats.org/officeDocument/2006/math">
                    <m:rad>
                      <m:radPr>
                        <m:degHide m:val="on"/>
                        <m:ctrlPr>
                          <a:rPr lang="en-US" sz="2600" i="1">
                            <a:latin typeface="Cambria Math" panose="02040503050406030204" pitchFamily="18" charset="0"/>
                          </a:rPr>
                        </m:ctrlPr>
                      </m:radPr>
                      <m:deg/>
                      <m:e>
                        <m:r>
                          <a:rPr lang="en-US" sz="2600" i="1">
                            <a:latin typeface="Cambria Math" panose="02040503050406030204" pitchFamily="18" charset="0"/>
                          </a:rPr>
                          <m:t>2</m:t>
                        </m:r>
                      </m:e>
                    </m:rad>
                  </m:oMath>
                </a14:m>
                <a:r>
                  <a:rPr lang="en-US" sz="2600" dirty="0"/>
                  <a:t>) |</a:t>
                </a:r>
                <a14:m>
                  <m:oMath xmlns:m="http://schemas.openxmlformats.org/officeDocument/2006/math">
                    <m:d>
                      <m:dPr>
                        <m:begChr m:val=""/>
                        <m:endChr m:val="⟩"/>
                        <m:ctrlPr>
                          <a:rPr lang="en-US" sz="2600" i="1">
                            <a:latin typeface="Cambria Math" panose="02040503050406030204" pitchFamily="18" charset="0"/>
                          </a:rPr>
                        </m:ctrlPr>
                      </m:dPr>
                      <m:e>
                        <m:r>
                          <a:rPr lang="en-US" sz="2600" b="0" i="1" smtClean="0">
                            <a:latin typeface="Cambria Math" panose="02040503050406030204" pitchFamily="18" charset="0"/>
                          </a:rPr>
                          <m:t>1</m:t>
                        </m:r>
                      </m:e>
                    </m:d>
                    <m:r>
                      <a:rPr lang="en-US" sz="2600" b="0" i="0" smtClean="0">
                        <a:latin typeface="Cambria Math" panose="02040503050406030204" pitchFamily="18" charset="0"/>
                      </a:rPr>
                      <m:t>, </m:t>
                    </m:r>
                  </m:oMath>
                </a14:m>
                <a:endParaRPr lang="en-US" sz="2600" dirty="0"/>
              </a:p>
            </p:txBody>
          </p:sp>
        </mc:Choice>
        <mc:Fallback>
          <p:sp>
            <p:nvSpPr>
              <p:cNvPr id="3" name="Content Placeholder 2">
                <a:extLst>
                  <a:ext uri="{FF2B5EF4-FFF2-40B4-BE49-F238E27FC236}">
                    <a16:creationId xmlns:a16="http://schemas.microsoft.com/office/drawing/2014/main" id="{45FE3B9F-0B01-B7B3-22FE-D2B426001324}"/>
                  </a:ext>
                </a:extLst>
              </p:cNvPr>
              <p:cNvSpPr>
                <a:spLocks noGrp="1" noRot="1" noChangeAspect="1" noMove="1" noResize="1" noEditPoints="1" noAdjustHandles="1" noChangeArrowheads="1" noChangeShapeType="1" noTextEdit="1"/>
              </p:cNvSpPr>
              <p:nvPr>
                <p:ph idx="1"/>
              </p:nvPr>
            </p:nvSpPr>
            <p:spPr>
              <a:blipFill>
                <a:blip r:embed="rId3"/>
                <a:stretch>
                  <a:fillRect l="-928" t="-210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B04495D0-56BE-8EB4-5038-59E78C44D598}"/>
              </a:ext>
            </a:extLst>
          </p:cNvPr>
          <p:cNvSpPr>
            <a:spLocks noGrp="1"/>
          </p:cNvSpPr>
          <p:nvPr>
            <p:ph type="ftr" sz="quarter" idx="11"/>
          </p:nvPr>
        </p:nvSpPr>
        <p:spPr/>
        <p:txBody>
          <a:bodyPr/>
          <a:lstStyle/>
          <a:p>
            <a:r>
              <a:rPr lang="en-US"/>
              <a:t>CS-314: Quantum Computing</a:t>
            </a:r>
            <a:endParaRPr lang="en-US" dirty="0"/>
          </a:p>
        </p:txBody>
      </p:sp>
      <p:sp>
        <p:nvSpPr>
          <p:cNvPr id="5" name="Slide Number Placeholder 4">
            <a:extLst>
              <a:ext uri="{FF2B5EF4-FFF2-40B4-BE49-F238E27FC236}">
                <a16:creationId xmlns:a16="http://schemas.microsoft.com/office/drawing/2014/main" id="{8B42B408-F64E-E443-A675-385CC0B67C09}"/>
              </a:ext>
            </a:extLst>
          </p:cNvPr>
          <p:cNvSpPr>
            <a:spLocks noGrp="1"/>
          </p:cNvSpPr>
          <p:nvPr>
            <p:ph type="sldNum" sz="quarter" idx="12"/>
          </p:nvPr>
        </p:nvSpPr>
        <p:spPr/>
        <p:txBody>
          <a:bodyPr/>
          <a:lstStyle/>
          <a:p>
            <a:fld id="{69121A1F-7885-4E65-AB38-5CCB274F4EF5}" type="slidenum">
              <a:rPr lang="en-US" smtClean="0"/>
              <a:t>14</a:t>
            </a:fld>
            <a:endParaRPr lang="en-US"/>
          </a:p>
        </p:txBody>
      </p:sp>
      <p:pic>
        <p:nvPicPr>
          <p:cNvPr id="7" name="Picture 6">
            <a:extLst>
              <a:ext uri="{FF2B5EF4-FFF2-40B4-BE49-F238E27FC236}">
                <a16:creationId xmlns:a16="http://schemas.microsoft.com/office/drawing/2014/main" id="{212D4F6B-8862-FC65-AE37-CB50A19C557A}"/>
              </a:ext>
            </a:extLst>
          </p:cNvPr>
          <p:cNvPicPr>
            <a:picLocks noChangeAspect="1"/>
          </p:cNvPicPr>
          <p:nvPr/>
        </p:nvPicPr>
        <p:blipFill>
          <a:blip r:embed="rId4"/>
          <a:stretch>
            <a:fillRect/>
          </a:stretch>
        </p:blipFill>
        <p:spPr>
          <a:xfrm>
            <a:off x="3103522" y="4354614"/>
            <a:ext cx="5401705" cy="1719608"/>
          </a:xfrm>
          <a:prstGeom prst="rect">
            <a:avLst/>
          </a:prstGeom>
        </p:spPr>
      </p:pic>
    </p:spTree>
    <p:extLst>
      <p:ext uri="{BB962C8B-B14F-4D97-AF65-F5344CB8AC3E}">
        <p14:creationId xmlns:p14="http://schemas.microsoft.com/office/powerpoint/2010/main" val="1849643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animEffect transition="in" filter="fade">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46260-D024-D9A4-C5FB-8EFF9DC94531}"/>
              </a:ext>
            </a:extLst>
          </p:cNvPr>
          <p:cNvSpPr>
            <a:spLocks noGrp="1"/>
          </p:cNvSpPr>
          <p:nvPr>
            <p:ph type="title"/>
          </p:nvPr>
        </p:nvSpPr>
        <p:spPr/>
        <p:txBody>
          <a:bodyPr/>
          <a:lstStyle/>
          <a:p>
            <a:r>
              <a:rPr lang="en-US" dirty="0"/>
              <a:t>	Unitary Operations</a:t>
            </a:r>
          </a:p>
        </p:txBody>
      </p:sp>
      <p:sp>
        <p:nvSpPr>
          <p:cNvPr id="3" name="Content Placeholder 2">
            <a:extLst>
              <a:ext uri="{FF2B5EF4-FFF2-40B4-BE49-F238E27FC236}">
                <a16:creationId xmlns:a16="http://schemas.microsoft.com/office/drawing/2014/main" id="{AF7AC15C-387F-BBBF-755B-EBEB0A4736DC}"/>
              </a:ext>
            </a:extLst>
          </p:cNvPr>
          <p:cNvSpPr>
            <a:spLocks noGrp="1"/>
          </p:cNvSpPr>
          <p:nvPr>
            <p:ph idx="1"/>
          </p:nvPr>
        </p:nvSpPr>
        <p:spPr>
          <a:xfrm>
            <a:off x="835819" y="1870471"/>
            <a:ext cx="10515600" cy="4351338"/>
          </a:xfrm>
        </p:spPr>
        <p:txBody>
          <a:bodyPr/>
          <a:lstStyle/>
          <a:p>
            <a:r>
              <a:rPr lang="en-US" dirty="0"/>
              <a:t>Similar to the classical case, some types of operations can be applied on a quantum state.</a:t>
            </a:r>
          </a:p>
          <a:p>
            <a:r>
              <a:rPr lang="en-US" dirty="0"/>
              <a:t>These operations must be </a:t>
            </a:r>
            <a:r>
              <a:rPr lang="en-US" i="1" dirty="0"/>
              <a:t>unitary </a:t>
            </a:r>
            <a:r>
              <a:rPr lang="en-US" dirty="0"/>
              <a:t>operations.</a:t>
            </a:r>
          </a:p>
          <a:p>
            <a:r>
              <a:rPr lang="en-US" dirty="0"/>
              <a:t>A square matrix </a:t>
            </a:r>
            <a:r>
              <a:rPr lang="en-US" i="1" dirty="0"/>
              <a:t>U</a:t>
            </a:r>
            <a:r>
              <a:rPr lang="en-US" dirty="0"/>
              <a:t> with complex number entries is called a unitary matrix if it satisfies the following condition:</a:t>
            </a:r>
          </a:p>
          <a:p>
            <a:endParaRPr lang="en-US" dirty="0"/>
          </a:p>
          <a:p>
            <a:endParaRPr lang="en-US" dirty="0"/>
          </a:p>
          <a:p>
            <a:r>
              <a:rPr lang="en-US" dirty="0"/>
              <a:t>Here </a:t>
            </a:r>
            <a:r>
              <a:rPr lang="en-US" i="1" dirty="0"/>
              <a:t>U</a:t>
            </a:r>
            <a:r>
              <a:rPr lang="en-US" baseline="30000" dirty="0">
                <a:cs typeface="Times New Roman" panose="02020603050405020304" pitchFamily="18" charset="0"/>
              </a:rPr>
              <a:t>†</a:t>
            </a:r>
            <a:r>
              <a:rPr lang="en-US" baseline="-25000" dirty="0">
                <a:cs typeface="Times New Roman" panose="02020603050405020304" pitchFamily="18" charset="0"/>
              </a:rPr>
              <a:t> </a:t>
            </a:r>
            <a:r>
              <a:rPr lang="en-US" dirty="0">
                <a:cs typeface="Times New Roman" panose="02020603050405020304" pitchFamily="18" charset="0"/>
              </a:rPr>
              <a:t>is the conjugate transpose of </a:t>
            </a:r>
            <a:r>
              <a:rPr lang="en-US" i="1" dirty="0">
                <a:cs typeface="Times New Roman" panose="02020603050405020304" pitchFamily="18" charset="0"/>
              </a:rPr>
              <a:t>U</a:t>
            </a:r>
            <a:r>
              <a:rPr lang="en-US" dirty="0">
                <a:cs typeface="Times New Roman" panose="02020603050405020304" pitchFamily="18" charset="0"/>
              </a:rPr>
              <a:t>, while </a:t>
            </a:r>
            <a:r>
              <a:rPr lang="en-US" b="1" dirty="0">
                <a:latin typeface="Times New Roman" panose="02020603050405020304" pitchFamily="18" charset="0"/>
                <a:cs typeface="Times New Roman" panose="02020603050405020304" pitchFamily="18" charset="0"/>
              </a:rPr>
              <a:t>1</a:t>
            </a:r>
            <a:r>
              <a:rPr lang="en-US" dirty="0">
                <a:cs typeface="Times New Roman" panose="02020603050405020304" pitchFamily="18" charset="0"/>
              </a:rPr>
              <a:t> is the identity matrix.</a:t>
            </a:r>
            <a:endParaRPr lang="en-US" dirty="0"/>
          </a:p>
        </p:txBody>
      </p:sp>
      <p:sp>
        <p:nvSpPr>
          <p:cNvPr id="4" name="Footer Placeholder 3">
            <a:extLst>
              <a:ext uri="{FF2B5EF4-FFF2-40B4-BE49-F238E27FC236}">
                <a16:creationId xmlns:a16="http://schemas.microsoft.com/office/drawing/2014/main" id="{7D96DBCA-8BDF-C8BB-BBAF-7B6F65CB16CE}"/>
              </a:ext>
            </a:extLst>
          </p:cNvPr>
          <p:cNvSpPr>
            <a:spLocks noGrp="1"/>
          </p:cNvSpPr>
          <p:nvPr>
            <p:ph type="ftr" sz="quarter" idx="11"/>
          </p:nvPr>
        </p:nvSpPr>
        <p:spPr/>
        <p:txBody>
          <a:bodyPr/>
          <a:lstStyle/>
          <a:p>
            <a:r>
              <a:rPr lang="en-US"/>
              <a:t>CS-314: Quantum Computing</a:t>
            </a:r>
            <a:endParaRPr lang="en-US" dirty="0"/>
          </a:p>
        </p:txBody>
      </p:sp>
      <p:sp>
        <p:nvSpPr>
          <p:cNvPr id="5" name="Slide Number Placeholder 4">
            <a:extLst>
              <a:ext uri="{FF2B5EF4-FFF2-40B4-BE49-F238E27FC236}">
                <a16:creationId xmlns:a16="http://schemas.microsoft.com/office/drawing/2014/main" id="{1078263E-0977-A3E7-3308-9F9394759637}"/>
              </a:ext>
            </a:extLst>
          </p:cNvPr>
          <p:cNvSpPr>
            <a:spLocks noGrp="1"/>
          </p:cNvSpPr>
          <p:nvPr>
            <p:ph type="sldNum" sz="quarter" idx="12"/>
          </p:nvPr>
        </p:nvSpPr>
        <p:spPr/>
        <p:txBody>
          <a:bodyPr/>
          <a:lstStyle/>
          <a:p>
            <a:fld id="{69121A1F-7885-4E65-AB38-5CCB274F4EF5}" type="slidenum">
              <a:rPr lang="en-US" smtClean="0"/>
              <a:t>15</a:t>
            </a:fld>
            <a:endParaRPr lang="en-US"/>
          </a:p>
        </p:txBody>
      </p:sp>
      <p:pic>
        <p:nvPicPr>
          <p:cNvPr id="7" name="Picture 6">
            <a:extLst>
              <a:ext uri="{FF2B5EF4-FFF2-40B4-BE49-F238E27FC236}">
                <a16:creationId xmlns:a16="http://schemas.microsoft.com/office/drawing/2014/main" id="{31C17604-A3D7-D155-749F-068F20B8B365}"/>
              </a:ext>
            </a:extLst>
          </p:cNvPr>
          <p:cNvPicPr>
            <a:picLocks noChangeAspect="1"/>
          </p:cNvPicPr>
          <p:nvPr/>
        </p:nvPicPr>
        <p:blipFill>
          <a:blip r:embed="rId2"/>
          <a:stretch>
            <a:fillRect/>
          </a:stretch>
        </p:blipFill>
        <p:spPr>
          <a:xfrm>
            <a:off x="5518707" y="4150853"/>
            <a:ext cx="1457446" cy="975126"/>
          </a:xfrm>
          <a:prstGeom prst="rect">
            <a:avLst/>
          </a:prstGeom>
        </p:spPr>
      </p:pic>
    </p:spTree>
    <p:extLst>
      <p:ext uri="{BB962C8B-B14F-4D97-AF65-F5344CB8AC3E}">
        <p14:creationId xmlns:p14="http://schemas.microsoft.com/office/powerpoint/2010/main" val="3683129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animEffect transition="in" filter="fade">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AA514-537C-B3A4-7746-F9F0251C56D8}"/>
              </a:ext>
            </a:extLst>
          </p:cNvPr>
          <p:cNvSpPr>
            <a:spLocks noGrp="1"/>
          </p:cNvSpPr>
          <p:nvPr>
            <p:ph type="title"/>
          </p:nvPr>
        </p:nvSpPr>
        <p:spPr/>
        <p:txBody>
          <a:bodyPr/>
          <a:lstStyle/>
          <a:p>
            <a:r>
              <a:rPr lang="en-US" dirty="0"/>
              <a:t>	Unitary Matrices</a:t>
            </a:r>
          </a:p>
        </p:txBody>
      </p:sp>
      <p:sp>
        <p:nvSpPr>
          <p:cNvPr id="3" name="Content Placeholder 2">
            <a:extLst>
              <a:ext uri="{FF2B5EF4-FFF2-40B4-BE49-F238E27FC236}">
                <a16:creationId xmlns:a16="http://schemas.microsoft.com/office/drawing/2014/main" id="{55B472FD-D939-D295-8F55-FA438AE2A0DF}"/>
              </a:ext>
            </a:extLst>
          </p:cNvPr>
          <p:cNvSpPr>
            <a:spLocks noGrp="1"/>
          </p:cNvSpPr>
          <p:nvPr>
            <p:ph idx="1"/>
          </p:nvPr>
        </p:nvSpPr>
        <p:spPr/>
        <p:txBody>
          <a:bodyPr/>
          <a:lstStyle/>
          <a:p>
            <a:r>
              <a:rPr lang="en-US" dirty="0"/>
              <a:t>Some other properties of unitary matrices:</a:t>
            </a:r>
          </a:p>
          <a:p>
            <a:r>
              <a:rPr lang="en-US" dirty="0"/>
              <a:t>If </a:t>
            </a:r>
            <a:r>
              <a:rPr lang="en-US" i="1" dirty="0"/>
              <a:t>U</a:t>
            </a:r>
            <a:r>
              <a:rPr lang="en-US" dirty="0"/>
              <a:t> is a unitary matrix, then </a:t>
            </a:r>
          </a:p>
          <a:p>
            <a:endParaRPr lang="en-US" dirty="0"/>
          </a:p>
          <a:p>
            <a:endParaRPr lang="en-US" dirty="0"/>
          </a:p>
          <a:p>
            <a:r>
              <a:rPr lang="en-US" dirty="0"/>
              <a:t>Furthermore, </a:t>
            </a:r>
          </a:p>
        </p:txBody>
      </p:sp>
      <p:sp>
        <p:nvSpPr>
          <p:cNvPr id="4" name="Footer Placeholder 3">
            <a:extLst>
              <a:ext uri="{FF2B5EF4-FFF2-40B4-BE49-F238E27FC236}">
                <a16:creationId xmlns:a16="http://schemas.microsoft.com/office/drawing/2014/main" id="{2409FA46-7B2C-0F7D-3D22-DE5F8E2BE029}"/>
              </a:ext>
            </a:extLst>
          </p:cNvPr>
          <p:cNvSpPr>
            <a:spLocks noGrp="1"/>
          </p:cNvSpPr>
          <p:nvPr>
            <p:ph type="ftr" sz="quarter" idx="11"/>
          </p:nvPr>
        </p:nvSpPr>
        <p:spPr/>
        <p:txBody>
          <a:bodyPr/>
          <a:lstStyle/>
          <a:p>
            <a:r>
              <a:rPr lang="en-US"/>
              <a:t>CS-314: Quantum Computing</a:t>
            </a:r>
            <a:endParaRPr lang="en-US" dirty="0"/>
          </a:p>
        </p:txBody>
      </p:sp>
      <p:sp>
        <p:nvSpPr>
          <p:cNvPr id="5" name="Slide Number Placeholder 4">
            <a:extLst>
              <a:ext uri="{FF2B5EF4-FFF2-40B4-BE49-F238E27FC236}">
                <a16:creationId xmlns:a16="http://schemas.microsoft.com/office/drawing/2014/main" id="{550D4F6B-C2AD-B3C3-ACE2-089C0F24900A}"/>
              </a:ext>
            </a:extLst>
          </p:cNvPr>
          <p:cNvSpPr>
            <a:spLocks noGrp="1"/>
          </p:cNvSpPr>
          <p:nvPr>
            <p:ph type="sldNum" sz="quarter" idx="12"/>
          </p:nvPr>
        </p:nvSpPr>
        <p:spPr/>
        <p:txBody>
          <a:bodyPr/>
          <a:lstStyle/>
          <a:p>
            <a:fld id="{69121A1F-7885-4E65-AB38-5CCB274F4EF5}" type="slidenum">
              <a:rPr lang="en-US" smtClean="0"/>
              <a:t>16</a:t>
            </a:fld>
            <a:endParaRPr lang="en-US"/>
          </a:p>
        </p:txBody>
      </p:sp>
      <p:pic>
        <p:nvPicPr>
          <p:cNvPr id="7" name="Picture 6">
            <a:extLst>
              <a:ext uri="{FF2B5EF4-FFF2-40B4-BE49-F238E27FC236}">
                <a16:creationId xmlns:a16="http://schemas.microsoft.com/office/drawing/2014/main" id="{4D86CA4C-A078-5989-F823-D4FA442FDDBF}"/>
              </a:ext>
            </a:extLst>
          </p:cNvPr>
          <p:cNvPicPr>
            <a:picLocks noChangeAspect="1"/>
          </p:cNvPicPr>
          <p:nvPr/>
        </p:nvPicPr>
        <p:blipFill>
          <a:blip r:embed="rId2"/>
          <a:stretch>
            <a:fillRect/>
          </a:stretch>
        </p:blipFill>
        <p:spPr>
          <a:xfrm>
            <a:off x="5037453" y="2968367"/>
            <a:ext cx="1661297" cy="586341"/>
          </a:xfrm>
          <a:prstGeom prst="rect">
            <a:avLst/>
          </a:prstGeom>
        </p:spPr>
      </p:pic>
      <p:pic>
        <p:nvPicPr>
          <p:cNvPr id="9" name="Picture 8">
            <a:extLst>
              <a:ext uri="{FF2B5EF4-FFF2-40B4-BE49-F238E27FC236}">
                <a16:creationId xmlns:a16="http://schemas.microsoft.com/office/drawing/2014/main" id="{7AD62DB9-445F-0BB2-84BB-389616905B88}"/>
              </a:ext>
            </a:extLst>
          </p:cNvPr>
          <p:cNvPicPr>
            <a:picLocks noChangeAspect="1"/>
          </p:cNvPicPr>
          <p:nvPr/>
        </p:nvPicPr>
        <p:blipFill>
          <a:blip r:embed="rId3"/>
          <a:stretch>
            <a:fillRect/>
          </a:stretch>
        </p:blipFill>
        <p:spPr>
          <a:xfrm>
            <a:off x="5010055" y="4468543"/>
            <a:ext cx="1979694" cy="697969"/>
          </a:xfrm>
          <a:prstGeom prst="rect">
            <a:avLst/>
          </a:prstGeom>
        </p:spPr>
      </p:pic>
    </p:spTree>
    <p:extLst>
      <p:ext uri="{BB962C8B-B14F-4D97-AF65-F5344CB8AC3E}">
        <p14:creationId xmlns:p14="http://schemas.microsoft.com/office/powerpoint/2010/main" val="1971180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p:cTn id="15" dur="500" fill="hold"/>
                                        <p:tgtEl>
                                          <p:spTgt spid="7"/>
                                        </p:tgtEl>
                                        <p:attrNameLst>
                                          <p:attrName>ppt_w</p:attrName>
                                        </p:attrNameLst>
                                      </p:cBhvr>
                                      <p:tavLst>
                                        <p:tav tm="0">
                                          <p:val>
                                            <p:fltVal val="0"/>
                                          </p:val>
                                        </p:tav>
                                        <p:tav tm="100000">
                                          <p:val>
                                            <p:strVal val="#ppt_w"/>
                                          </p:val>
                                        </p:tav>
                                      </p:tavLst>
                                    </p:anim>
                                    <p:anim calcmode="lin" valueType="num">
                                      <p:cBhvr>
                                        <p:cTn id="16" dur="500" fill="hold"/>
                                        <p:tgtEl>
                                          <p:spTgt spid="7"/>
                                        </p:tgtEl>
                                        <p:attrNameLst>
                                          <p:attrName>ppt_h</p:attrName>
                                        </p:attrNameLst>
                                      </p:cBhvr>
                                      <p:tavLst>
                                        <p:tav tm="0">
                                          <p:val>
                                            <p:fltVal val="0"/>
                                          </p:val>
                                        </p:tav>
                                        <p:tav tm="100000">
                                          <p:val>
                                            <p:strVal val="#ppt_h"/>
                                          </p:val>
                                        </p:tav>
                                      </p:tavLst>
                                    </p:anim>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p:cTn id="26" dur="500" fill="hold"/>
                                        <p:tgtEl>
                                          <p:spTgt spid="9"/>
                                        </p:tgtEl>
                                        <p:attrNameLst>
                                          <p:attrName>ppt_w</p:attrName>
                                        </p:attrNameLst>
                                      </p:cBhvr>
                                      <p:tavLst>
                                        <p:tav tm="0">
                                          <p:val>
                                            <p:fltVal val="0"/>
                                          </p:val>
                                        </p:tav>
                                        <p:tav tm="100000">
                                          <p:val>
                                            <p:strVal val="#ppt_w"/>
                                          </p:val>
                                        </p:tav>
                                      </p:tavLst>
                                    </p:anim>
                                    <p:anim calcmode="lin" valueType="num">
                                      <p:cBhvr>
                                        <p:cTn id="27" dur="500" fill="hold"/>
                                        <p:tgtEl>
                                          <p:spTgt spid="9"/>
                                        </p:tgtEl>
                                        <p:attrNameLst>
                                          <p:attrName>ppt_h</p:attrName>
                                        </p:attrNameLst>
                                      </p:cBhvr>
                                      <p:tavLst>
                                        <p:tav tm="0">
                                          <p:val>
                                            <p:fltVal val="0"/>
                                          </p:val>
                                        </p:tav>
                                        <p:tav tm="100000">
                                          <p:val>
                                            <p:strVal val="#ppt_h"/>
                                          </p:val>
                                        </p:tav>
                                      </p:tavLst>
                                    </p:anim>
                                    <p:animEffect transition="in" filter="fade">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DB877-507A-F9C3-F3DA-7222CB694CBB}"/>
              </a:ext>
            </a:extLst>
          </p:cNvPr>
          <p:cNvSpPr>
            <a:spLocks noGrp="1"/>
          </p:cNvSpPr>
          <p:nvPr>
            <p:ph type="title"/>
          </p:nvPr>
        </p:nvSpPr>
        <p:spPr>
          <a:xfrm>
            <a:off x="0" y="410368"/>
            <a:ext cx="12192000" cy="1325563"/>
          </a:xfrm>
        </p:spPr>
        <p:txBody>
          <a:bodyPr/>
          <a:lstStyle/>
          <a:p>
            <a:r>
              <a:rPr lang="en-US" dirty="0"/>
              <a:t>	Unitary matrices represent valid operations</a:t>
            </a:r>
          </a:p>
        </p:txBody>
      </p:sp>
      <p:sp>
        <p:nvSpPr>
          <p:cNvPr id="3" name="Content Placeholder 2">
            <a:extLst>
              <a:ext uri="{FF2B5EF4-FFF2-40B4-BE49-F238E27FC236}">
                <a16:creationId xmlns:a16="http://schemas.microsoft.com/office/drawing/2014/main" id="{2B084354-2574-CB2C-00B5-A130015033FB}"/>
              </a:ext>
            </a:extLst>
          </p:cNvPr>
          <p:cNvSpPr>
            <a:spLocks noGrp="1"/>
          </p:cNvSpPr>
          <p:nvPr>
            <p:ph idx="1"/>
          </p:nvPr>
        </p:nvSpPr>
        <p:spPr/>
        <p:txBody>
          <a:bodyPr>
            <a:normAutofit/>
          </a:bodyPr>
          <a:lstStyle/>
          <a:p>
            <a:pPr>
              <a:lnSpc>
                <a:spcPct val="100000"/>
              </a:lnSpc>
            </a:pPr>
            <a:r>
              <a:rPr lang="en-US" dirty="0"/>
              <a:t>The condition that </a:t>
            </a:r>
            <a:r>
              <a:rPr lang="en-US" i="1" dirty="0"/>
              <a:t>U</a:t>
            </a:r>
            <a:r>
              <a:rPr lang="en-US" dirty="0"/>
              <a:t> is unitary is equivalent to the condition that multiplication by </a:t>
            </a:r>
            <a:r>
              <a:rPr lang="en-US" i="1" dirty="0"/>
              <a:t>U</a:t>
            </a:r>
            <a:r>
              <a:rPr lang="en-US" dirty="0"/>
              <a:t> does not change the Euclidean norm of any vector.</a:t>
            </a:r>
          </a:p>
          <a:p>
            <a:pPr>
              <a:lnSpc>
                <a:spcPct val="100000"/>
              </a:lnSpc>
            </a:pPr>
            <a:r>
              <a:rPr lang="en-US" dirty="0"/>
              <a:t> That is, an </a:t>
            </a:r>
            <a:r>
              <a:rPr lang="en-US" i="1" dirty="0"/>
              <a:t>n</a:t>
            </a:r>
            <a:r>
              <a:rPr lang="en-US" dirty="0"/>
              <a:t> x </a:t>
            </a:r>
            <a:r>
              <a:rPr lang="en-US" i="1" dirty="0"/>
              <a:t>n</a:t>
            </a:r>
            <a:r>
              <a:rPr lang="en-US" dirty="0"/>
              <a:t> matrix is unitary </a:t>
            </a:r>
            <a:r>
              <a:rPr lang="en-US" dirty="0" err="1"/>
              <a:t>iff</a:t>
            </a:r>
            <a:r>
              <a:rPr lang="en-US" dirty="0"/>
              <a:t> for every </a:t>
            </a:r>
            <a:r>
              <a:rPr lang="en-US" i="1" dirty="0"/>
              <a:t>n</a:t>
            </a:r>
            <a:r>
              <a:rPr lang="en-US" dirty="0"/>
              <a:t>-dimensional column vector with complex number entries,  </a:t>
            </a:r>
          </a:p>
          <a:p>
            <a:pPr>
              <a:lnSpc>
                <a:spcPct val="100000"/>
              </a:lnSpc>
            </a:pPr>
            <a:endParaRPr lang="en-US" dirty="0"/>
          </a:p>
          <a:p>
            <a:pPr>
              <a:lnSpc>
                <a:spcPct val="100000"/>
              </a:lnSpc>
            </a:pPr>
            <a:endParaRPr lang="en-US" dirty="0"/>
          </a:p>
          <a:p>
            <a:pPr>
              <a:lnSpc>
                <a:spcPct val="100000"/>
              </a:lnSpc>
            </a:pPr>
            <a:r>
              <a:rPr lang="en-US" dirty="0"/>
              <a:t>Thus, multiplying a unitary matrix to a quantum state vector results in another quantum state vector.</a:t>
            </a:r>
          </a:p>
        </p:txBody>
      </p:sp>
      <p:sp>
        <p:nvSpPr>
          <p:cNvPr id="4" name="Footer Placeholder 3">
            <a:extLst>
              <a:ext uri="{FF2B5EF4-FFF2-40B4-BE49-F238E27FC236}">
                <a16:creationId xmlns:a16="http://schemas.microsoft.com/office/drawing/2014/main" id="{1A44CCD2-5337-7BD9-C8AF-5313C4291AD1}"/>
              </a:ext>
            </a:extLst>
          </p:cNvPr>
          <p:cNvSpPr>
            <a:spLocks noGrp="1"/>
          </p:cNvSpPr>
          <p:nvPr>
            <p:ph type="ftr" sz="quarter" idx="11"/>
          </p:nvPr>
        </p:nvSpPr>
        <p:spPr/>
        <p:txBody>
          <a:bodyPr/>
          <a:lstStyle/>
          <a:p>
            <a:r>
              <a:rPr lang="en-US"/>
              <a:t>CS-314: Quantum Computing</a:t>
            </a:r>
            <a:endParaRPr lang="en-US" dirty="0"/>
          </a:p>
        </p:txBody>
      </p:sp>
      <p:sp>
        <p:nvSpPr>
          <p:cNvPr id="5" name="Slide Number Placeholder 4">
            <a:extLst>
              <a:ext uri="{FF2B5EF4-FFF2-40B4-BE49-F238E27FC236}">
                <a16:creationId xmlns:a16="http://schemas.microsoft.com/office/drawing/2014/main" id="{D178725F-A057-71B0-4E68-D26612C61A35}"/>
              </a:ext>
            </a:extLst>
          </p:cNvPr>
          <p:cNvSpPr>
            <a:spLocks noGrp="1"/>
          </p:cNvSpPr>
          <p:nvPr>
            <p:ph type="sldNum" sz="quarter" idx="12"/>
          </p:nvPr>
        </p:nvSpPr>
        <p:spPr/>
        <p:txBody>
          <a:bodyPr/>
          <a:lstStyle/>
          <a:p>
            <a:fld id="{69121A1F-7885-4E65-AB38-5CCB274F4EF5}" type="slidenum">
              <a:rPr lang="en-US" smtClean="0"/>
              <a:t>17</a:t>
            </a:fld>
            <a:endParaRPr lang="en-US"/>
          </a:p>
        </p:txBody>
      </p:sp>
      <p:pic>
        <p:nvPicPr>
          <p:cNvPr id="7" name="Picture 6">
            <a:extLst>
              <a:ext uri="{FF2B5EF4-FFF2-40B4-BE49-F238E27FC236}">
                <a16:creationId xmlns:a16="http://schemas.microsoft.com/office/drawing/2014/main" id="{18121517-D434-0B5A-25CC-3B3E71711BAE}"/>
              </a:ext>
            </a:extLst>
          </p:cNvPr>
          <p:cNvPicPr>
            <a:picLocks noChangeAspect="1"/>
          </p:cNvPicPr>
          <p:nvPr/>
        </p:nvPicPr>
        <p:blipFill rotWithShape="1">
          <a:blip r:embed="rId2"/>
          <a:srcRect t="14438"/>
          <a:stretch/>
        </p:blipFill>
        <p:spPr>
          <a:xfrm>
            <a:off x="4850482" y="4050207"/>
            <a:ext cx="2931716" cy="593711"/>
          </a:xfrm>
          <a:prstGeom prst="rect">
            <a:avLst/>
          </a:prstGeom>
        </p:spPr>
      </p:pic>
    </p:spTree>
    <p:extLst>
      <p:ext uri="{BB962C8B-B14F-4D97-AF65-F5344CB8AC3E}">
        <p14:creationId xmlns:p14="http://schemas.microsoft.com/office/powerpoint/2010/main" val="278080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p:cTn id="15" dur="500" fill="hold"/>
                                        <p:tgtEl>
                                          <p:spTgt spid="7"/>
                                        </p:tgtEl>
                                        <p:attrNameLst>
                                          <p:attrName>ppt_w</p:attrName>
                                        </p:attrNameLst>
                                      </p:cBhvr>
                                      <p:tavLst>
                                        <p:tav tm="0">
                                          <p:val>
                                            <p:fltVal val="0"/>
                                          </p:val>
                                        </p:tav>
                                        <p:tav tm="100000">
                                          <p:val>
                                            <p:strVal val="#ppt_w"/>
                                          </p:val>
                                        </p:tav>
                                      </p:tavLst>
                                    </p:anim>
                                    <p:anim calcmode="lin" valueType="num">
                                      <p:cBhvr>
                                        <p:cTn id="16" dur="500" fill="hold"/>
                                        <p:tgtEl>
                                          <p:spTgt spid="7"/>
                                        </p:tgtEl>
                                        <p:attrNameLst>
                                          <p:attrName>ppt_h</p:attrName>
                                        </p:attrNameLst>
                                      </p:cBhvr>
                                      <p:tavLst>
                                        <p:tav tm="0">
                                          <p:val>
                                            <p:fltVal val="0"/>
                                          </p:val>
                                        </p:tav>
                                        <p:tav tm="100000">
                                          <p:val>
                                            <p:strVal val="#ppt_h"/>
                                          </p:val>
                                        </p:tav>
                                      </p:tavLst>
                                    </p:anim>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84FE3-E212-08ED-9A33-7D3737479E78}"/>
              </a:ext>
            </a:extLst>
          </p:cNvPr>
          <p:cNvSpPr>
            <a:spLocks noGrp="1"/>
          </p:cNvSpPr>
          <p:nvPr>
            <p:ph type="title"/>
          </p:nvPr>
        </p:nvSpPr>
        <p:spPr/>
        <p:txBody>
          <a:bodyPr/>
          <a:lstStyle/>
          <a:p>
            <a:r>
              <a:rPr lang="en-US" dirty="0"/>
              <a:t>	Quick Quiz</a:t>
            </a:r>
          </a:p>
        </p:txBody>
      </p:sp>
      <p:pic>
        <p:nvPicPr>
          <p:cNvPr id="7" name="Content Placeholder 6">
            <a:extLst>
              <a:ext uri="{FF2B5EF4-FFF2-40B4-BE49-F238E27FC236}">
                <a16:creationId xmlns:a16="http://schemas.microsoft.com/office/drawing/2014/main" id="{AC3AA9A5-5677-7B3B-A2AA-A6C91A62A2C6}"/>
              </a:ext>
            </a:extLst>
          </p:cNvPr>
          <p:cNvPicPr>
            <a:picLocks noGrp="1" noChangeAspect="1"/>
          </p:cNvPicPr>
          <p:nvPr>
            <p:ph idx="1"/>
          </p:nvPr>
        </p:nvPicPr>
        <p:blipFill>
          <a:blip r:embed="rId2"/>
          <a:stretch>
            <a:fillRect/>
          </a:stretch>
        </p:blipFill>
        <p:spPr>
          <a:xfrm>
            <a:off x="2500560" y="1871192"/>
            <a:ext cx="7190880" cy="4485158"/>
          </a:xfrm>
        </p:spPr>
      </p:pic>
      <p:sp>
        <p:nvSpPr>
          <p:cNvPr id="4" name="Footer Placeholder 3">
            <a:extLst>
              <a:ext uri="{FF2B5EF4-FFF2-40B4-BE49-F238E27FC236}">
                <a16:creationId xmlns:a16="http://schemas.microsoft.com/office/drawing/2014/main" id="{4B1E3A5B-F1EA-B20C-426E-2B7596D85DF9}"/>
              </a:ext>
            </a:extLst>
          </p:cNvPr>
          <p:cNvSpPr>
            <a:spLocks noGrp="1"/>
          </p:cNvSpPr>
          <p:nvPr>
            <p:ph type="ftr" sz="quarter" idx="11"/>
          </p:nvPr>
        </p:nvSpPr>
        <p:spPr/>
        <p:txBody>
          <a:bodyPr/>
          <a:lstStyle/>
          <a:p>
            <a:r>
              <a:rPr lang="en-US"/>
              <a:t>CS-314: Quantum Computing</a:t>
            </a:r>
            <a:endParaRPr lang="en-US" dirty="0"/>
          </a:p>
        </p:txBody>
      </p:sp>
      <p:sp>
        <p:nvSpPr>
          <p:cNvPr id="5" name="Slide Number Placeholder 4">
            <a:extLst>
              <a:ext uri="{FF2B5EF4-FFF2-40B4-BE49-F238E27FC236}">
                <a16:creationId xmlns:a16="http://schemas.microsoft.com/office/drawing/2014/main" id="{05C8D075-ABF1-E040-E141-15AE3EA10D88}"/>
              </a:ext>
            </a:extLst>
          </p:cNvPr>
          <p:cNvSpPr>
            <a:spLocks noGrp="1"/>
          </p:cNvSpPr>
          <p:nvPr>
            <p:ph type="sldNum" sz="quarter" idx="12"/>
          </p:nvPr>
        </p:nvSpPr>
        <p:spPr/>
        <p:txBody>
          <a:bodyPr/>
          <a:lstStyle/>
          <a:p>
            <a:fld id="{69121A1F-7885-4E65-AB38-5CCB274F4EF5}" type="slidenum">
              <a:rPr lang="en-US" smtClean="0"/>
              <a:t>18</a:t>
            </a:fld>
            <a:endParaRPr lang="en-US"/>
          </a:p>
        </p:txBody>
      </p:sp>
    </p:spTree>
    <p:extLst>
      <p:ext uri="{BB962C8B-B14F-4D97-AF65-F5344CB8AC3E}">
        <p14:creationId xmlns:p14="http://schemas.microsoft.com/office/powerpoint/2010/main" val="4039128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BEAC7-45D6-60EB-9773-4E60FA006674}"/>
              </a:ext>
            </a:extLst>
          </p:cNvPr>
          <p:cNvSpPr>
            <a:spLocks noGrp="1"/>
          </p:cNvSpPr>
          <p:nvPr>
            <p:ph type="title"/>
          </p:nvPr>
        </p:nvSpPr>
        <p:spPr/>
        <p:txBody>
          <a:bodyPr/>
          <a:lstStyle/>
          <a:p>
            <a:r>
              <a:rPr lang="en-US" dirty="0"/>
              <a:t>	Some </a:t>
            </a:r>
            <a:r>
              <a:rPr lang="en-US"/>
              <a:t>well known </a:t>
            </a:r>
            <a:r>
              <a:rPr lang="en-US" dirty="0"/>
              <a:t>unitary matrices</a:t>
            </a:r>
          </a:p>
        </p:txBody>
      </p:sp>
      <p:sp>
        <p:nvSpPr>
          <p:cNvPr id="3" name="Content Placeholder 2">
            <a:extLst>
              <a:ext uri="{FF2B5EF4-FFF2-40B4-BE49-F238E27FC236}">
                <a16:creationId xmlns:a16="http://schemas.microsoft.com/office/drawing/2014/main" id="{D19C4466-B556-7703-6E36-79E4A31E72B7}"/>
              </a:ext>
            </a:extLst>
          </p:cNvPr>
          <p:cNvSpPr>
            <a:spLocks noGrp="1"/>
          </p:cNvSpPr>
          <p:nvPr>
            <p:ph idx="1"/>
          </p:nvPr>
        </p:nvSpPr>
        <p:spPr/>
        <p:txBody>
          <a:bodyPr/>
          <a:lstStyle/>
          <a:p>
            <a:pPr marL="514350" indent="-514350">
              <a:buFont typeface="+mj-lt"/>
              <a:buAutoNum type="arabicPeriod"/>
            </a:pPr>
            <a:r>
              <a:rPr lang="en-US" dirty="0"/>
              <a:t>Pauli Operations: The four well known Pauli matrices are:</a:t>
            </a:r>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r>
              <a:rPr lang="en-US" dirty="0"/>
              <a:t>Hadamard Operation:		3. Phase Operation:</a:t>
            </a:r>
          </a:p>
        </p:txBody>
      </p:sp>
      <p:sp>
        <p:nvSpPr>
          <p:cNvPr id="4" name="Footer Placeholder 3">
            <a:extLst>
              <a:ext uri="{FF2B5EF4-FFF2-40B4-BE49-F238E27FC236}">
                <a16:creationId xmlns:a16="http://schemas.microsoft.com/office/drawing/2014/main" id="{684CD40E-54E6-49AD-5B8D-8C99DDFEF88A}"/>
              </a:ext>
            </a:extLst>
          </p:cNvPr>
          <p:cNvSpPr>
            <a:spLocks noGrp="1"/>
          </p:cNvSpPr>
          <p:nvPr>
            <p:ph type="ftr" sz="quarter" idx="11"/>
          </p:nvPr>
        </p:nvSpPr>
        <p:spPr/>
        <p:txBody>
          <a:bodyPr/>
          <a:lstStyle/>
          <a:p>
            <a:r>
              <a:rPr lang="en-US"/>
              <a:t>CS-314: Quantum Computing</a:t>
            </a:r>
            <a:endParaRPr lang="en-US" dirty="0"/>
          </a:p>
        </p:txBody>
      </p:sp>
      <p:sp>
        <p:nvSpPr>
          <p:cNvPr id="5" name="Slide Number Placeholder 4">
            <a:extLst>
              <a:ext uri="{FF2B5EF4-FFF2-40B4-BE49-F238E27FC236}">
                <a16:creationId xmlns:a16="http://schemas.microsoft.com/office/drawing/2014/main" id="{D7257323-C785-6C82-EAE9-46E835964BAA}"/>
              </a:ext>
            </a:extLst>
          </p:cNvPr>
          <p:cNvSpPr>
            <a:spLocks noGrp="1"/>
          </p:cNvSpPr>
          <p:nvPr>
            <p:ph type="sldNum" sz="quarter" idx="12"/>
          </p:nvPr>
        </p:nvSpPr>
        <p:spPr/>
        <p:txBody>
          <a:bodyPr/>
          <a:lstStyle/>
          <a:p>
            <a:fld id="{69121A1F-7885-4E65-AB38-5CCB274F4EF5}" type="slidenum">
              <a:rPr lang="en-US" smtClean="0"/>
              <a:t>19</a:t>
            </a:fld>
            <a:endParaRPr lang="en-US"/>
          </a:p>
        </p:txBody>
      </p:sp>
      <p:pic>
        <p:nvPicPr>
          <p:cNvPr id="6" name="Content Placeholder 6">
            <a:extLst>
              <a:ext uri="{FF2B5EF4-FFF2-40B4-BE49-F238E27FC236}">
                <a16:creationId xmlns:a16="http://schemas.microsoft.com/office/drawing/2014/main" id="{C08D076F-1856-CEEE-AA2B-B7A1A7491D73}"/>
              </a:ext>
            </a:extLst>
          </p:cNvPr>
          <p:cNvPicPr>
            <a:picLocks noChangeAspect="1"/>
          </p:cNvPicPr>
          <p:nvPr/>
        </p:nvPicPr>
        <p:blipFill rotWithShape="1">
          <a:blip r:embed="rId2"/>
          <a:srcRect l="13274" t="30860"/>
          <a:stretch/>
        </p:blipFill>
        <p:spPr>
          <a:xfrm>
            <a:off x="1328604" y="2301410"/>
            <a:ext cx="9534791" cy="1127590"/>
          </a:xfrm>
          <a:prstGeom prst="rect">
            <a:avLst/>
          </a:prstGeom>
        </p:spPr>
      </p:pic>
      <p:pic>
        <p:nvPicPr>
          <p:cNvPr id="8" name="Picture 7">
            <a:extLst>
              <a:ext uri="{FF2B5EF4-FFF2-40B4-BE49-F238E27FC236}">
                <a16:creationId xmlns:a16="http://schemas.microsoft.com/office/drawing/2014/main" id="{A224D962-5829-5E4F-3705-9ECFFC422E50}"/>
              </a:ext>
            </a:extLst>
          </p:cNvPr>
          <p:cNvPicPr>
            <a:picLocks noChangeAspect="1"/>
          </p:cNvPicPr>
          <p:nvPr/>
        </p:nvPicPr>
        <p:blipFill>
          <a:blip r:embed="rId3"/>
          <a:stretch>
            <a:fillRect/>
          </a:stretch>
        </p:blipFill>
        <p:spPr>
          <a:xfrm>
            <a:off x="2033529" y="4394802"/>
            <a:ext cx="2969985" cy="1545852"/>
          </a:xfrm>
          <a:prstGeom prst="rect">
            <a:avLst/>
          </a:prstGeom>
        </p:spPr>
      </p:pic>
      <p:pic>
        <p:nvPicPr>
          <p:cNvPr id="10" name="Picture 9">
            <a:extLst>
              <a:ext uri="{FF2B5EF4-FFF2-40B4-BE49-F238E27FC236}">
                <a16:creationId xmlns:a16="http://schemas.microsoft.com/office/drawing/2014/main" id="{FAA797D0-CED0-7D2C-37C4-BBCA215FCACD}"/>
              </a:ext>
            </a:extLst>
          </p:cNvPr>
          <p:cNvPicPr>
            <a:picLocks noChangeAspect="1"/>
          </p:cNvPicPr>
          <p:nvPr/>
        </p:nvPicPr>
        <p:blipFill>
          <a:blip r:embed="rId4"/>
          <a:stretch>
            <a:fillRect/>
          </a:stretch>
        </p:blipFill>
        <p:spPr>
          <a:xfrm>
            <a:off x="7491651" y="4520392"/>
            <a:ext cx="2457892" cy="1127590"/>
          </a:xfrm>
          <a:prstGeom prst="rect">
            <a:avLst/>
          </a:prstGeom>
        </p:spPr>
      </p:pic>
    </p:spTree>
    <p:extLst>
      <p:ext uri="{BB962C8B-B14F-4D97-AF65-F5344CB8AC3E}">
        <p14:creationId xmlns:p14="http://schemas.microsoft.com/office/powerpoint/2010/main" val="3095580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500" fill="hold"/>
                                        <p:tgtEl>
                                          <p:spTgt spid="6"/>
                                        </p:tgtEl>
                                        <p:attrNameLst>
                                          <p:attrName>ppt_w</p:attrName>
                                        </p:attrNameLst>
                                      </p:cBhvr>
                                      <p:tavLst>
                                        <p:tav tm="0">
                                          <p:val>
                                            <p:fltVal val="0"/>
                                          </p:val>
                                        </p:tav>
                                        <p:tav tm="100000">
                                          <p:val>
                                            <p:strVal val="#ppt_w"/>
                                          </p:val>
                                        </p:tav>
                                      </p:tavLst>
                                    </p:anim>
                                    <p:anim calcmode="lin" valueType="num">
                                      <p:cBhvr>
                                        <p:cTn id="16" dur="500" fill="hold"/>
                                        <p:tgtEl>
                                          <p:spTgt spid="6"/>
                                        </p:tgtEl>
                                        <p:attrNameLst>
                                          <p:attrName>ppt_h</p:attrName>
                                        </p:attrNameLst>
                                      </p:cBhvr>
                                      <p:tavLst>
                                        <p:tav tm="0">
                                          <p:val>
                                            <p:fltVal val="0"/>
                                          </p:val>
                                        </p:tav>
                                        <p:tav tm="100000">
                                          <p:val>
                                            <p:strVal val="#ppt_h"/>
                                          </p:val>
                                        </p:tav>
                                      </p:tavLst>
                                    </p:anim>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p:cTn id="29" dur="500" fill="hold"/>
                                        <p:tgtEl>
                                          <p:spTgt spid="10"/>
                                        </p:tgtEl>
                                        <p:attrNameLst>
                                          <p:attrName>ppt_w</p:attrName>
                                        </p:attrNameLst>
                                      </p:cBhvr>
                                      <p:tavLst>
                                        <p:tav tm="0">
                                          <p:val>
                                            <p:fltVal val="0"/>
                                          </p:val>
                                        </p:tav>
                                        <p:tav tm="100000">
                                          <p:val>
                                            <p:strVal val="#ppt_w"/>
                                          </p:val>
                                        </p:tav>
                                      </p:tavLst>
                                    </p:anim>
                                    <p:anim calcmode="lin" valueType="num">
                                      <p:cBhvr>
                                        <p:cTn id="30" dur="500" fill="hold"/>
                                        <p:tgtEl>
                                          <p:spTgt spid="10"/>
                                        </p:tgtEl>
                                        <p:attrNameLst>
                                          <p:attrName>ppt_h</p:attrName>
                                        </p:attrNameLst>
                                      </p:cBhvr>
                                      <p:tavLst>
                                        <p:tav tm="0">
                                          <p:val>
                                            <p:fltVal val="0"/>
                                          </p:val>
                                        </p:tav>
                                        <p:tav tm="100000">
                                          <p:val>
                                            <p:strVal val="#ppt_h"/>
                                          </p:val>
                                        </p:tav>
                                      </p:tavLst>
                                    </p:anim>
                                    <p:animEffect transition="in" filter="fade">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D15A5-2F14-50BD-968D-683174ABF2AE}"/>
              </a:ext>
            </a:extLst>
          </p:cNvPr>
          <p:cNvSpPr>
            <a:spLocks noGrp="1"/>
          </p:cNvSpPr>
          <p:nvPr>
            <p:ph type="title"/>
          </p:nvPr>
        </p:nvSpPr>
        <p:spPr/>
        <p:txBody>
          <a:bodyPr/>
          <a:lstStyle/>
          <a:p>
            <a:r>
              <a:rPr lang="en-US" dirty="0"/>
              <a:t>	Class Exercise</a:t>
            </a:r>
          </a:p>
        </p:txBody>
      </p:sp>
      <p:sp>
        <p:nvSpPr>
          <p:cNvPr id="3" name="Content Placeholder 2">
            <a:extLst>
              <a:ext uri="{FF2B5EF4-FFF2-40B4-BE49-F238E27FC236}">
                <a16:creationId xmlns:a16="http://schemas.microsoft.com/office/drawing/2014/main" id="{A889111F-F3A6-883A-6039-E81D3C4295AA}"/>
              </a:ext>
            </a:extLst>
          </p:cNvPr>
          <p:cNvSpPr>
            <a:spLocks noGrp="1"/>
          </p:cNvSpPr>
          <p:nvPr>
            <p:ph idx="1"/>
          </p:nvPr>
        </p:nvSpPr>
        <p:spPr/>
        <p:txBody>
          <a:bodyPr/>
          <a:lstStyle/>
          <a:p>
            <a:r>
              <a:rPr lang="en-US" dirty="0"/>
              <a:t>Verify that each of the operations presented in the previous slide is a unitary operation.</a:t>
            </a:r>
          </a:p>
        </p:txBody>
      </p:sp>
      <p:sp>
        <p:nvSpPr>
          <p:cNvPr id="4" name="Footer Placeholder 3">
            <a:extLst>
              <a:ext uri="{FF2B5EF4-FFF2-40B4-BE49-F238E27FC236}">
                <a16:creationId xmlns:a16="http://schemas.microsoft.com/office/drawing/2014/main" id="{1A306C15-D4CE-C442-583D-337D6CB304FD}"/>
              </a:ext>
            </a:extLst>
          </p:cNvPr>
          <p:cNvSpPr>
            <a:spLocks noGrp="1"/>
          </p:cNvSpPr>
          <p:nvPr>
            <p:ph type="ftr" sz="quarter" idx="11"/>
          </p:nvPr>
        </p:nvSpPr>
        <p:spPr/>
        <p:txBody>
          <a:bodyPr/>
          <a:lstStyle/>
          <a:p>
            <a:r>
              <a:rPr lang="en-US"/>
              <a:t>CS-314: Quantum Computing</a:t>
            </a:r>
            <a:endParaRPr lang="en-US" dirty="0"/>
          </a:p>
        </p:txBody>
      </p:sp>
      <p:sp>
        <p:nvSpPr>
          <p:cNvPr id="5" name="Slide Number Placeholder 4">
            <a:extLst>
              <a:ext uri="{FF2B5EF4-FFF2-40B4-BE49-F238E27FC236}">
                <a16:creationId xmlns:a16="http://schemas.microsoft.com/office/drawing/2014/main" id="{3BECB322-60BD-4BC8-D1BB-184B9EAF2A49}"/>
              </a:ext>
            </a:extLst>
          </p:cNvPr>
          <p:cNvSpPr>
            <a:spLocks noGrp="1"/>
          </p:cNvSpPr>
          <p:nvPr>
            <p:ph type="sldNum" sz="quarter" idx="12"/>
          </p:nvPr>
        </p:nvSpPr>
        <p:spPr/>
        <p:txBody>
          <a:bodyPr/>
          <a:lstStyle/>
          <a:p>
            <a:fld id="{69121A1F-7885-4E65-AB38-5CCB274F4EF5}" type="slidenum">
              <a:rPr lang="en-US" smtClean="0"/>
              <a:t>20</a:t>
            </a:fld>
            <a:endParaRPr lang="en-US"/>
          </a:p>
        </p:txBody>
      </p:sp>
    </p:spTree>
    <p:extLst>
      <p:ext uri="{BB962C8B-B14F-4D97-AF65-F5344CB8AC3E}">
        <p14:creationId xmlns:p14="http://schemas.microsoft.com/office/powerpoint/2010/main" val="36342247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4996F-6EF6-4DDD-E9F4-40253A1329DE}"/>
              </a:ext>
            </a:extLst>
          </p:cNvPr>
          <p:cNvSpPr>
            <a:spLocks noGrp="1"/>
          </p:cNvSpPr>
          <p:nvPr>
            <p:ph type="title"/>
          </p:nvPr>
        </p:nvSpPr>
        <p:spPr/>
        <p:txBody>
          <a:bodyPr/>
          <a:lstStyle/>
          <a:p>
            <a:r>
              <a:rPr lang="en-US" dirty="0"/>
              <a:t>	Summary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9DCCBF1-B3BC-432B-FF30-2A88A7F82D11}"/>
                  </a:ext>
                </a:extLst>
              </p:cNvPr>
              <p:cNvSpPr>
                <a:spLocks noGrp="1"/>
              </p:cNvSpPr>
              <p:nvPr>
                <p:ph idx="1"/>
              </p:nvPr>
            </p:nvSpPr>
            <p:spPr/>
            <p:txBody>
              <a:bodyPr/>
              <a:lstStyle/>
              <a:p>
                <a:r>
                  <a:rPr lang="en-US" dirty="0"/>
                  <a:t>A qubit is a quantum bit that can be in a superposition (or linear combination) of basis states </a:t>
                </a:r>
                <a14:m>
                  <m:oMath xmlns:m="http://schemas.openxmlformats.org/officeDocument/2006/math">
                    <m:r>
                      <a:rPr lang="en-US">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0</m:t>
                        </m:r>
                      </m:e>
                    </m:d>
                    <m:r>
                      <a:rPr lang="en-US" b="0" i="0" smtClean="0">
                        <a:latin typeface="Cambria Math" panose="02040503050406030204" pitchFamily="18" charset="0"/>
                      </a:rPr>
                      <m:t> </m:t>
                    </m:r>
                  </m:oMath>
                </a14:m>
                <a:r>
                  <a:rPr lang="en-US" dirty="0">
                    <a:sym typeface="Symbol" panose="05050102010706020507" pitchFamily="18" charset="2"/>
                  </a:rPr>
                  <a:t>and</a:t>
                </a:r>
                <a14:m>
                  <m:oMath xmlns:m="http://schemas.openxmlformats.org/officeDocument/2006/math">
                    <m:r>
                      <a:rPr lang="en-US">
                        <a:latin typeface="Cambria Math" panose="02040503050406030204" pitchFamily="18" charset="0"/>
                      </a:rPr>
                      <m:t> |</m:t>
                    </m:r>
                    <m:d>
                      <m:dPr>
                        <m:begChr m:val=""/>
                        <m:endChr m:val="⟩"/>
                        <m:ctrlPr>
                          <a:rPr lang="en-US" i="1">
                            <a:latin typeface="Cambria Math" panose="02040503050406030204" pitchFamily="18" charset="0"/>
                          </a:rPr>
                        </m:ctrlPr>
                      </m:dPr>
                      <m:e>
                        <m:r>
                          <a:rPr lang="en-US" i="1">
                            <a:latin typeface="Cambria Math" panose="02040503050406030204" pitchFamily="18" charset="0"/>
                          </a:rPr>
                          <m:t>1</m:t>
                        </m:r>
                      </m:e>
                    </m:d>
                  </m:oMath>
                </a14:m>
                <a:r>
                  <a:rPr lang="en-US" dirty="0"/>
                  <a:t>.</a:t>
                </a:r>
              </a:p>
              <a:p>
                <a:r>
                  <a:rPr lang="en-US" dirty="0"/>
                  <a:t>Measuring a qubit </a:t>
                </a:r>
                <a:r>
                  <a:rPr lang="en-US" dirty="0">
                    <a:sym typeface="Symbol" panose="05050102010706020507" pitchFamily="18" charset="2"/>
                  </a:rPr>
                  <a:t></a:t>
                </a:r>
                <a14:m>
                  <m:oMath xmlns:m="http://schemas.openxmlformats.org/officeDocument/2006/math">
                    <m:r>
                      <a:rPr lang="en-US" i="1">
                        <a:latin typeface="Cambria Math" panose="02040503050406030204" pitchFamily="18" charset="0"/>
                      </a:rPr>
                      <m:t> </m:t>
                    </m:r>
                    <m:r>
                      <a:rPr lang="en-US">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0</m:t>
                        </m:r>
                      </m:e>
                    </m:d>
                    <m:r>
                      <a:rPr lang="en-US">
                        <a:latin typeface="Cambria Math" panose="02040503050406030204" pitchFamily="18" charset="0"/>
                      </a:rPr>
                      <m:t>+</m:t>
                    </m:r>
                  </m:oMath>
                </a14:m>
                <a:r>
                  <a:rPr lang="en-US" dirty="0">
                    <a:sym typeface="Symbol" panose="05050102010706020507" pitchFamily="18" charset="2"/>
                  </a:rPr>
                  <a:t> </a:t>
                </a:r>
                <a14:m>
                  <m:oMath xmlns:m="http://schemas.openxmlformats.org/officeDocument/2006/math">
                    <m:r>
                      <a:rPr lang="en-US">
                        <a:latin typeface="Cambria Math" panose="02040503050406030204" pitchFamily="18" charset="0"/>
                      </a:rPr>
                      <m:t> |</m:t>
                    </m:r>
                    <m:d>
                      <m:dPr>
                        <m:begChr m:val=""/>
                        <m:endChr m:val="⟩"/>
                        <m:ctrlPr>
                          <a:rPr lang="en-US" i="1">
                            <a:latin typeface="Cambria Math" panose="02040503050406030204" pitchFamily="18" charset="0"/>
                          </a:rPr>
                        </m:ctrlPr>
                      </m:dPr>
                      <m:e>
                        <m:r>
                          <a:rPr lang="en-US" i="1">
                            <a:latin typeface="Cambria Math" panose="02040503050406030204" pitchFamily="18" charset="0"/>
                          </a:rPr>
                          <m:t>1</m:t>
                        </m:r>
                      </m:e>
                    </m:d>
                  </m:oMath>
                </a14:m>
                <a:r>
                  <a:rPr lang="en-US" dirty="0"/>
                  <a:t> results in </a:t>
                </a:r>
                <a14:m>
                  <m:oMath xmlns:m="http://schemas.openxmlformats.org/officeDocument/2006/math">
                    <m:r>
                      <a:rPr lang="en-US">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0</m:t>
                        </m:r>
                      </m:e>
                    </m:d>
                    <m:r>
                      <a:rPr lang="en-US">
                        <a:latin typeface="Cambria Math" panose="02040503050406030204" pitchFamily="18" charset="0"/>
                      </a:rPr>
                      <m:t> </m:t>
                    </m:r>
                  </m:oMath>
                </a14:m>
                <a:r>
                  <a:rPr lang="en-US" dirty="0">
                    <a:sym typeface="Symbol" panose="05050102010706020507" pitchFamily="18" charset="2"/>
                  </a:rPr>
                  <a:t>with probability </a:t>
                </a:r>
                <a:r>
                  <a:rPr lang="en-US" baseline="30000" dirty="0">
                    <a:sym typeface="Symbol" panose="05050102010706020507" pitchFamily="18" charset="2"/>
                  </a:rPr>
                  <a:t>2</a:t>
                </a:r>
                <a:r>
                  <a:rPr lang="en-US" dirty="0">
                    <a:sym typeface="Symbol" panose="05050102010706020507" pitchFamily="18" charset="2"/>
                  </a:rPr>
                  <a:t> and</a:t>
                </a:r>
                <a14:m>
                  <m:oMath xmlns:m="http://schemas.openxmlformats.org/officeDocument/2006/math">
                    <m:r>
                      <a:rPr lang="en-US">
                        <a:latin typeface="Cambria Math" panose="02040503050406030204" pitchFamily="18" charset="0"/>
                      </a:rPr>
                      <m:t> |</m:t>
                    </m:r>
                    <m:d>
                      <m:dPr>
                        <m:begChr m:val=""/>
                        <m:endChr m:val="⟩"/>
                        <m:ctrlPr>
                          <a:rPr lang="en-US" i="1">
                            <a:latin typeface="Cambria Math" panose="02040503050406030204" pitchFamily="18" charset="0"/>
                          </a:rPr>
                        </m:ctrlPr>
                      </m:dPr>
                      <m:e>
                        <m:r>
                          <a:rPr lang="en-US" i="1">
                            <a:latin typeface="Cambria Math" panose="02040503050406030204" pitchFamily="18" charset="0"/>
                          </a:rPr>
                          <m:t>1</m:t>
                        </m:r>
                      </m:e>
                    </m:d>
                  </m:oMath>
                </a14:m>
                <a:r>
                  <a:rPr lang="en-US" dirty="0"/>
                  <a:t> with probability </a:t>
                </a:r>
                <a:r>
                  <a:rPr lang="en-US" dirty="0">
                    <a:sym typeface="Symbol" panose="05050102010706020507" pitchFamily="18" charset="2"/>
                  </a:rPr>
                  <a:t></a:t>
                </a:r>
                <a:r>
                  <a:rPr lang="en-US" baseline="30000" dirty="0">
                    <a:sym typeface="Symbol" panose="05050102010706020507" pitchFamily="18" charset="2"/>
                  </a:rPr>
                  <a:t>2</a:t>
                </a:r>
                <a:r>
                  <a:rPr lang="en-US" dirty="0"/>
                  <a:t>.</a:t>
                </a:r>
              </a:p>
              <a:p>
                <a:r>
                  <a:rPr lang="en-US" dirty="0"/>
                  <a:t>Furthermore, measurement collapses a qubit to one of the basis states.</a:t>
                </a:r>
              </a:p>
              <a:p>
                <a:r>
                  <a:rPr lang="en-US" dirty="0"/>
                  <a:t>Unitary operations can be applied on qubits. </a:t>
                </a:r>
              </a:p>
              <a:p>
                <a:r>
                  <a:rPr lang="en-US" dirty="0"/>
                  <a:t>A unitary matrix satisfies the property </a:t>
                </a:r>
              </a:p>
              <a:p>
                <a:endParaRPr lang="en-US" dirty="0"/>
              </a:p>
            </p:txBody>
          </p:sp>
        </mc:Choice>
        <mc:Fallback xmlns="">
          <p:sp>
            <p:nvSpPr>
              <p:cNvPr id="3" name="Content Placeholder 2">
                <a:extLst>
                  <a:ext uri="{FF2B5EF4-FFF2-40B4-BE49-F238E27FC236}">
                    <a16:creationId xmlns:a16="http://schemas.microsoft.com/office/drawing/2014/main" id="{79DCCBF1-B3BC-432B-FF30-2A88A7F82D11}"/>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7A0E5252-BA6D-4D28-2DDE-6B4015F78815}"/>
              </a:ext>
            </a:extLst>
          </p:cNvPr>
          <p:cNvSpPr>
            <a:spLocks noGrp="1"/>
          </p:cNvSpPr>
          <p:nvPr>
            <p:ph type="ftr" sz="quarter" idx="11"/>
          </p:nvPr>
        </p:nvSpPr>
        <p:spPr/>
        <p:txBody>
          <a:bodyPr/>
          <a:lstStyle/>
          <a:p>
            <a:r>
              <a:rPr lang="en-US"/>
              <a:t>CS-314: Quantum Computing</a:t>
            </a:r>
            <a:endParaRPr lang="en-US" dirty="0"/>
          </a:p>
        </p:txBody>
      </p:sp>
      <p:sp>
        <p:nvSpPr>
          <p:cNvPr id="5" name="Slide Number Placeholder 4">
            <a:extLst>
              <a:ext uri="{FF2B5EF4-FFF2-40B4-BE49-F238E27FC236}">
                <a16:creationId xmlns:a16="http://schemas.microsoft.com/office/drawing/2014/main" id="{27918612-82BC-4041-E231-303A91FE71DF}"/>
              </a:ext>
            </a:extLst>
          </p:cNvPr>
          <p:cNvSpPr>
            <a:spLocks noGrp="1"/>
          </p:cNvSpPr>
          <p:nvPr>
            <p:ph type="sldNum" sz="quarter" idx="12"/>
          </p:nvPr>
        </p:nvSpPr>
        <p:spPr/>
        <p:txBody>
          <a:bodyPr/>
          <a:lstStyle/>
          <a:p>
            <a:fld id="{69121A1F-7885-4E65-AB38-5CCB274F4EF5}" type="slidenum">
              <a:rPr lang="en-US" smtClean="0"/>
              <a:t>21</a:t>
            </a:fld>
            <a:endParaRPr lang="en-US"/>
          </a:p>
        </p:txBody>
      </p:sp>
      <p:pic>
        <p:nvPicPr>
          <p:cNvPr id="6" name="Picture 5">
            <a:extLst>
              <a:ext uri="{FF2B5EF4-FFF2-40B4-BE49-F238E27FC236}">
                <a16:creationId xmlns:a16="http://schemas.microsoft.com/office/drawing/2014/main" id="{F8B731DF-0398-9CE9-5CD5-743DE3EBB5D8}"/>
              </a:ext>
            </a:extLst>
          </p:cNvPr>
          <p:cNvPicPr>
            <a:picLocks noChangeAspect="1"/>
          </p:cNvPicPr>
          <p:nvPr/>
        </p:nvPicPr>
        <p:blipFill>
          <a:blip r:embed="rId3"/>
          <a:stretch>
            <a:fillRect/>
          </a:stretch>
        </p:blipFill>
        <p:spPr>
          <a:xfrm>
            <a:off x="6885169" y="4962511"/>
            <a:ext cx="1457446" cy="975126"/>
          </a:xfrm>
          <a:prstGeom prst="rect">
            <a:avLst/>
          </a:prstGeom>
        </p:spPr>
      </p:pic>
    </p:spTree>
    <p:extLst>
      <p:ext uri="{BB962C8B-B14F-4D97-AF65-F5344CB8AC3E}">
        <p14:creationId xmlns:p14="http://schemas.microsoft.com/office/powerpoint/2010/main" val="119780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500" fill="hold"/>
                                        <p:tgtEl>
                                          <p:spTgt spid="6"/>
                                        </p:tgtEl>
                                        <p:attrNameLst>
                                          <p:attrName>ppt_w</p:attrName>
                                        </p:attrNameLst>
                                      </p:cBhvr>
                                      <p:tavLst>
                                        <p:tav tm="0">
                                          <p:val>
                                            <p:fltVal val="0"/>
                                          </p:val>
                                        </p:tav>
                                        <p:tav tm="100000">
                                          <p:val>
                                            <p:strVal val="#ppt_w"/>
                                          </p:val>
                                        </p:tav>
                                      </p:tavLst>
                                    </p:anim>
                                    <p:anim calcmode="lin" valueType="num">
                                      <p:cBhvr>
                                        <p:cTn id="28" dur="500" fill="hold"/>
                                        <p:tgtEl>
                                          <p:spTgt spid="6"/>
                                        </p:tgtEl>
                                        <p:attrNameLst>
                                          <p:attrName>ppt_h</p:attrName>
                                        </p:attrNameLst>
                                      </p:cBhvr>
                                      <p:tavLst>
                                        <p:tav tm="0">
                                          <p:val>
                                            <p:fltVal val="0"/>
                                          </p:val>
                                        </p:tav>
                                        <p:tav tm="100000">
                                          <p:val>
                                            <p:strVal val="#ppt_h"/>
                                          </p:val>
                                        </p:tav>
                                      </p:tavLst>
                                    </p:anim>
                                    <p:animEffect transition="in" filter="fade">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4728</TotalTime>
  <Words>1219</Words>
  <Application>Microsoft Office PowerPoint</Application>
  <PresentationFormat>Widescreen</PresentationFormat>
  <Paragraphs>157</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Calibri</vt:lpstr>
      <vt:lpstr>Calibri Light</vt:lpstr>
      <vt:lpstr>Cambria Math</vt:lpstr>
      <vt:lpstr>Consolas</vt:lpstr>
      <vt:lpstr>Gill Sans MT</vt:lpstr>
      <vt:lpstr>Times New Roman</vt:lpstr>
      <vt:lpstr>Office Theme</vt:lpstr>
      <vt:lpstr>CS/PHYS-314/300: Quantum Computing  Unit 02:  Single Qubit Systems</vt:lpstr>
      <vt:lpstr> Unit Outline</vt:lpstr>
      <vt:lpstr> A Model of Quantum Information</vt:lpstr>
      <vt:lpstr> A Model of Quantum Information</vt:lpstr>
      <vt:lpstr> Euclidean Norm</vt:lpstr>
      <vt:lpstr> Qubit</vt:lpstr>
      <vt:lpstr> Qubit - Examples</vt:lpstr>
      <vt:lpstr> Qubit</vt:lpstr>
      <vt:lpstr> Measuring a qubit</vt:lpstr>
      <vt:lpstr> What is a qubit – physically?</vt:lpstr>
      <vt:lpstr> Dual of a Qubit</vt:lpstr>
      <vt:lpstr> Some Class Exercises</vt:lpstr>
      <vt:lpstr> Special Quantum States (or Qubits)</vt:lpstr>
      <vt:lpstr> Measurement of |├ +⟩ and |├ -⟩</vt:lpstr>
      <vt:lpstr> Unitary Operations</vt:lpstr>
      <vt:lpstr> Unitary Matrices</vt:lpstr>
      <vt:lpstr> Unitary matrices represent valid operations</vt:lpstr>
      <vt:lpstr> Quick Quiz</vt:lpstr>
      <vt:lpstr> Some well known unitary matrices</vt:lpstr>
      <vt:lpstr> Class Exercise</vt:lpstr>
      <vt:lpstr> Summary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Faisal Alvi</dc:creator>
  <cp:lastModifiedBy>Faisal Alvi</cp:lastModifiedBy>
  <cp:revision>531</cp:revision>
  <dcterms:created xsi:type="dcterms:W3CDTF">2022-04-01T09:51:06Z</dcterms:created>
  <dcterms:modified xsi:type="dcterms:W3CDTF">2026-09-01T04:36:54Z</dcterms:modified>
</cp:coreProperties>
</file>