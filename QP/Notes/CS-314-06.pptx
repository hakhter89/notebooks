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62" r:id="rId2"/>
    <p:sldId id="264" r:id="rId3"/>
    <p:sldId id="572" r:id="rId4"/>
    <p:sldId id="590" r:id="rId5"/>
    <p:sldId id="573" r:id="rId6"/>
    <p:sldId id="591" r:id="rId7"/>
    <p:sldId id="592" r:id="rId8"/>
    <p:sldId id="594" r:id="rId9"/>
    <p:sldId id="595" r:id="rId10"/>
    <p:sldId id="596" r:id="rId11"/>
    <p:sldId id="602" r:id="rId12"/>
    <p:sldId id="559" r:id="rId13"/>
    <p:sldId id="597" r:id="rId14"/>
    <p:sldId id="598" r:id="rId15"/>
    <p:sldId id="603" r:id="rId16"/>
    <p:sldId id="574" r:id="rId17"/>
    <p:sldId id="604" r:id="rId18"/>
    <p:sldId id="599" r:id="rId19"/>
    <p:sldId id="607" r:id="rId20"/>
    <p:sldId id="608" r:id="rId21"/>
    <p:sldId id="609" r:id="rId22"/>
    <p:sldId id="58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FFCC"/>
    <a:srgbClr val="CCFFFF"/>
    <a:srgbClr val="99FFCC"/>
    <a:srgbClr val="FF9999"/>
    <a:srgbClr val="FF00FF"/>
    <a:srgbClr val="0066CC"/>
    <a:srgbClr val="3F1749"/>
    <a:srgbClr val="660033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660"/>
  </p:normalViewPr>
  <p:slideViewPr>
    <p:cSldViewPr snapToGrid="0">
      <p:cViewPr varScale="1">
        <p:scale>
          <a:sx n="74" d="100"/>
          <a:sy n="74" d="100"/>
        </p:scale>
        <p:origin x="364" y="60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C6DF84-CD1F-4FA6-8BC8-E893B696DB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EE00F5-A9A7-4164-9154-87868DA7B4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835A1-0E46-4E70-BE50-D16D92BA4F0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8731D-8B59-4095-B77A-4BC76754C1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1D674-0CD9-4F38-9541-10F8D4CF12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A66C0-A5B3-4976-B3B0-D5887CB7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49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04257-2063-464D-8392-2DAA70F807F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DBBA1-8DB8-4FE4-8A77-5307E3FF1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5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EC820-F06A-4B86-BF0B-B3F6612CA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54DBB-C47C-49E9-9D9C-CA5C80EA2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Gill Sans MT" panose="020B05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0DD88-B242-467D-BEB5-FB8F7EF9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69A8C-3893-4697-8DCE-E8D29603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924B38-6344-1101-CED8-B9C1500E80E7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29A5D-1308-E10C-202B-3DEF0CAECB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15566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A5013-5E51-49C0-BC22-8E93E632C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381" y="410368"/>
            <a:ext cx="12192000" cy="1325563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	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E4D83-D539-4263-B106-C711256BE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894F8B-ED69-49D9-B6CD-CC002E9B2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2B2E41-6AC9-4EA2-B3F7-D0541296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9705D3-83C8-16A9-3AE4-F96B6A26C65F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AF1FB-19E1-0DAE-FD18-DC60EDFAAC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81845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20FEA-A9EE-4984-A777-E95860841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5FA1F-94A1-45CE-84C6-23F77E0C3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D99CA-D285-4F1A-9EF3-9FF6A7537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F42B6-DC9F-4E20-85F3-748AB2CF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B8D539-AF05-6879-DBE7-958561F71780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3BFEB-A61A-BC44-0BF0-D7A0547C8C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85622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21E5E-0811-4F8F-B2BD-F0EA8FE0D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19ED3-0C43-4509-8413-12035F885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11BA6-FC26-4989-AC9B-C61626147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FBF8E-11D8-47C3-B42E-CB9685CA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F29262B-DCE4-453C-AC44-46A76531A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FFAA2E-80D3-7C42-DC59-98E39C2D21B7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F00280-50F5-5F70-653E-910E8D8B6E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7188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1E841-4E40-4E94-9C41-48CA6FFFA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Gill Sans MT" panose="020B05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33963-8E17-4AED-BD0A-6C7EDF769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9669F-0CC8-486E-A29E-8F810DC05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Gill Sans MT" panose="020B05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D48C6F-C450-4648-9828-249C92913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D1B2B-27A1-4F00-A12E-45D62A00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17AE76-9D91-4D7D-9245-EF3809963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5BDD155-2A18-4842-8FBF-76C05561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EFABF-4B26-80A9-1902-8F1C022B8FBD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DFECC7-AF09-1B48-F3CE-2C13C1020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56621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E2322-36E5-40B2-B77C-3FEDCE71F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CF9BB-D046-456C-9FE7-4EF522F8F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15D108B-C064-4DBF-88BA-3195AD63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7005D-A76C-B48A-033D-BD4761CD5221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B081A7-AD93-2EB6-E24F-3D29243269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59255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C6141-32E6-4033-A96E-2767E51E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1312C-54FA-4E5C-A078-885B1740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C24A72-8058-B3A9-85FC-3D15768C0226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028F2-BBFF-021F-3D35-1EF63AF80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07375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F386-C2A1-4165-AA90-A143B880E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5B62E-7997-4D6A-894F-CBFA127EA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Gill Sans MT" panose="020B0502020104020203" pitchFamily="34" charset="0"/>
              </a:defRPr>
            </a:lvl1pPr>
            <a:lvl2pPr>
              <a:defRPr sz="2800">
                <a:latin typeface="Gill Sans MT" panose="020B0502020104020203" pitchFamily="34" charset="0"/>
              </a:defRPr>
            </a:lvl2pPr>
            <a:lvl3pPr>
              <a:defRPr sz="2400">
                <a:latin typeface="Gill Sans MT" panose="020B0502020104020203" pitchFamily="34" charset="0"/>
              </a:defRPr>
            </a:lvl3pPr>
            <a:lvl4pPr>
              <a:defRPr sz="2000">
                <a:latin typeface="Gill Sans MT" panose="020B0502020104020203" pitchFamily="34" charset="0"/>
              </a:defRPr>
            </a:lvl4pPr>
            <a:lvl5pPr>
              <a:defRPr sz="2000">
                <a:latin typeface="Gill Sans MT" panose="020B05020201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69036-BD0D-405E-ABE5-3182D7948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ill Sans MT" panose="020B05020201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81FBA-E5AB-4AE8-AD85-5CEC95094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195D8-F0EB-4DED-84FF-85995992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CB8084-E2C0-B052-D570-30CCC80650D2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89BFB-2DDC-58C5-D56B-835ECD4851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2396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EEA1B-D3EA-4191-B9A2-C992A45E7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61EAE-65C4-4E5D-9671-81BC47EE3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9A2D6-4D6D-46D5-A4DA-2F27FD63A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ill Sans MT" panose="020B05020201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DD90B-51A9-4BB5-8E85-28B0FF6D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05A6B-C7C7-40DC-AD0A-81C8E82E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9A52A7-B87F-6F5D-9D3D-0E043AC9BCEC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7219D-390B-2454-591A-C0C352CC48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524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4ED30-B69B-4F0A-B2A1-AEF6DCC0A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A1C9C-5BCD-4DA9-AEAC-A9DF4661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65505-CACA-43A9-9065-9CB6A657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6A8C93-9DFB-40D7-BBC9-8ABC8B9063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09C756-9073-F325-5EB0-5206EFDFD988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80842B-CD63-C3F6-F359-880E7D73A9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231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BE4F7F-D510-4E3E-ADF8-0BBCAFBEF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16348-6040-4EC7-84FA-ACD6AE03C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69F16-A748-4C8D-A3E5-A464C526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61486-9E05-4F23-A92B-A1B7ABF5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69A90D-1D2D-54EC-460B-80A244499CF5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77A213-4704-FD9B-256C-40AB15D0AD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924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8F7C8-354E-4F2A-8234-DE180760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D10E1-2BF3-41D1-8698-8FAD6110C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98958-B1D7-4842-BAFF-219194268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BA6A7-670D-4A8E-A302-1B47C3B95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8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isal.alvi@sse.habib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learning.quantum.ibm.com/course/basics-of-quantum-information/entanglement-in-action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F689-049A-5781-A66E-033ED88C0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551" y="1122363"/>
            <a:ext cx="11714922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2700" dirty="0"/>
              <a:t>CS/PHYS-314/300: Quantum Computing</a:t>
            </a:r>
            <a:br>
              <a:rPr lang="en-US" sz="3600" dirty="0"/>
            </a:br>
            <a:br>
              <a:rPr lang="en-US" sz="3600" dirty="0"/>
            </a:br>
            <a:r>
              <a:rPr lang="en-US" dirty="0"/>
              <a:t>Unit 06:</a:t>
            </a:r>
            <a:br>
              <a:rPr lang="en-US" dirty="0"/>
            </a:br>
            <a:r>
              <a:rPr lang="en-US" dirty="0"/>
              <a:t>Entanglement Applications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20C7-F1FC-0FDE-ABA7-47DA4A7A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C26B2-ABC0-0DDD-0A2C-573D9B13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4E332-59FA-A702-3302-E9C13C7D4461}"/>
              </a:ext>
            </a:extLst>
          </p:cNvPr>
          <p:cNvSpPr txBox="1"/>
          <p:nvPr/>
        </p:nvSpPr>
        <p:spPr>
          <a:xfrm>
            <a:off x="477078" y="26504"/>
            <a:ext cx="11714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Habib University – Shaping Futures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29C37EA-5D66-A27C-EB91-FF555785C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035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Gill Sans MT"/>
              </a:rPr>
              <a:t>Faisal Alvi</a:t>
            </a: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r>
              <a:rPr lang="en-US" sz="1800" dirty="0">
                <a:latin typeface="Gill Sans MT"/>
              </a:rPr>
              <a:t>(For any suggested modifications please email: </a:t>
            </a:r>
            <a:r>
              <a:rPr lang="en-US" sz="1800" dirty="0">
                <a:latin typeface="Consolas" panose="020B0609020204030204" pitchFamily="49" charset="0"/>
                <a:hlinkClick r:id="rId2"/>
              </a:rPr>
              <a:t>faisal.alvi@sse.habib.edu.pk</a:t>
            </a:r>
            <a:r>
              <a:rPr lang="en-US" sz="1800" dirty="0">
                <a:latin typeface="Gill Sans MT"/>
              </a:rPr>
              <a:t>)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39313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3E23-B2FF-967B-635C-715BE842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Unit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88074-EB1B-1FEF-394D-487B31B95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08" y="1825625"/>
            <a:ext cx="10597792" cy="4351338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The Quantum Circuit for Teleportation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Superdense Coding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The CHSH Game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Summary</a:t>
            </a:r>
            <a:endParaRPr lang="en-US" sz="1800" dirty="0"/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800" dirty="0"/>
              <a:t>[Reference] IBM </a:t>
            </a:r>
            <a:r>
              <a:rPr lang="en-US" sz="1800" dirty="0" err="1"/>
              <a:t>Qiskit</a:t>
            </a:r>
            <a:r>
              <a:rPr lang="en-US" sz="1800" dirty="0"/>
              <a:t> Course: Entanglement in Action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800" dirty="0"/>
              <a:t>https://learning.quantum.ibm.com/course/basics-of-quantum-information/entanglement-in-action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9D961-DA95-BD15-156F-92217214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D456-772D-AD8C-9483-FAA0876A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5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335FE-8B4B-5E9F-8051-B254EC87C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Quantum Teleportation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CCA88-8DD1-886C-1A34-CBED209AE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Quantum teleportation is a protocol where a sender (Alice) transmits a qubit to a receiver (Bob) by making use of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dirty="0"/>
              <a:t>a shared entangled quantum state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and two bits of classical communication. 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sz="2400" dirty="0"/>
              <a:t>It must be understood that matter is not teleported in quantum teleportation — what is actually teleported is quantum information.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A403D-9BC7-3A5F-3DF7-D4568E8AA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04C0E3-9A79-81D2-CB6F-9216FB9DE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1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6168A-8638-2AF5-B271-BF375B107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Quantum Teleportation -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7B118C-4A5D-479B-94CF-FCFC322216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Alice holds a qubit </a:t>
                </a:r>
                <a:r>
                  <a:rPr lang="en-US" i="1" dirty="0"/>
                  <a:t>X</a:t>
                </a:r>
                <a:r>
                  <a:rPr lang="en-US" dirty="0"/>
                  <a:t>, Bob holds a qubit </a:t>
                </a:r>
                <a:r>
                  <a:rPr lang="en-US" i="1" dirty="0"/>
                  <a:t>Y</a:t>
                </a:r>
                <a:r>
                  <a:rPr lang="en-US" dirty="0"/>
                  <a:t>, and together the pair </a:t>
                </a:r>
                <a:r>
                  <a:rPr lang="en-US" i="1" dirty="0"/>
                  <a:t>XY</a:t>
                </a:r>
                <a:r>
                  <a:rPr lang="en-US" dirty="0"/>
                  <a:t> is in the state |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Alice then comes into possession of a third qubit </a:t>
                </a:r>
                <a:r>
                  <a:rPr lang="en-US" i="1" dirty="0"/>
                  <a:t>Q</a:t>
                </a:r>
                <a:r>
                  <a:rPr lang="en-US" dirty="0"/>
                  <a:t> that she wishes to transmit to Bob. 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The state of the qubit </a:t>
                </a:r>
                <a:r>
                  <a:rPr lang="en-US" i="1" dirty="0"/>
                  <a:t>Q</a:t>
                </a:r>
                <a:r>
                  <a:rPr lang="en-US" dirty="0"/>
                  <a:t> is considered to be unknown to Alice and Bob, and no assumptions are made about it.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7B118C-4A5D-479B-94CF-FCFC322216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1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9786C-6704-EA6A-9CC8-241FA79CA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2EE65-32AE-6EBA-BCD6-4DEB5F3A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7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7A775-0F48-EE5E-6B13-B8415E1E8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Circuit for Quantum Teleportation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592DAD-02D4-2F73-9801-56899BB33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1665EB-E5F6-CCE0-0CBB-8224B2229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5C95E5-A7FA-CE45-5D54-9F44F47DB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95" y="2117147"/>
            <a:ext cx="9617486" cy="394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30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40A6E-0707-238A-C809-702F88C67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Quantum Teleportation Protocol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78FC8-86B0-DB17-96E5-964180A1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A48205-CE7F-B82B-1851-CABBB95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B52341-9065-0E93-1881-EFC8FEB63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444" y="1908564"/>
            <a:ext cx="10147112" cy="444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96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D9926-E94B-CA83-C013-2537A53FF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	Quantum Teleportation – Analysis*</a:t>
            </a:r>
            <a:br>
              <a:rPr lang="en-US" dirty="0"/>
            </a:br>
            <a:r>
              <a:rPr lang="en-US" dirty="0"/>
              <a:t>	</a:t>
            </a:r>
            <a:r>
              <a:rPr lang="en-US" sz="1800" dirty="0"/>
              <a:t> [* Note the order of qubits in the </a:t>
            </a:r>
            <a:r>
              <a:rPr lang="en-US" sz="1800" dirty="0" err="1"/>
              <a:t>Qiskit</a:t>
            </a:r>
            <a:r>
              <a:rPr lang="en-US" sz="1800" dirty="0"/>
              <a:t> Book]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AD42D65-04A4-9D0E-80AE-D7E7C9C35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8830" y="1789355"/>
            <a:ext cx="6845117" cy="351350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D0708-994A-2563-E5F9-6A91B3A6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A03A5-FF98-C610-E8BE-0CCD6EF5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11006A-1216-B60C-5588-45550F68B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453" y="5487823"/>
            <a:ext cx="8865326" cy="86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80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D9926-E94B-CA83-C013-2537A53FF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	Quantum Teleportation – Analysis*</a:t>
            </a:r>
            <a:br>
              <a:rPr lang="en-US" dirty="0"/>
            </a:br>
            <a:r>
              <a:rPr lang="en-US" dirty="0"/>
              <a:t>	</a:t>
            </a:r>
            <a:r>
              <a:rPr lang="en-US" sz="1800" dirty="0"/>
              <a:t> [* Note the order of qubits in the </a:t>
            </a:r>
            <a:r>
              <a:rPr lang="en-US" sz="1800" dirty="0" err="1"/>
              <a:t>Qiskit</a:t>
            </a:r>
            <a:r>
              <a:rPr lang="en-US" sz="1800" dirty="0"/>
              <a:t> Book]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AD42D65-04A4-9D0E-80AE-D7E7C9C35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8830" y="1789355"/>
            <a:ext cx="6845117" cy="351350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D0708-994A-2563-E5F9-6A91B3A6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A03A5-FF98-C610-E8BE-0CCD6EF5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1448BC-D954-86DA-2D3B-61FBDEA8C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718" y="5457352"/>
            <a:ext cx="6284433" cy="108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76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D9926-E94B-CA83-C013-2537A53FF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	Quantum Teleportation – Analysis*</a:t>
            </a:r>
            <a:br>
              <a:rPr lang="en-US" dirty="0"/>
            </a:br>
            <a:r>
              <a:rPr lang="en-US" dirty="0"/>
              <a:t>	</a:t>
            </a:r>
            <a:r>
              <a:rPr lang="en-US" sz="1800" dirty="0"/>
              <a:t> [* Note the order of qubits in the </a:t>
            </a:r>
            <a:r>
              <a:rPr lang="en-US" sz="1800" dirty="0" err="1"/>
              <a:t>Qiskit</a:t>
            </a:r>
            <a:r>
              <a:rPr lang="en-US" sz="1800" dirty="0"/>
              <a:t> Book]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AD42D65-04A4-9D0E-80AE-D7E7C9C35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8830" y="1789355"/>
            <a:ext cx="6845117" cy="351350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D0708-994A-2563-E5F9-6A91B3A6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A03A5-FF98-C610-E8BE-0CCD6EF5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44A9CC-81C7-D7DD-C841-18A74759F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758" y="5346343"/>
            <a:ext cx="8770948" cy="153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6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D9926-E94B-CA83-C013-2537A53FF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	Quantum Teleportation – Analysis*</a:t>
            </a:r>
            <a:br>
              <a:rPr lang="en-US" dirty="0"/>
            </a:br>
            <a:r>
              <a:rPr lang="en-US" dirty="0"/>
              <a:t>	</a:t>
            </a:r>
            <a:r>
              <a:rPr lang="en-US" sz="1800" dirty="0"/>
              <a:t>[* Note the order of qubits in the </a:t>
            </a:r>
            <a:r>
              <a:rPr lang="en-US" sz="1800" dirty="0" err="1"/>
              <a:t>Qiskit</a:t>
            </a:r>
            <a:r>
              <a:rPr lang="en-US" sz="1800" dirty="0"/>
              <a:t> Book]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AD42D65-04A4-9D0E-80AE-D7E7C9C35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294" y="1784383"/>
            <a:ext cx="6845117" cy="351350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D0708-994A-2563-E5F9-6A91B3A6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A03A5-FF98-C610-E8BE-0CCD6EF5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44A9CC-81C7-D7DD-C841-18A74759F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08" y="5297891"/>
            <a:ext cx="8770948" cy="15335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00937A-D454-DAA0-C8E2-87A57539A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885" y="2187725"/>
            <a:ext cx="3774735" cy="30001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5775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D9C29-1340-D8BE-CF8B-EA39AA8DB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	 Quantum Teleportation – Analysis*</a:t>
            </a:r>
            <a:br>
              <a:rPr lang="en-US" dirty="0"/>
            </a:br>
            <a:r>
              <a:rPr lang="en-US" dirty="0"/>
              <a:t>	</a:t>
            </a:r>
            <a:r>
              <a:rPr lang="en-US" sz="1600" dirty="0"/>
              <a:t>[* Note the order of qubits in the </a:t>
            </a:r>
            <a:r>
              <a:rPr lang="en-US" sz="1600" dirty="0" err="1"/>
              <a:t>Qiskit</a:t>
            </a:r>
            <a:r>
              <a:rPr lang="en-US" sz="1600" dirty="0"/>
              <a:t> Book]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02E36-A503-2648-F3DD-31C2B9AF7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We saw from the previous slide that </a:t>
            </a:r>
            <a:r>
              <a:rPr lang="en-US" sz="2400" dirty="0">
                <a:sym typeface="Symbol" panose="05050102010706020507" pitchFamily="18" charset="2"/>
              </a:rPr>
              <a:t></a:t>
            </a:r>
            <a:r>
              <a:rPr lang="en-US" sz="2400" baseline="-25000" dirty="0">
                <a:sym typeface="Symbol" panose="05050102010706020507" pitchFamily="18" charset="2"/>
              </a:rPr>
              <a:t>2 </a:t>
            </a:r>
            <a:r>
              <a:rPr lang="en-US" sz="2400" dirty="0">
                <a:sym typeface="Symbol" panose="05050102010706020507" pitchFamily="18" charset="2"/>
              </a:rPr>
              <a:t>is:</a:t>
            </a:r>
          </a:p>
          <a:p>
            <a:r>
              <a:rPr lang="en-US" sz="2400" dirty="0">
                <a:sym typeface="Symbol" panose="05050102010706020507" pitchFamily="18" charset="2"/>
              </a:rPr>
              <a:t>When Alice measures her qubit and sends the results to Bob, if the results of here measurement are:</a:t>
            </a:r>
          </a:p>
          <a:p>
            <a:endParaRPr lang="en-US" sz="2400" dirty="0">
              <a:sym typeface="Symbol" panose="05050102010706020507" pitchFamily="18" charset="2"/>
            </a:endParaRPr>
          </a:p>
          <a:p>
            <a:endParaRPr lang="en-US" sz="2400" dirty="0">
              <a:sym typeface="Symbol" panose="05050102010706020507" pitchFamily="18" charset="2"/>
            </a:endParaRPr>
          </a:p>
          <a:p>
            <a:endParaRPr lang="en-US" sz="2400" dirty="0">
              <a:sym typeface="Symbol" panose="05050102010706020507" pitchFamily="18" charset="2"/>
            </a:endParaRPr>
          </a:p>
          <a:p>
            <a:endParaRPr lang="en-US" baseline="-25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7EBDAF-3C02-F6AC-9DE8-6D5C6E234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8AA5A-C913-CF38-EA4E-FCB7A2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1038C9-C86A-3946-6E2D-3E9C0CA79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899" y="2903718"/>
            <a:ext cx="3774735" cy="300017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39A6A28B-1768-A99F-BD1B-476AFD6B52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3706593"/>
                  </p:ext>
                </p:extLst>
              </p:nvPr>
            </p:nvGraphicFramePr>
            <p:xfrm>
              <a:off x="1354347" y="3289190"/>
              <a:ext cx="5615795" cy="27005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42536">
                      <a:extLst>
                        <a:ext uri="{9D8B030D-6E8A-4147-A177-3AD203B41FA5}">
                          <a16:colId xmlns:a16="http://schemas.microsoft.com/office/drawing/2014/main" val="1532956633"/>
                        </a:ext>
                      </a:extLst>
                    </a:gridCol>
                    <a:gridCol w="1802921">
                      <a:extLst>
                        <a:ext uri="{9D8B030D-6E8A-4147-A177-3AD203B41FA5}">
                          <a16:colId xmlns:a16="http://schemas.microsoft.com/office/drawing/2014/main" val="3578956566"/>
                        </a:ext>
                      </a:extLst>
                    </a:gridCol>
                    <a:gridCol w="2070338">
                      <a:extLst>
                        <a:ext uri="{9D8B030D-6E8A-4147-A177-3AD203B41FA5}">
                          <a16:colId xmlns:a16="http://schemas.microsoft.com/office/drawing/2014/main" val="497077165"/>
                        </a:ext>
                      </a:extLst>
                    </a:gridCol>
                  </a:tblGrid>
                  <a:tr h="5151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latin typeface="Gill Sans MT" panose="020B0502020104020203" pitchFamily="34" charset="0"/>
                            </a:rPr>
                            <a:t>Alice’s Measurement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latin typeface="Gill Sans MT" panose="020B0502020104020203" pitchFamily="34" charset="0"/>
                            </a:rPr>
                            <a:t>Bob’s</a:t>
                          </a:r>
                        </a:p>
                        <a:p>
                          <a:pPr algn="ctr"/>
                          <a:r>
                            <a:rPr lang="en-US" sz="1800" dirty="0">
                              <a:latin typeface="Gill Sans MT" panose="020B0502020104020203" pitchFamily="34" charset="0"/>
                            </a:rPr>
                            <a:t>Qubit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latin typeface="Gill Sans MT" panose="020B0502020104020203" pitchFamily="34" charset="0"/>
                            </a:rPr>
                            <a:t>Operations to recover </a:t>
                          </a:r>
                          <a:r>
                            <a:rPr lang="en-US" sz="1800" i="1" dirty="0">
                              <a:latin typeface="Gill Sans MT" panose="020B0502020104020203" pitchFamily="34" charset="0"/>
                              <a:sym typeface="Symbol" panose="05050102010706020507" pitchFamily="18" charset="2"/>
                            </a:rPr>
                            <a:t></a:t>
                          </a:r>
                          <a:endParaRPr lang="en-US" sz="1800" i="1" dirty="0">
                            <a:latin typeface="Gill Sans MT" panose="020B050202010402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76020160"/>
                      </a:ext>
                    </a:extLst>
                  </a:tr>
                  <a:tr h="5151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Gill Sans MT" panose="020B0502020104020203" pitchFamily="34" charset="0"/>
                            </a:rPr>
                            <a:t>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i="1" dirty="0">
                              <a:latin typeface="Gill Sans MT" panose="020B0502020104020203" pitchFamily="34" charset="0"/>
                              <a:sym typeface="Symbol" panose="05050102010706020507" pitchFamily="18" charset="2"/>
                            </a:rPr>
                            <a:t> </a:t>
                          </a:r>
                          <a:r>
                            <a:rPr lang="en-US" sz="2400" dirty="0">
                              <a:latin typeface="Gill Sans MT" panose="020B0502020104020203" pitchFamily="34" charset="0"/>
                              <a:sym typeface="Symbol" panose="05050102010706020507" pitchFamily="18" charset="2"/>
                            </a:rPr>
                            <a:t>|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sz="2400" i="1" dirty="0" smtClean="0">
                                  <a:latin typeface="Gill Sans MT" panose="020B0502020104020203" pitchFamily="34" charset="0"/>
                                  <a:sym typeface="Symbol" panose="05050102010706020507" pitchFamily="18" charset="2"/>
                                </a:rPr>
                                <m:t></m:t>
                              </m:r>
                              <m:r>
                                <m:rPr>
                                  <m:nor/>
                                </m:rPr>
                                <a:rPr lang="en-US" sz="2400" b="0" i="0" dirty="0" smtClean="0">
                                  <a:latin typeface="Gill Sans MT" panose="020B0502020104020203" pitchFamily="34" charset="0"/>
                                  <a:sym typeface="Symbol" panose="05050102010706020507" pitchFamily="18" charset="2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dirty="0" smtClean="0">
                                  <a:latin typeface="Gill Sans MT" panose="020B0502020104020203" pitchFamily="34" charset="0"/>
                                  <a:sym typeface="Symbol" panose="05050102010706020507" pitchFamily="18" charset="2"/>
                                </a:rPr>
                                <m:t>|</m:t>
                              </m:r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endParaRPr lang="en-US" sz="2400" dirty="0">
                            <a:latin typeface="Gill Sans MT" panose="020B05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Gill Sans MT" panose="020B0502020104020203" pitchFamily="34" charset="0"/>
                            </a:rPr>
                            <a:t>Nothing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3588088"/>
                      </a:ext>
                    </a:extLst>
                  </a:tr>
                  <a:tr h="5151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Gill Sans MT" panose="020B0502020104020203" pitchFamily="34" charset="0"/>
                            </a:rPr>
                            <a:t>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>
                              <a:latin typeface="Gill Sans MT" panose="020B0502020104020203" pitchFamily="34" charset="0"/>
                              <a:sym typeface="Symbol" panose="05050102010706020507" pitchFamily="18" charset="2"/>
                            </a:rPr>
                            <a:t> </a:t>
                          </a:r>
                          <a:r>
                            <a:rPr lang="en-US" sz="2400" dirty="0">
                              <a:latin typeface="Gill Sans MT" panose="020B0502020104020203" pitchFamily="34" charset="0"/>
                              <a:sym typeface="Symbol" panose="05050102010706020507" pitchFamily="18" charset="2"/>
                            </a:rPr>
                            <a:t>|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i="1" dirty="0" smtClean="0">
                                  <a:latin typeface="Gill Sans MT" panose="020B0502020104020203" pitchFamily="34" charset="0"/>
                                  <a:sym typeface="Symbol" panose="05050102010706020507" pitchFamily="18" charset="2"/>
                                </a:rPr>
                                <m:t></m:t>
                              </m:r>
                              <m:r>
                                <m:rPr>
                                  <m:nor/>
                                </m:rPr>
                                <a:rPr lang="en-US" sz="2400" b="0" i="0" dirty="0" smtClean="0">
                                  <a:latin typeface="Gill Sans MT" panose="020B0502020104020203" pitchFamily="34" charset="0"/>
                                  <a:sym typeface="Symbol" panose="05050102010706020507" pitchFamily="18" charset="2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dirty="0" smtClean="0">
                                  <a:latin typeface="Gill Sans MT" panose="020B0502020104020203" pitchFamily="34" charset="0"/>
                                  <a:sym typeface="Symbol" panose="05050102010706020507" pitchFamily="18" charset="2"/>
                                </a:rPr>
                                <m:t>|</m:t>
                              </m:r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endParaRPr lang="en-US" sz="2400" dirty="0">
                            <a:latin typeface="Gill Sans MT" panose="020B05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>
                              <a:latin typeface="Gill Sans MT" panose="020B0502020104020203" pitchFamily="34" charset="0"/>
                            </a:rPr>
                            <a:t>Z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54734257"/>
                      </a:ext>
                    </a:extLst>
                  </a:tr>
                  <a:tr h="5151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Gill Sans MT" panose="020B0502020104020203" pitchFamily="34" charset="0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>
                              <a:latin typeface="Gill Sans MT" panose="020B0502020104020203" pitchFamily="34" charset="0"/>
                              <a:sym typeface="Symbol" panose="05050102010706020507" pitchFamily="18" charset="2"/>
                            </a:rPr>
                            <a:t> </a:t>
                          </a:r>
                          <a:r>
                            <a:rPr lang="en-US" sz="2400" dirty="0">
                              <a:latin typeface="Gill Sans MT" panose="020B0502020104020203" pitchFamily="34" charset="0"/>
                              <a:sym typeface="Symbol" panose="05050102010706020507" pitchFamily="18" charset="2"/>
                            </a:rPr>
                            <a:t>|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sz="2400" i="1" dirty="0" smtClean="0">
                                  <a:latin typeface="Gill Sans MT" panose="020B0502020104020203" pitchFamily="34" charset="0"/>
                                  <a:sym typeface="Symbol" panose="05050102010706020507" pitchFamily="18" charset="2"/>
                                </a:rPr>
                                <m:t></m:t>
                              </m:r>
                              <m:r>
                                <m:rPr>
                                  <m:nor/>
                                </m:rPr>
                                <a:rPr lang="en-US" sz="2400" b="0" i="0" dirty="0" smtClean="0">
                                  <a:latin typeface="Gill Sans MT" panose="020B0502020104020203" pitchFamily="34" charset="0"/>
                                  <a:sym typeface="Symbol" panose="05050102010706020507" pitchFamily="18" charset="2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dirty="0" smtClean="0">
                                  <a:latin typeface="Gill Sans MT" panose="020B0502020104020203" pitchFamily="34" charset="0"/>
                                  <a:sym typeface="Symbol" panose="05050102010706020507" pitchFamily="18" charset="2"/>
                                </a:rPr>
                                <m:t>|</m:t>
                              </m:r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0</m:t>
                                  </m:r>
                                </m:e>
                              </m:d>
                            </m:oMath>
                          </a14:m>
                          <a:endParaRPr lang="en-US" sz="2400" dirty="0">
                            <a:latin typeface="Gill Sans MT" panose="020B05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>
                              <a:latin typeface="Gill Sans MT" panose="020B0502020104020203" pitchFamily="34" charset="0"/>
                            </a:rPr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3857958"/>
                      </a:ext>
                    </a:extLst>
                  </a:tr>
                  <a:tr h="5151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Gill Sans MT" panose="020B0502020104020203" pitchFamily="34" charset="0"/>
                            </a:rPr>
                            <a:t>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>
                              <a:latin typeface="Gill Sans MT" panose="020B0502020104020203" pitchFamily="34" charset="0"/>
                              <a:sym typeface="Symbol" panose="05050102010706020507" pitchFamily="18" charset="2"/>
                            </a:rPr>
                            <a:t> </a:t>
                          </a:r>
                          <a:r>
                            <a:rPr lang="en-US" sz="2400" dirty="0">
                              <a:latin typeface="Gill Sans MT" panose="020B0502020104020203" pitchFamily="34" charset="0"/>
                              <a:sym typeface="Symbol" panose="05050102010706020507" pitchFamily="18" charset="2"/>
                            </a:rPr>
                            <a:t>|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i="1" dirty="0" smtClean="0">
                                  <a:latin typeface="Gill Sans MT" panose="020B0502020104020203" pitchFamily="34" charset="0"/>
                                  <a:sym typeface="Symbol" panose="05050102010706020507" pitchFamily="18" charset="2"/>
                                </a:rPr>
                                <m:t></m:t>
                              </m:r>
                              <m:r>
                                <m:rPr>
                                  <m:nor/>
                                </m:rPr>
                                <a:rPr lang="en-US" sz="2400" b="0" i="0" dirty="0" smtClean="0">
                                  <a:latin typeface="Gill Sans MT" panose="020B0502020104020203" pitchFamily="34" charset="0"/>
                                  <a:sym typeface="Symbol" panose="05050102010706020507" pitchFamily="18" charset="2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dirty="0" smtClean="0">
                                  <a:latin typeface="Gill Sans MT" panose="020B0502020104020203" pitchFamily="34" charset="0"/>
                                  <a:sym typeface="Symbol" panose="05050102010706020507" pitchFamily="18" charset="2"/>
                                </a:rPr>
                                <m:t>|</m:t>
                              </m:r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0</m:t>
                                  </m:r>
                                </m:e>
                              </m:d>
                            </m:oMath>
                          </a14:m>
                          <a:endParaRPr lang="en-US" sz="2400" dirty="0">
                            <a:latin typeface="Gill Sans MT" panose="020B05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Gill Sans MT" panose="020B0502020104020203" pitchFamily="34" charset="0"/>
                            </a:rPr>
                            <a:t>First </a:t>
                          </a:r>
                          <a:r>
                            <a:rPr lang="en-US" sz="2400" i="1" dirty="0">
                              <a:latin typeface="Gill Sans MT" panose="020B0502020104020203" pitchFamily="34" charset="0"/>
                            </a:rPr>
                            <a:t>X</a:t>
                          </a:r>
                          <a:r>
                            <a:rPr lang="en-US" sz="2400" dirty="0">
                              <a:latin typeface="Gill Sans MT" panose="020B0502020104020203" pitchFamily="34" charset="0"/>
                            </a:rPr>
                            <a:t> then </a:t>
                          </a:r>
                          <a:r>
                            <a:rPr lang="en-US" sz="2400" i="1" dirty="0">
                              <a:latin typeface="Gill Sans MT" panose="020B0502020104020203" pitchFamily="34" charset="0"/>
                            </a:rPr>
                            <a:t>Z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31819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39A6A28B-1768-A99F-BD1B-476AFD6B52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3706593"/>
                  </p:ext>
                </p:extLst>
              </p:nvPr>
            </p:nvGraphicFramePr>
            <p:xfrm>
              <a:off x="1354347" y="3289190"/>
              <a:ext cx="5615795" cy="27005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42536">
                      <a:extLst>
                        <a:ext uri="{9D8B030D-6E8A-4147-A177-3AD203B41FA5}">
                          <a16:colId xmlns:a16="http://schemas.microsoft.com/office/drawing/2014/main" val="1532956633"/>
                        </a:ext>
                      </a:extLst>
                    </a:gridCol>
                    <a:gridCol w="1802921">
                      <a:extLst>
                        <a:ext uri="{9D8B030D-6E8A-4147-A177-3AD203B41FA5}">
                          <a16:colId xmlns:a16="http://schemas.microsoft.com/office/drawing/2014/main" val="3578956566"/>
                        </a:ext>
                      </a:extLst>
                    </a:gridCol>
                    <a:gridCol w="2070338">
                      <a:extLst>
                        <a:ext uri="{9D8B030D-6E8A-4147-A177-3AD203B41FA5}">
                          <a16:colId xmlns:a16="http://schemas.microsoft.com/office/drawing/2014/main" val="49707716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latin typeface="Gill Sans MT" panose="020B0502020104020203" pitchFamily="34" charset="0"/>
                            </a:rPr>
                            <a:t>Alice’s Measurement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latin typeface="Gill Sans MT" panose="020B0502020104020203" pitchFamily="34" charset="0"/>
                            </a:rPr>
                            <a:t>Bob’s</a:t>
                          </a:r>
                        </a:p>
                        <a:p>
                          <a:pPr algn="ctr"/>
                          <a:r>
                            <a:rPr lang="en-US" sz="1800" dirty="0">
                              <a:latin typeface="Gill Sans MT" panose="020B0502020104020203" pitchFamily="34" charset="0"/>
                            </a:rPr>
                            <a:t>Qubit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latin typeface="Gill Sans MT" panose="020B0502020104020203" pitchFamily="34" charset="0"/>
                            </a:rPr>
                            <a:t>Operations to recover </a:t>
                          </a:r>
                          <a:r>
                            <a:rPr lang="en-US" sz="1800" i="1" dirty="0">
                              <a:latin typeface="Gill Sans MT" panose="020B0502020104020203" pitchFamily="34" charset="0"/>
                              <a:sym typeface="Symbol" panose="05050102010706020507" pitchFamily="18" charset="2"/>
                            </a:rPr>
                            <a:t></a:t>
                          </a:r>
                          <a:endParaRPr lang="en-US" sz="1800" i="1" dirty="0">
                            <a:latin typeface="Gill Sans MT" panose="020B050202010402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76020160"/>
                      </a:ext>
                    </a:extLst>
                  </a:tr>
                  <a:tr h="5151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Gill Sans MT" panose="020B0502020104020203" pitchFamily="34" charset="0"/>
                            </a:rPr>
                            <a:t>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6959" t="-129412" r="-116216" b="-46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Gill Sans MT" panose="020B0502020104020203" pitchFamily="34" charset="0"/>
                            </a:rPr>
                            <a:t>Nothing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3588088"/>
                      </a:ext>
                    </a:extLst>
                  </a:tr>
                  <a:tr h="5151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Gill Sans MT" panose="020B0502020104020203" pitchFamily="34" charset="0"/>
                            </a:rPr>
                            <a:t>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6959" t="-229412" r="-116216" b="-36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>
                              <a:latin typeface="Gill Sans MT" panose="020B0502020104020203" pitchFamily="34" charset="0"/>
                            </a:rPr>
                            <a:t>Z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54734257"/>
                      </a:ext>
                    </a:extLst>
                  </a:tr>
                  <a:tr h="5151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Gill Sans MT" panose="020B0502020104020203" pitchFamily="34" charset="0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6959" t="-333333" r="-116216" b="-27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>
                              <a:latin typeface="Gill Sans MT" panose="020B0502020104020203" pitchFamily="34" charset="0"/>
                            </a:rPr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3857958"/>
                      </a:ext>
                    </a:extLst>
                  </a:tr>
                  <a:tr h="5151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Gill Sans MT" panose="020B0502020104020203" pitchFamily="34" charset="0"/>
                            </a:rPr>
                            <a:t>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6959" t="-428235" r="-116216" b="-17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Gill Sans MT" panose="020B0502020104020203" pitchFamily="34" charset="0"/>
                            </a:rPr>
                            <a:t>First </a:t>
                          </a:r>
                          <a:r>
                            <a:rPr lang="en-US" sz="2400" i="1" dirty="0">
                              <a:latin typeface="Gill Sans MT" panose="020B0502020104020203" pitchFamily="34" charset="0"/>
                            </a:rPr>
                            <a:t>X</a:t>
                          </a:r>
                          <a:r>
                            <a:rPr lang="en-US" sz="2400" dirty="0">
                              <a:latin typeface="Gill Sans MT" panose="020B0502020104020203" pitchFamily="34" charset="0"/>
                            </a:rPr>
                            <a:t> then </a:t>
                          </a:r>
                          <a:r>
                            <a:rPr lang="en-US" sz="2400" i="1" dirty="0">
                              <a:latin typeface="Gill Sans MT" panose="020B0502020104020203" pitchFamily="34" charset="0"/>
                            </a:rPr>
                            <a:t>Z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31819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7435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4827D-3DD4-225B-86EA-476D7436B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An Application of the EPR States: Class Activity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1B18A8-289F-67F6-8511-5D28699F80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4915619" cy="132556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400" dirty="0"/>
                  <a:t>Suppose that Alice knows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  </a:t>
                </a:r>
                <a:r>
                  <a:rPr lang="en-US" sz="2400" dirty="0"/>
                  <a:t>and she would like to securely transmit the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it to Bob.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1B18A8-289F-67F6-8511-5D28699F80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4915619" cy="1325563"/>
              </a:xfrm>
              <a:blipFill>
                <a:blip r:embed="rId2"/>
                <a:stretch>
                  <a:fillRect l="-1611" t="-4128" r="-3346" b="-58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710258-B396-9A9E-F978-AC22B30BB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64EDD-88B9-54AE-5038-BF5DCC13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A18D8F-68B1-A431-3002-691CF8313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561" y="3196035"/>
            <a:ext cx="9070697" cy="34313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B3EE5FC-7500-70AE-42BD-755E2E379F5F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915619" cy="16414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dirty="0"/>
              <a:t>Using an EPR state and an agreed upon protocol, she can transmit this qubit to Bob by transmitting just one bit!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0697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7021-5323-3AEB-3975-9C3B91032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Superdense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54453-E550-BA45-BB7A-B1074BE42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Superdense coding is a protocol that, in some sense, achieves a complementary aim to teleportation. </a:t>
            </a:r>
          </a:p>
          <a:p>
            <a:endParaRPr lang="en-US" sz="2400" dirty="0"/>
          </a:p>
          <a:p>
            <a:r>
              <a:rPr lang="en-US" sz="2400" dirty="0"/>
              <a:t>Rather than allowing for the transmission of one qubit using two classical bits of communication (at the cost of one e-bit of entanglement), it allows for the transmission of two classical bits using one qubit of quantum communication (again, at the cost of one e-bit of entanglement).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67A75-2A63-030A-D803-F443F81F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E13EA3-7412-961E-CAD9-8896157B5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54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0C0F-D763-93CD-50FC-306CB2EE6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Superdense Coding – Circuit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52C748-8F14-E53D-0DA4-25D8D71C4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6675E-3A05-280B-4354-0E8FFC17C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E41A39-0E58-4D60-6253-7DAFE42E9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34" y="1735930"/>
            <a:ext cx="8167598" cy="391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8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1C480-5E79-D2F5-0752-447B740A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Superdense Coding – Setup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FAA43-2EE6-168B-EFE5-F8B2B858C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Alice has two classical bits </a:t>
            </a:r>
            <a:r>
              <a:rPr lang="en-US" sz="2400" i="1" dirty="0"/>
              <a:t>a</a:t>
            </a:r>
            <a:r>
              <a:rPr lang="en-US" sz="2400" dirty="0"/>
              <a:t> and </a:t>
            </a:r>
            <a:r>
              <a:rPr lang="en-US" sz="2400" i="1" dirty="0"/>
              <a:t>b.</a:t>
            </a:r>
          </a:p>
          <a:p>
            <a:endParaRPr lang="en-US" sz="2400" i="1" dirty="0"/>
          </a:p>
          <a:p>
            <a:r>
              <a:rPr lang="en-US" sz="2400" dirty="0"/>
              <a:t>Both Alice and Bob share one qubit of an EPR Pair.</a:t>
            </a:r>
          </a:p>
          <a:p>
            <a:endParaRPr lang="en-US" sz="2400" dirty="0"/>
          </a:p>
          <a:p>
            <a:r>
              <a:rPr lang="en-US" sz="2400" dirty="0"/>
              <a:t>Alice applies some unitary operations to her qubit, based on her classical bits and sends the qubit to Bob.</a:t>
            </a:r>
          </a:p>
          <a:p>
            <a:endParaRPr lang="en-US" sz="2400" dirty="0"/>
          </a:p>
          <a:p>
            <a:r>
              <a:rPr lang="en-US" sz="2400" dirty="0"/>
              <a:t>Bob, after applying some unitary operations to Alice’s qubit, measure both qubits. He recovers </a:t>
            </a:r>
            <a:r>
              <a:rPr lang="en-US" sz="2400" i="1" dirty="0"/>
              <a:t>a</a:t>
            </a:r>
            <a:r>
              <a:rPr lang="en-US" sz="2400" dirty="0"/>
              <a:t> and </a:t>
            </a:r>
            <a:r>
              <a:rPr lang="en-US" sz="2400" i="1" dirty="0"/>
              <a:t>b</a:t>
            </a:r>
            <a:r>
              <a:rPr lang="en-US" sz="2400" dirty="0"/>
              <a:t>, the original classical bits with Alice.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B4C654-3335-0365-C687-91A563E16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AE09F-12D4-2116-F9C6-51E0C73D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02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EDAE9-7889-AB8A-7780-5CA855A93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Superdense Coding – Protocol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39CCE1-C8AD-9E69-8CE5-C05C1A3D0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40F6C-78FE-7704-BC50-504A10D8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97B371-F024-8F3C-80CF-5FE96F648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77" y="2334877"/>
            <a:ext cx="10796423" cy="342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75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2F28-92B8-EACD-3C55-5802B1528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Superdense Coding –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68B3-44F1-25B0-2D80-0170CC491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39906" cy="4351338"/>
          </a:xfrm>
        </p:spPr>
        <p:txBody>
          <a:bodyPr>
            <a:normAutofit/>
          </a:bodyPr>
          <a:lstStyle/>
          <a:p>
            <a:r>
              <a:rPr lang="en-US" sz="2400" dirty="0"/>
              <a:t>Note that the symbols for the Bell States are: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ABDFC-015E-6838-7516-0B15959FF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2A8AE-6280-7C4F-CBD9-2F5B4CE0F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C5B4AF-ACF6-CECE-6C39-21F252146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212" y="2855161"/>
            <a:ext cx="3584877" cy="312383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A18CE76-37DF-4123-7F0B-15BFAF5F9F54}"/>
              </a:ext>
            </a:extLst>
          </p:cNvPr>
          <p:cNvSpPr txBox="1">
            <a:spLocks/>
          </p:cNvSpPr>
          <p:nvPr/>
        </p:nvSpPr>
        <p:spPr>
          <a:xfrm>
            <a:off x="6213896" y="1825625"/>
            <a:ext cx="56459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Based on the values of </a:t>
            </a:r>
            <a:r>
              <a:rPr 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a</a:t>
            </a:r>
            <a:r>
              <a:rPr lang="en-US" sz="2400" i="1" dirty="0"/>
              <a:t> </a:t>
            </a:r>
            <a:r>
              <a:rPr lang="en-US" sz="2400" dirty="0"/>
              <a:t>and </a:t>
            </a:r>
            <a:r>
              <a:rPr lang="en-US" sz="2400" i="1" dirty="0"/>
              <a:t>b</a:t>
            </a:r>
            <a:r>
              <a:rPr lang="en-US" sz="2400" dirty="0"/>
              <a:t>, Alice applies the following operations on her qubit.</a:t>
            </a:r>
          </a:p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The following represents these operations with the results shown.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23CE76-349F-C475-F851-C5A50F03B0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461" r="9233"/>
          <a:stretch/>
        </p:blipFill>
        <p:spPr>
          <a:xfrm>
            <a:off x="8893841" y="4248325"/>
            <a:ext cx="3010619" cy="1850549"/>
          </a:xfrm>
          <a:prstGeom prst="rect">
            <a:avLst/>
          </a:prstGeom>
        </p:spPr>
      </p:pic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EE5BDAE6-9703-35CC-84FB-89C66912F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725863"/>
              </p:ext>
            </p:extLst>
          </p:nvPr>
        </p:nvGraphicFramePr>
        <p:xfrm>
          <a:off x="6443934" y="4259199"/>
          <a:ext cx="241539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5396">
                  <a:extLst>
                    <a:ext uri="{9D8B030D-6E8A-4147-A177-3AD203B41FA5}">
                      <a16:colId xmlns:a16="http://schemas.microsoft.com/office/drawing/2014/main" val="2888934550"/>
                    </a:ext>
                  </a:extLst>
                </a:gridCol>
              </a:tblGrid>
              <a:tr h="430402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a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 = 0, </a:t>
                      </a:r>
                      <a:r>
                        <a:rPr lang="en-US" sz="2400" b="1" i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b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 = 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6356"/>
                  </a:ext>
                </a:extLst>
              </a:tr>
              <a:tr h="4304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a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 = 0, </a:t>
                      </a:r>
                      <a:r>
                        <a:rPr lang="en-US" sz="2400" b="1" i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b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 = 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376341"/>
                  </a:ext>
                </a:extLst>
              </a:tr>
              <a:tr h="4304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a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 = 1, </a:t>
                      </a:r>
                      <a:r>
                        <a:rPr lang="en-US" sz="2400" b="1" i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b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 = 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317770"/>
                  </a:ext>
                </a:extLst>
              </a:tr>
              <a:tr h="4304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a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 = 1, </a:t>
                      </a:r>
                      <a:r>
                        <a:rPr lang="en-US" sz="2400" b="1" i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b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 = 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664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8414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57711-A50A-7CE3-C6D9-1EFEC268A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Superdense Coding – Analysis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4CC04C-DA56-1B74-0A54-82A6A73C1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E2892-5B15-176A-1DD5-85ADD30B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4B6BDE-80D4-1351-D338-08B73E4CEF12}"/>
              </a:ext>
            </a:extLst>
          </p:cNvPr>
          <p:cNvSpPr txBox="1"/>
          <p:nvPr/>
        </p:nvSpPr>
        <p:spPr>
          <a:xfrm>
            <a:off x="1009292" y="2027208"/>
            <a:ext cx="49084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Bob, after receiving Alice’s qubit applies a CNOT followed by a Hadamard on the received as well as his qubit.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Gill Sans MT" panose="020B05020201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He then measures these two qubits.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Gill Sans MT" panose="020B05020201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The results are shown here.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Gill Sans MT" panose="020B05020201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As a result of this measurement, he recovers </a:t>
            </a:r>
            <a:r>
              <a:rPr lang="en-US" sz="2400" i="1" dirty="0">
                <a:latin typeface="Gill Sans MT" panose="020B0502020104020203" pitchFamily="34" charset="0"/>
              </a:rPr>
              <a:t>a</a:t>
            </a:r>
            <a:r>
              <a:rPr lang="en-US" sz="2400" dirty="0">
                <a:latin typeface="Gill Sans MT" panose="020B0502020104020203" pitchFamily="34" charset="0"/>
              </a:rPr>
              <a:t> and </a:t>
            </a:r>
            <a:r>
              <a:rPr lang="en-US" sz="2400" i="1" dirty="0">
                <a:latin typeface="Gill Sans MT" panose="020B0502020104020203" pitchFamily="34" charset="0"/>
              </a:rPr>
              <a:t>b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A31A0C-D7BE-5273-876E-DDDD80409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4061256"/>
            <a:ext cx="2470497" cy="20469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31AAD0-B8D3-A1E9-4661-EE6A9BED4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123" y="1867545"/>
            <a:ext cx="4577326" cy="219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9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646CE-2E33-4463-7B02-C41C5651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The CHSH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9B54F-9908-9092-21CB-3E87BBDA5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71517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Here we just give an overview of the game.</a:t>
            </a:r>
          </a:p>
          <a:p>
            <a:r>
              <a:rPr lang="en-US" dirty="0"/>
              <a:t>Alice and Bob are in two separate places with no communication between them.</a:t>
            </a:r>
          </a:p>
          <a:p>
            <a:r>
              <a:rPr lang="en-US" dirty="0"/>
              <a:t>A Referee communicates with Alice and Bob, and they in turn communicate with the referee.</a:t>
            </a:r>
          </a:p>
          <a:p>
            <a:r>
              <a:rPr lang="en-US" dirty="0"/>
              <a:t>The referee asks questions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with Alice and Bob.</a:t>
            </a:r>
          </a:p>
          <a:p>
            <a:r>
              <a:rPr lang="en-US" dirty="0"/>
              <a:t>Alice and Bob reply with answers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43D30-59DD-97A2-49B5-DA047CC7B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0A6D3E-7CB7-0099-03CB-AA8371DB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AC3809-E882-2676-B99B-FFFAE84D9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827" y="2171794"/>
            <a:ext cx="4525291" cy="374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149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09886-7B91-23F6-6B4C-1DA304424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The CHSH Game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FF3AC9-5713-14F7-A17D-79A42D54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903F6-44E4-3953-1885-05733E14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20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627B0D1-F5F4-8B2F-A42B-1F484109E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45" y="2274108"/>
            <a:ext cx="8341169" cy="33820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341ED3-8339-726E-4BBB-9F265E364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722" y="2781459"/>
            <a:ext cx="2989494" cy="234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84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1293-DA27-CA75-9578-0846D0E4B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The CHSH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CF6A4-167C-9596-0538-0A19A8C4F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best classical strategy gives a winning probability of ¾ = 75%.</a:t>
            </a:r>
          </a:p>
          <a:p>
            <a:r>
              <a:rPr lang="en-US" sz="2400" dirty="0"/>
              <a:t>Using a quantum strategy gives a winning probability of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This is a significant improvement over the classical strategy.</a:t>
            </a:r>
          </a:p>
          <a:p>
            <a:r>
              <a:rPr lang="en-US" sz="2400" dirty="0"/>
              <a:t>Details of the analysis can be found in </a:t>
            </a:r>
            <a:r>
              <a:rPr lang="en-US" sz="2400" dirty="0">
                <a:hlinkClick r:id="rId2"/>
              </a:rPr>
              <a:t>https://learning.quantum.ibm.com/course/basics-of-quantum-information</a:t>
            </a:r>
            <a:r>
              <a:rPr lang="en-US" sz="2400">
                <a:hlinkClick r:id="rId2"/>
              </a:rPr>
              <a:t>/entanglement-in-action</a:t>
            </a:r>
            <a:r>
              <a:rPr lang="en-US" sz="2400"/>
              <a:t> </a:t>
            </a: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5D454F-D432-A567-C49F-C2A38A19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CD453-9F0F-48F1-66E1-8F41AFEA5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E4DD51-C136-1F7B-B304-1DE2C76A5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951" y="2817347"/>
            <a:ext cx="2753109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949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226AD-9364-8AE9-3FE9-686AE1EEB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C2F74-9C8F-C0B9-8B1E-DDBD122A3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unit, we studied quantum teleportation as well superdense coding as applications of entanglement.</a:t>
            </a:r>
          </a:p>
          <a:p>
            <a:r>
              <a:rPr lang="en-US" dirty="0"/>
              <a:t>We observed that both of these can be defined as complementary operations.</a:t>
            </a:r>
          </a:p>
          <a:p>
            <a:r>
              <a:rPr lang="en-US" dirty="0"/>
              <a:t>We also presented the </a:t>
            </a:r>
            <a:r>
              <a:rPr lang="en-US" i="1" dirty="0"/>
              <a:t>no-cloning theorem</a:t>
            </a:r>
            <a:r>
              <a:rPr lang="en-US" dirty="0"/>
              <a:t>, which states that it is not possible to clone an arbitrary quantum state.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7FA925-3743-6030-82DE-E065EB57B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9FD133-8ED8-9383-5680-71810B6A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0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5709</TotalTime>
  <Words>1034</Words>
  <Application>Microsoft Office PowerPoint</Application>
  <PresentationFormat>Widescreen</PresentationFormat>
  <Paragraphs>152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Consolas</vt:lpstr>
      <vt:lpstr>Gill Sans MT</vt:lpstr>
      <vt:lpstr>Times New Roman</vt:lpstr>
      <vt:lpstr>Office Theme</vt:lpstr>
      <vt:lpstr>CS/PHYS-314/300: Quantum Computing  Unit 06: Entanglement Applications</vt:lpstr>
      <vt:lpstr> Unit Outline</vt:lpstr>
      <vt:lpstr> Quantum Teleportation</vt:lpstr>
      <vt:lpstr> Quantum Teleportation - Setup</vt:lpstr>
      <vt:lpstr> Circuit for Quantum Teleportation</vt:lpstr>
      <vt:lpstr> Quantum Teleportation Protocol</vt:lpstr>
      <vt:lpstr> Quantum Teleportation – Analysis*   [* Note the order of qubits in the Qiskit Book] </vt:lpstr>
      <vt:lpstr> Quantum Teleportation – Analysis*   [* Note the order of qubits in the Qiskit Book] </vt:lpstr>
      <vt:lpstr> Quantum Teleportation – Analysis*   [* Note the order of qubits in the Qiskit Book] </vt:lpstr>
      <vt:lpstr> Quantum Teleportation – Analysis*  [* Note the order of qubits in the Qiskit Book] </vt:lpstr>
      <vt:lpstr>  Quantum Teleportation – Analysis*  [* Note the order of qubits in the Qiskit Book] </vt:lpstr>
      <vt:lpstr> An Application of the EPR States: Class Activity</vt:lpstr>
      <vt:lpstr> Superdense Coding</vt:lpstr>
      <vt:lpstr> Superdense Coding – Circuit </vt:lpstr>
      <vt:lpstr> Superdense Coding – Setup </vt:lpstr>
      <vt:lpstr> Superdense Coding – Protocol</vt:lpstr>
      <vt:lpstr> Superdense Coding – Analysis </vt:lpstr>
      <vt:lpstr> Superdense Coding – Analysis </vt:lpstr>
      <vt:lpstr> The CHSH Game</vt:lpstr>
      <vt:lpstr> The CHSH Game</vt:lpstr>
      <vt:lpstr> The CHSH Game</vt:lpstr>
      <vt:lpstr>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Faisal Alvi</dc:creator>
  <cp:lastModifiedBy>Faisal Alvi</cp:lastModifiedBy>
  <cp:revision>685</cp:revision>
  <dcterms:created xsi:type="dcterms:W3CDTF">2022-04-01T09:51:06Z</dcterms:created>
  <dcterms:modified xsi:type="dcterms:W3CDTF">2026-09-23T11:53:09Z</dcterms:modified>
</cp:coreProperties>
</file>