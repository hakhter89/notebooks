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62" r:id="rId2"/>
    <p:sldId id="264" r:id="rId3"/>
    <p:sldId id="491" r:id="rId4"/>
    <p:sldId id="555" r:id="rId5"/>
    <p:sldId id="551" r:id="rId6"/>
    <p:sldId id="552" r:id="rId7"/>
    <p:sldId id="556" r:id="rId8"/>
    <p:sldId id="553" r:id="rId9"/>
    <p:sldId id="557" r:id="rId10"/>
    <p:sldId id="525" r:id="rId11"/>
    <p:sldId id="541" r:id="rId12"/>
    <p:sldId id="542" r:id="rId13"/>
    <p:sldId id="526" r:id="rId14"/>
    <p:sldId id="543" r:id="rId15"/>
    <p:sldId id="544" r:id="rId16"/>
    <p:sldId id="545" r:id="rId17"/>
    <p:sldId id="546" r:id="rId18"/>
    <p:sldId id="547" r:id="rId19"/>
    <p:sldId id="548" r:id="rId20"/>
    <p:sldId id="549" r:id="rId21"/>
    <p:sldId id="550" r:id="rId22"/>
    <p:sldId id="554" r:id="rId23"/>
    <p:sldId id="560" r:id="rId24"/>
    <p:sldId id="558" r:id="rId25"/>
    <p:sldId id="559" r:id="rId26"/>
    <p:sldId id="562" r:id="rId27"/>
    <p:sldId id="563" r:id="rId28"/>
    <p:sldId id="564" r:id="rId29"/>
    <p:sldId id="565" r:id="rId30"/>
    <p:sldId id="566" r:id="rId31"/>
    <p:sldId id="568" r:id="rId32"/>
    <p:sldId id="569" r:id="rId33"/>
    <p:sldId id="570" r:id="rId34"/>
    <p:sldId id="57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FFCC"/>
    <a:srgbClr val="CCFFFF"/>
    <a:srgbClr val="99FFCC"/>
    <a:srgbClr val="FF9999"/>
    <a:srgbClr val="FF00FF"/>
    <a:srgbClr val="0066CC"/>
    <a:srgbClr val="3F1749"/>
    <a:srgbClr val="660033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 snapToGrid="0">
      <p:cViewPr varScale="1">
        <p:scale>
          <a:sx n="74" d="100"/>
          <a:sy n="74" d="100"/>
        </p:scale>
        <p:origin x="364" y="60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C6DF84-CD1F-4FA6-8BC8-E893B696DB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EE00F5-A9A7-4164-9154-87868DA7B4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835A1-0E46-4E70-BE50-D16D92BA4F06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8731D-8B59-4095-B77A-4BC76754C1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1D674-0CD9-4F38-9541-10F8D4CF12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A66C0-A5B3-4976-B3B0-D5887CB7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49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04257-2063-464D-8392-2DAA70F807F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DBBA1-8DB8-4FE4-8A77-5307E3FF1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5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EC820-F06A-4B86-BF0B-B3F6612CA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54DBB-C47C-49E9-9D9C-CA5C80EA2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Gill Sans MT" panose="020B05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0DD88-B242-467D-BEB5-FB8F7EF9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69A8C-3893-4697-8DCE-E8D29603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924B38-6344-1101-CED8-B9C1500E80E7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29A5D-1308-E10C-202B-3DEF0CAECB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15566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A5013-5E51-49C0-BC22-8E93E632C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381" y="410368"/>
            <a:ext cx="12192000" cy="1325563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	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E4D83-D539-4263-B106-C711256BE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894F8B-ED69-49D9-B6CD-CC002E9B2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2B2E41-6AC9-4EA2-B3F7-D0541296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9705D3-83C8-16A9-3AE4-F96B6A26C65F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AF1FB-19E1-0DAE-FD18-DC60EDFAAC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81845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20FEA-A9EE-4984-A777-E95860841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5FA1F-94A1-45CE-84C6-23F77E0C3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D99CA-D285-4F1A-9EF3-9FF6A7537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F42B6-DC9F-4E20-85F3-748AB2CF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B8D539-AF05-6879-DBE7-958561F71780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3BFEB-A61A-BC44-0BF0-D7A0547C8C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85622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21E5E-0811-4F8F-B2BD-F0EA8FE0D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19ED3-0C43-4509-8413-12035F885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11BA6-FC26-4989-AC9B-C61626147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FBF8E-11D8-47C3-B42E-CB9685CA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F29262B-DCE4-453C-AC44-46A76531A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FFAA2E-80D3-7C42-DC59-98E39C2D21B7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F00280-50F5-5F70-653E-910E8D8B6E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7188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1E841-4E40-4E94-9C41-48CA6FFFA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Gill Sans MT" panose="020B05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33963-8E17-4AED-BD0A-6C7EDF769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9669F-0CC8-486E-A29E-8F810DC05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Gill Sans MT" panose="020B05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D48C6F-C450-4648-9828-249C92913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D1B2B-27A1-4F00-A12E-45D62A00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17AE76-9D91-4D7D-9245-EF3809963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5BDD155-2A18-4842-8FBF-76C05561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EFABF-4B26-80A9-1902-8F1C022B8FBD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DFECC7-AF09-1B48-F3CE-2C13C1020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56621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E2322-36E5-40B2-B77C-3FEDCE71F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CF9BB-D046-456C-9FE7-4EF522F8F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15D108B-C064-4DBF-88BA-3195AD63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7005D-A76C-B48A-033D-BD4761CD5221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B081A7-AD93-2EB6-E24F-3D29243269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59255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C6141-32E6-4033-A96E-2767E51E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1312C-54FA-4E5C-A078-885B1740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C24A72-8058-B3A9-85FC-3D15768C0226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028F2-BBFF-021F-3D35-1EF63AF80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07375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F386-C2A1-4165-AA90-A143B880E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5B62E-7997-4D6A-894F-CBFA127EA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Gill Sans MT" panose="020B0502020104020203" pitchFamily="34" charset="0"/>
              </a:defRPr>
            </a:lvl1pPr>
            <a:lvl2pPr>
              <a:defRPr sz="2800">
                <a:latin typeface="Gill Sans MT" panose="020B0502020104020203" pitchFamily="34" charset="0"/>
              </a:defRPr>
            </a:lvl2pPr>
            <a:lvl3pPr>
              <a:defRPr sz="2400">
                <a:latin typeface="Gill Sans MT" panose="020B0502020104020203" pitchFamily="34" charset="0"/>
              </a:defRPr>
            </a:lvl3pPr>
            <a:lvl4pPr>
              <a:defRPr sz="2000">
                <a:latin typeface="Gill Sans MT" panose="020B0502020104020203" pitchFamily="34" charset="0"/>
              </a:defRPr>
            </a:lvl4pPr>
            <a:lvl5pPr>
              <a:defRPr sz="2000">
                <a:latin typeface="Gill Sans MT" panose="020B05020201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69036-BD0D-405E-ABE5-3182D7948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ill Sans MT" panose="020B05020201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81FBA-E5AB-4AE8-AD85-5CEC95094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195D8-F0EB-4DED-84FF-85995992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CB8084-E2C0-B052-D570-30CCC80650D2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89BFB-2DDC-58C5-D56B-835ECD4851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2396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EEA1B-D3EA-4191-B9A2-C992A45E7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61EAE-65C4-4E5D-9671-81BC47EE3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9A2D6-4D6D-46D5-A4DA-2F27FD63A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ill Sans MT" panose="020B05020201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DD90B-51A9-4BB5-8E85-28B0FF6D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05A6B-C7C7-40DC-AD0A-81C8E82E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9A52A7-B87F-6F5D-9D3D-0E043AC9BCEC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7219D-390B-2454-591A-C0C352CC48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524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4ED30-B69B-4F0A-B2A1-AEF6DCC0A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A1C9C-5BCD-4DA9-AEAC-A9DF4661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65505-CACA-43A9-9065-9CB6A657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6A8C93-9DFB-40D7-BBC9-8ABC8B9063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09C756-9073-F325-5EB0-5206EFDFD988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80842B-CD63-C3F6-F359-880E7D73A9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231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BE4F7F-D510-4E3E-ADF8-0BBCAFBEF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16348-6040-4EC7-84FA-ACD6AE03C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69F16-A748-4C8D-A3E5-A464C526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61486-9E05-4F23-A92B-A1B7ABF5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69A90D-1D2D-54EC-460B-80A244499CF5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77A213-4704-FD9B-256C-40AB15D0AD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924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8F7C8-354E-4F2A-8234-DE180760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D10E1-2BF3-41D1-8698-8FAD6110C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98958-B1D7-4842-BAFF-219194268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BA6A7-670D-4A8E-A302-1B47C3B95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8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isal.alvi@sse.habib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rqmIVeheTVU?si=VZOGrgpJKDKWHEJh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F689-049A-5781-A66E-033ED88C0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551" y="1122363"/>
            <a:ext cx="11714922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2700" dirty="0"/>
              <a:t>CS/PHYS-314/300: Quantum Computing</a:t>
            </a:r>
            <a:br>
              <a:rPr lang="en-US" sz="3600" dirty="0"/>
            </a:br>
            <a:br>
              <a:rPr lang="en-US" sz="3600" dirty="0"/>
            </a:br>
            <a:r>
              <a:rPr lang="en-US" dirty="0"/>
              <a:t>Unit 04:</a:t>
            </a:r>
            <a:br>
              <a:rPr lang="en-US" dirty="0"/>
            </a:br>
            <a:r>
              <a:rPr lang="en-US" dirty="0"/>
              <a:t>Multiple Qubit Systems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20C7-F1FC-0FDE-ABA7-47DA4A7A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C26B2-ABC0-0DDD-0A2C-573D9B13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4E332-59FA-A702-3302-E9C13C7D4461}"/>
              </a:ext>
            </a:extLst>
          </p:cNvPr>
          <p:cNvSpPr txBox="1"/>
          <p:nvPr/>
        </p:nvSpPr>
        <p:spPr>
          <a:xfrm>
            <a:off x="477078" y="26504"/>
            <a:ext cx="11714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Habib University – Shaping Futures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29C37EA-5D66-A27C-EB91-FF555785C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035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Gill Sans MT"/>
              </a:rPr>
              <a:t>Faisal Alvi</a:t>
            </a: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r>
              <a:rPr lang="en-US" sz="1800" dirty="0">
                <a:latin typeface="Gill Sans MT"/>
              </a:rPr>
              <a:t>(For any suggested modifications please email: </a:t>
            </a:r>
            <a:r>
              <a:rPr lang="en-US" sz="1800" dirty="0">
                <a:latin typeface="Consolas" panose="020B0609020204030204" pitchFamily="49" charset="0"/>
                <a:hlinkClick r:id="rId2"/>
              </a:rPr>
              <a:t>faisal.alvi@sse.habib.edu.pk</a:t>
            </a:r>
            <a:r>
              <a:rPr lang="en-US" sz="1800" dirty="0">
                <a:latin typeface="Gill Sans MT"/>
              </a:rPr>
              <a:t>)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39313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3E23-B2FF-967B-635C-715BE842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Unit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88074-EB1B-1FEF-394D-487B31B95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08" y="1825625"/>
            <a:ext cx="10597792" cy="4351338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Multiple Qubit Systems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Total Measurement 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Partial Measurement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Entanglement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Summary</a:t>
            </a:r>
            <a:endParaRPr lang="en-US" sz="1800" dirty="0"/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800" dirty="0"/>
              <a:t>[Reference] https://quantum.cloud.ibm.com/learning/en/courses/basics-of-quantum-information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9D961-DA95-BD15-156F-92217214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D456-772D-AD8C-9483-FAA0876A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5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C85A8-C085-E230-0D07-3FDCA17E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Multiple Qubit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FA010-A35E-F121-9277-461738C77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So far we have seen single qubit systems.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We have also studied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Operations (or Quantum Gates) that can be applied on single qubit systems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Bloch Sphere Representation of a Single Qubit.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In this unit we will study multiple qubit systems.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In particular, we will cover the idea of entanglement; as well as several other unitary gates involving multiple qubit systems.</a:t>
            </a:r>
            <a:endParaRPr lang="en-US" sz="1800" dirty="0"/>
          </a:p>
          <a:p>
            <a:pPr marL="914400" lvl="2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/>
              <a:t>								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EB3F1B-1160-8638-95EB-EDD3BBFF4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FE831-8FB4-2541-BBF7-EAC5A52B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0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BD1D-66D8-FC17-D794-DEC28F5C9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Reading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F491A-28B4-BB0F-6F8D-78F76C5C1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A good resource to get some background on this unit’s content is: </a:t>
            </a:r>
          </a:p>
          <a:p>
            <a:pPr>
              <a:lnSpc>
                <a:spcPct val="100000"/>
              </a:lnSpc>
            </a:pPr>
            <a:r>
              <a:rPr lang="en-US" dirty="0"/>
              <a:t>IBM Quantum Learning: Basics of Quantum Information (Multiple Qubit Systems) </a:t>
            </a:r>
          </a:p>
          <a:p>
            <a:pPr>
              <a:lnSpc>
                <a:spcPct val="100000"/>
              </a:lnSpc>
            </a:pPr>
            <a:r>
              <a:rPr lang="en-US" dirty="0"/>
              <a:t>Section 1 talks about Classical Systems and illustrates several ideas used in Quantum Systems.</a:t>
            </a:r>
          </a:p>
          <a:p>
            <a:pPr>
              <a:lnSpc>
                <a:spcPct val="100000"/>
              </a:lnSpc>
            </a:pPr>
            <a:r>
              <a:rPr lang="en-US" dirty="0"/>
              <a:t>Furthermore, we will cover entanglement.  A good illustrative video on entanglement is by the Perimeter Institute of Theoretical Physics: </a:t>
            </a:r>
            <a:r>
              <a:rPr lang="en-US" dirty="0">
                <a:hlinkClick r:id="rId2"/>
              </a:rPr>
              <a:t>https://youtu.be/rqmIVeheTVU?si=VZOGrgpJKDKWHEJh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8A3DE-3E3F-9344-7B8B-7B4B8836C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98A576-EDD9-FC6C-967D-1BC874F32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3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DFD74-01D1-2622-0E94-3AE7462C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Tensor Products of  Vectors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FDD91-FE14-B252-0E4B-34668823A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3A85E-5A6D-3223-7B8F-6580571E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A8D39BA-61DB-BC76-063B-8CBE38CE6D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two vectors with their basis states defined over sets </a:t>
                </a:r>
                <a:r>
                  <a:rPr lang="en-US" dirty="0">
                    <a:sym typeface="Symbol" panose="05050102010706020507" pitchFamily="18" charset="2"/>
                  </a:rPr>
                  <a:t> and </a:t>
                </a:r>
                <a:r>
                  <a:rPr lang="en-US" dirty="0"/>
                  <a:t>, i.e.,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tensor product </a:t>
                </a:r>
                <a14:m>
                  <m:oMath xmlns:m="http://schemas.openxmlformats.org/officeDocument/2006/math">
                    <m:r>
                      <a:rPr lang="en-US" sz="280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</m:t>
                        </m:r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ym typeface="Symbol" panose="05050102010706020507" pitchFamily="18" charset="2"/>
                  </a:rPr>
                  <a:t>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</m:e>
                    </m:d>
                  </m:oMath>
                </a14:m>
                <a:r>
                  <a:rPr lang="en-US" dirty="0"/>
                  <a:t>  is a new vector over the joint state set </a:t>
                </a:r>
                <a:r>
                  <a:rPr lang="en-US" dirty="0">
                    <a:sym typeface="Symbol" panose="05050102010706020507" pitchFamily="18" charset="2"/>
                  </a:rPr>
                  <a:t>  </a:t>
                </a:r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A8D39BA-61DB-BC76-063B-8CBE38CE6D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 r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BCA8F535-5F94-B38A-97C3-7D0B70E47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134" y="2504737"/>
            <a:ext cx="5344041" cy="8960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C69B49-7B59-FAAF-86DE-0F1BDDD83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601" y="4199831"/>
            <a:ext cx="5526039" cy="137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23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7D76-C019-AA51-4461-59932B2F4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Tensor Products of Two Vectors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AA8569C-459A-FEBE-C60B-33D5D2093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4468" y="1735930"/>
            <a:ext cx="5121209" cy="5088169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FD76B-D617-13B3-39C2-8CEA636A4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CDF7D4-F0F8-CCB9-EEA3-A34434134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3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D32B-63D9-EBA3-7A6A-97FC03DD6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Ways to Express Tensor Products of  Vectors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817585-6971-0871-E512-5167B2B5A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970" y="2322383"/>
            <a:ext cx="11417578" cy="342640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94962-8968-1DBD-DA70-BFEBFECDE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AA8CD-F57C-A838-C90A-5A094563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43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8864A-51BC-6A18-C0BF-A1B9BA70E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Linearity in Tensor Products of Vectors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CFD2064-14CA-2132-605B-3937E5C35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219" y="1916909"/>
            <a:ext cx="10909461" cy="3867441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31986-263F-FD52-0ACF-6B7902262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558DDA-EC64-E8CC-6B03-CBB53F16D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6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002FD-CAA5-6285-E811-A085F4568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Tensor Products of three or more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44939-6E0C-F3E6-E0A0-4BEAE49CD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also have tensor products of 3 or more systems, i.e., such as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can be defined by (</a:t>
            </a:r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dirty="0"/>
              <a:t> are basis vectors):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Recursively,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940F6-9EA6-4AE1-E675-A3AF6DDD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1466BB-5D7F-0FF6-7A0A-072FAA39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099632-E817-60E6-AB46-8F1CE6EB6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106" y="2350241"/>
            <a:ext cx="4636119" cy="8471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A9DA25-1BE4-F239-F661-829535CA6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483" y="4001294"/>
            <a:ext cx="5532117" cy="6833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CCE666-6509-2D8E-62B7-3E497CC73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1760" y="5504155"/>
            <a:ext cx="7450019" cy="76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19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E69C-1A6C-12F1-A7E4-813AED7BD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Multiple Qubit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BFEE2D-ABD2-8238-D482-0958FF441B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87355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600" dirty="0"/>
                  <a:t>Recall that a single qubit may be represented as a superposition of basis states, i.e. 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</m:e>
                    </m:d>
                  </m:oMath>
                </a14:m>
                <a:r>
                  <a:rPr lang="en-US" sz="2600" dirty="0"/>
                  <a:t> = </a:t>
                </a:r>
                <a:r>
                  <a:rPr lang="en-US" sz="2600" dirty="0">
                    <a:sym typeface="Symbol" panose="05050102010706020507" pitchFamily="18" charset="2"/>
                  </a:rPr>
                  <a:t>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60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600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 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6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600" dirty="0"/>
                  <a:t>It is possible to have a system of multiple qubits within the same bases.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600" dirty="0"/>
                  <a:t>Thus for example, if 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sz="2600" b="0" i="0" baseline="-2500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600" dirty="0"/>
                  <a:t> = </a:t>
                </a:r>
                <a:r>
                  <a:rPr lang="en-US" sz="2600" dirty="0">
                    <a:sym typeface="Symbol" panose="05050102010706020507" pitchFamily="18" charset="2"/>
                  </a:rPr>
                  <a:t></a:t>
                </a:r>
                <a14:m>
                  <m:oMath xmlns:m="http://schemas.openxmlformats.org/officeDocument/2006/math">
                    <m:r>
                      <a:rPr lang="en-US" sz="2600" b="0" i="0" baseline="-2500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60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600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r>
                      <a:rPr lang="en-US" sz="2600" b="0" i="0" baseline="-2500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600">
                        <a:latin typeface="Cambria Math" panose="02040503050406030204" pitchFamily="18" charset="0"/>
                      </a:rPr>
                      <m:t> 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600" dirty="0"/>
                  <a:t>, 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sz="2600" b="0" i="1" baseline="-2500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600" dirty="0"/>
                  <a:t> = </a:t>
                </a:r>
                <a:r>
                  <a:rPr lang="en-US" sz="2600" dirty="0">
                    <a:sym typeface="Symbol" panose="05050102010706020507" pitchFamily="18" charset="2"/>
                  </a:rPr>
                  <a:t></a:t>
                </a:r>
                <a14:m>
                  <m:oMath xmlns:m="http://schemas.openxmlformats.org/officeDocument/2006/math">
                    <m:r>
                      <a:rPr lang="en-US" sz="2600" baseline="-2500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60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600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r>
                      <a:rPr lang="en-US" sz="2600" baseline="-2500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</m:t>
                    </m:r>
                    <m:r>
                      <a:rPr lang="en-US" sz="2600">
                        <a:latin typeface="Cambria Math" panose="02040503050406030204" pitchFamily="18" charset="0"/>
                      </a:rPr>
                      <m:t> 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600" dirty="0"/>
                  <a:t>, then we can use a tensor product to denote a collection of the two states: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sz="2600" baseline="-250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600" dirty="0"/>
                  <a:t> </a:t>
                </a:r>
                <a:r>
                  <a:rPr lang="en-US" sz="2600" dirty="0">
                    <a:sym typeface="Symbol" panose="05050102010706020507" pitchFamily="18" charset="2"/>
                  </a:rPr>
                  <a:t> 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sz="2600" i="1" baseline="-250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e>
                    </m:d>
                    <m:r>
                      <a:rPr lang="en-US" sz="2600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sz="2600" dirty="0"/>
                  <a:t>= (</a:t>
                </a:r>
                <a:r>
                  <a:rPr lang="en-US" sz="2600" dirty="0">
                    <a:sym typeface="Symbol" panose="05050102010706020507" pitchFamily="18" charset="2"/>
                  </a:rPr>
                  <a:t></a:t>
                </a:r>
                <a14:m>
                  <m:oMath xmlns:m="http://schemas.openxmlformats.org/officeDocument/2006/math">
                    <m:r>
                      <a:rPr lang="en-US" sz="2600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60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600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r>
                      <a:rPr lang="en-US" sz="2600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600">
                        <a:latin typeface="Cambria Math" panose="02040503050406030204" pitchFamily="18" charset="0"/>
                      </a:rPr>
                      <m:t> 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600" dirty="0"/>
                  <a:t>) </a:t>
                </a:r>
                <a:r>
                  <a:rPr lang="en-US" sz="2600" dirty="0">
                    <a:sym typeface="Symbol" panose="05050102010706020507" pitchFamily="18" charset="2"/>
                  </a:rPr>
                  <a:t>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sz="2600" dirty="0">
                    <a:sym typeface="Symbol" panose="05050102010706020507" pitchFamily="18" charset="2"/>
                  </a:rPr>
                  <a:t></a:t>
                </a:r>
                <a14:m>
                  <m:oMath xmlns:m="http://schemas.openxmlformats.org/officeDocument/2006/math">
                    <m:r>
                      <a:rPr lang="en-US" sz="2600" baseline="-2500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60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600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r>
                      <a:rPr lang="en-US" sz="2600" baseline="-2500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</m:t>
                    </m:r>
                    <m:r>
                      <a:rPr lang="en-US" sz="2600">
                        <a:latin typeface="Cambria Math" panose="02040503050406030204" pitchFamily="18" charset="0"/>
                      </a:rPr>
                      <m:t> 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600" dirty="0"/>
                  <a:t>)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600" dirty="0"/>
                  <a:t>                  = </a:t>
                </a:r>
                <a:r>
                  <a:rPr lang="en-US" sz="2600" b="1" dirty="0">
                    <a:sym typeface="Symbol" panose="05050102010706020507" pitchFamily="18" charset="2"/>
                  </a:rPr>
                  <a:t></a:t>
                </a:r>
                <a14:m>
                  <m:oMath xmlns:m="http://schemas.openxmlformats.org/officeDocument/2006/math">
                    <m:r>
                      <a:rPr lang="en-US" sz="2600" b="1" i="1" baseline="-25000">
                        <a:latin typeface="Cambria Math" panose="02040503050406030204" pitchFamily="18" charset="0"/>
                      </a:rPr>
                      <m:t>𝟏</m:t>
                    </m:r>
                    <m:r>
                      <m:rPr>
                        <m:nor/>
                      </m:rPr>
                      <a:rPr lang="en-US" sz="2600" b="1" dirty="0">
                        <a:sym typeface="Symbol" panose="05050102010706020507" pitchFamily="18" charset="2"/>
                      </a:rPr>
                      <m:t></m:t>
                    </m:r>
                    <m:r>
                      <a:rPr lang="en-US" sz="2600" b="1" i="1" baseline="-2500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𝟐</m:t>
                    </m:r>
                    <m:r>
                      <a:rPr lang="en-US" sz="2600" b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e>
                    </m:d>
                    <m:r>
                      <a:rPr lang="en-US" sz="2600" b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600" b="1" dirty="0">
                        <a:sym typeface="Symbol" panose="05050102010706020507" pitchFamily="18" charset="2"/>
                      </a:rPr>
                      <m:t></m:t>
                    </m:r>
                    <m:r>
                      <a:rPr lang="en-US" sz="2600" b="1" i="1" baseline="-2500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600" b="1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r>
                      <a:rPr lang="en-US" sz="2600" b="1" i="0" baseline="-2500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600" b="1">
                        <a:latin typeface="Cambria Math" panose="02040503050406030204" pitchFamily="18" charset="0"/>
                      </a:rPr>
                      <m:t> |</m:t>
                    </m:r>
                    <m:d>
                      <m:dPr>
                        <m:begChr m:val=""/>
                        <m:endChr m:val="⟩"/>
                        <m:ctrlPr>
                          <a:rPr lang="en-US" sz="2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2600" b="1" dirty="0"/>
                  <a:t> + </a:t>
                </a:r>
                <a:r>
                  <a:rPr lang="en-US" sz="2600" b="1" dirty="0">
                    <a:sym typeface="Symbol" panose="05050102010706020507" pitchFamily="18" charset="2"/>
                  </a:rPr>
                  <a:t></a:t>
                </a:r>
                <a14:m>
                  <m:oMath xmlns:m="http://schemas.openxmlformats.org/officeDocument/2006/math">
                    <m:r>
                      <a:rPr lang="en-US" sz="2600" b="1" i="1" baseline="-2500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𝟐</m:t>
                    </m:r>
                    <m:r>
                      <m:rPr>
                        <m:nor/>
                      </m:rPr>
                      <a:rPr lang="en-US" sz="2600" b="1" dirty="0">
                        <a:sym typeface="Symbol" panose="05050102010706020507" pitchFamily="18" charset="2"/>
                      </a:rPr>
                      <m:t></m:t>
                    </m:r>
                    <m:r>
                      <a:rPr lang="en-US" sz="2600" b="1" i="1" baseline="-2500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600" b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sz="2600" b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600" b="1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600" b="1" dirty="0">
                        <a:sym typeface="Symbol" panose="05050102010706020507" pitchFamily="18" charset="2"/>
                      </a:rPr>
                      <m:t></m:t>
                    </m:r>
                    <m:r>
                      <a:rPr lang="en-US" sz="2600" b="1" i="1" baseline="-2500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6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b="1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r>
                      <a:rPr lang="en-US" sz="2600" b="1" i="1" baseline="-2500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𝟐</m:t>
                    </m:r>
                    <m:r>
                      <a:rPr lang="en-US" sz="2600" b="1">
                        <a:latin typeface="Cambria Math" panose="02040503050406030204" pitchFamily="18" charset="0"/>
                      </a:rPr>
                      <m:t> |</m:t>
                    </m:r>
                    <m:d>
                      <m:dPr>
                        <m:begChr m:val=""/>
                        <m:endChr m:val="⟩"/>
                        <m:ctrlPr>
                          <a:rPr lang="en-US" sz="2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2600" b="1" dirty="0"/>
                  <a:t>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600" dirty="0"/>
                  <a:t>The four two qubit states 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>
                        <a:latin typeface="Cambria Math" panose="02040503050406030204" pitchFamily="18" charset="0"/>
                      </a:rPr>
                      <m:t> 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600" dirty="0"/>
                  <a:t>, 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>
                        <a:latin typeface="Cambria Math" panose="02040503050406030204" pitchFamily="18" charset="0"/>
                      </a:rPr>
                      <m:t> |</m:t>
                    </m:r>
                    <m:d>
                      <m:dPr>
                        <m:begChr m:val=""/>
                        <m:endChr m:val="⟩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600" dirty="0"/>
                  <a:t> form a new orthonormal basis.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BFEE2D-ABD2-8238-D482-0958FF441B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87355" cy="4351338"/>
              </a:xfrm>
              <a:blipFill>
                <a:blip r:embed="rId2"/>
                <a:stretch>
                  <a:fillRect l="-832" t="-1261" r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28AB1-6DEB-9B0A-D8AD-4641257C2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79DF2-B6E6-981D-4607-69FCFDB71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38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C5C4D-1D9C-43D6-5176-554322F83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Multiple Qubit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96F8DC-C288-4553-1546-B4E07D9800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400" dirty="0"/>
                  <a:t>Example: Consider the following qubits: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sz="2400" b="0" i="0" baseline="-2500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sz="2400" b="0" i="0" baseline="-2500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en-US" sz="2400" dirty="0"/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Therefore, the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tensor product </a:t>
                </a:r>
                <a:r>
                  <a:rPr lang="en-US" sz="2400" dirty="0"/>
                  <a:t>of two qubit states </a:t>
                </a:r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sz="2400" b="0" i="0" baseline="-2500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sz="2400" baseline="-250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400" dirty="0"/>
                  <a:t> is:</a:t>
                </a:r>
              </a:p>
              <a:p>
                <a:pPr algn="ctr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sz="2400" b="0" i="0" baseline="-2500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ym typeface="Symbol" panose="05050102010706020507" pitchFamily="18" charset="2"/>
                  </a:rPr>
                  <a:t>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sz="2400" baseline="-250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4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4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4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4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4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4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4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96F8DC-C288-4553-1546-B4E07D9800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12485-CC59-7B91-988B-8BA7E94D2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CS-314: Quantum Computing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0069D2-E069-0369-31A1-7C4D56040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9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F21DE-B0B2-7247-4291-3F87450FF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Multiple Qubit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A3EE4E-3B74-30D9-62A5-2EBA0DF807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Given a two qubit system: </a:t>
                </a:r>
                <a:endParaRPr lang="en-US" sz="2800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80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sz="2800" b="0" i="0" baseline="-2500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ym typeface="Symbol" panose="05050102010706020507" pitchFamily="18" charset="2"/>
                  </a:rPr>
                  <a:t>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sz="2800" baseline="-250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8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8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8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8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8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8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8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/>
                  <a:t>,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W</a:t>
                </a:r>
                <a:r>
                  <a:rPr lang="en-US" sz="2800" dirty="0"/>
                  <a:t>hat </a:t>
                </a:r>
                <a:r>
                  <a:rPr lang="en-US" dirty="0"/>
                  <a:t>are</a:t>
                </a:r>
                <a:r>
                  <a:rPr lang="en-US" sz="2800" dirty="0"/>
                  <a:t> the probabilities of measuring each of the states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? 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800" dirty="0"/>
                  <a:t>Do the probabilities of measuring each of the multiple states </a:t>
                </a:r>
                <a14:m>
                  <m:oMath xmlns:m="http://schemas.openxmlformats.org/officeDocument/2006/math">
                    <m:r>
                      <a:rPr lang="en-US" sz="280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 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 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/>
                  <a:t> sum up to 1?</a:t>
                </a:r>
              </a:p>
              <a:p>
                <a:pPr>
                  <a:lnSpc>
                    <a:spcPct val="100000"/>
                  </a:lnSpc>
                </a:pPr>
                <a:endParaRPr lang="en-US" b="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A3EE4E-3B74-30D9-62A5-2EBA0DF807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19CCB-9F55-218A-073E-2D3327174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569C2-8548-4197-A258-68BAB7BD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3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57F5-BCAF-36E5-FFC9-31FDFBA0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Partial Measurement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51342-E413-3F43-9565-D10E76DA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848BA-1ED3-7D19-E2BE-2A7DF8B3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37E9B2E-6D48-8974-B640-C0E7D199C3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Let’s say within the given system of two qubits: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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r>
                  <a:rPr lang="en-US" dirty="0"/>
                  <a:t>We only measure the first qubit, i.e. we only measure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What is the probability of the first qubit in a (a)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state, and in      (b)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state? </a:t>
                </a:r>
              </a:p>
              <a:p>
                <a:r>
                  <a:rPr lang="en-US" dirty="0"/>
                  <a:t>Conditional Probability!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37E9B2E-6D48-8974-B640-C0E7D199C3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2917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CEE0-91B5-73C3-AD88-D0C219DED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Partial Measurement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0787F-3F8B-471B-DE18-A963EF45E1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From the previous example, we find that the probability that the first qubit is in </a:t>
                </a:r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400" dirty="0"/>
                  <a:t> state is 6/8 = ¾.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The probability that the first qubit is in a </a:t>
                </a:r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/>
                  <a:t> state is 2/8 = ¼.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Suppose that the first qubit is measured as a </a:t>
                </a:r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The two state system now collapses to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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/>
                  <a:t>)* (*involves some calculation)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0787F-3F8B-471B-DE18-A963EF45E1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7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D159A0-DE98-1C01-DAA4-4022EBDD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45F931-4538-1D2E-6AED-D8111A810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061A3-45E0-A2E0-55D1-B271D2A0A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Partial Measurement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566DF-CAE9-EFB9-279B-AABD60E6B0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Consider the two state system again: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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lang="en-US" dirty="0"/>
                  <a:t>,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We saw earlier that the probability of measuring a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/>
                  <a:t>is 3/8.</a:t>
                </a:r>
                <a:endParaRPr lang="en-US" dirty="0"/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Is this probability the product of the probabilities of (a) measuring a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the first qubit and measuring a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in the second qubit?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566DF-CAE9-EFB9-279B-AABD60E6B0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4E2F36-4227-A3E8-8EC8-EB267E5CD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71111-5A1A-13DC-0525-9DE2CF54B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8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CD0FD-724B-9BE1-1AF0-51ADF16B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Partial Measurement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C73F43-13B4-AC78-CB92-EFE894BF9E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More specifically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i="1" dirty="0"/>
                  <a:t>p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</m:oMath>
                </a14:m>
                <a:r>
                  <a:rPr lang="en-US" dirty="0"/>
                  <a:t>) = (</a:t>
                </a:r>
                <a:r>
                  <a:rPr lang="en-US" i="1" dirty="0"/>
                  <a:t>p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) in the first qubit) </a:t>
                </a:r>
                <a:r>
                  <a:rPr lang="en-US" dirty="0">
                    <a:sym typeface="Symbol" panose="05050102010706020507" pitchFamily="18" charset="2"/>
                  </a:rPr>
                  <a:t> </a:t>
                </a:r>
                <a:r>
                  <a:rPr lang="en-US" dirty="0"/>
                  <a:t>(</a:t>
                </a:r>
                <a:r>
                  <a:rPr lang="en-US" i="1" dirty="0"/>
                  <a:t>p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) in the second qubit)?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Recall from probability theory that two events </a:t>
                </a:r>
                <a:r>
                  <a:rPr lang="en-US" i="1" dirty="0"/>
                  <a:t>A</a:t>
                </a:r>
                <a:r>
                  <a:rPr lang="en-US" dirty="0"/>
                  <a:t> and </a:t>
                </a:r>
                <a:r>
                  <a:rPr lang="en-US" i="1" dirty="0"/>
                  <a:t>B</a:t>
                </a:r>
                <a:r>
                  <a:rPr lang="en-US" dirty="0"/>
                  <a:t> are independent if and only if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i="1" dirty="0"/>
                  <a:t>p</a:t>
                </a:r>
                <a:r>
                  <a:rPr lang="en-US" dirty="0"/>
                  <a:t>(A </a:t>
                </a:r>
                <a:r>
                  <a:rPr lang="en-US" dirty="0">
                    <a:sym typeface="Symbol" panose="05050102010706020507" pitchFamily="18" charset="2"/>
                  </a:rPr>
                  <a:t> B) = </a:t>
                </a:r>
                <a:r>
                  <a:rPr lang="en-US" i="1" dirty="0">
                    <a:sym typeface="Symbol" panose="05050102010706020507" pitchFamily="18" charset="2"/>
                  </a:rPr>
                  <a:t>p</a:t>
                </a:r>
                <a:r>
                  <a:rPr lang="en-US" dirty="0">
                    <a:sym typeface="Symbol" panose="05050102010706020507" pitchFamily="18" charset="2"/>
                  </a:rPr>
                  <a:t>(A)  </a:t>
                </a:r>
                <a:r>
                  <a:rPr lang="en-US" i="1" dirty="0">
                    <a:sym typeface="Symbol" panose="05050102010706020507" pitchFamily="18" charset="2"/>
                  </a:rPr>
                  <a:t>p</a:t>
                </a:r>
                <a:r>
                  <a:rPr lang="en-US" dirty="0">
                    <a:sym typeface="Symbol" panose="05050102010706020507" pitchFamily="18" charset="2"/>
                  </a:rPr>
                  <a:t>(B)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If the answer is yes, we say that the first and second qubit are independent.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C73F43-13B4-AC78-CB92-EFE894BF9E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CAA56D-686B-06D3-9796-F276EA393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985E6-9D90-3D70-E9C3-6565362AD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0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F8A1-A08F-7C80-6D7B-47B02F2B2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Entanglement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84CA6E-C12C-C2CF-D9DD-C776F5403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However, it may happen that two qubits are ‘prepared’ in a state that their probabilities of measuring various states are </a:t>
                </a:r>
                <a:r>
                  <a:rPr lang="en-US" i="1" dirty="0"/>
                  <a:t>not</a:t>
                </a:r>
                <a:r>
                  <a:rPr lang="en-US" dirty="0"/>
                  <a:t> independent.</a:t>
                </a:r>
              </a:p>
              <a:p>
                <a:endParaRPr lang="en-US" dirty="0"/>
              </a:p>
              <a:p>
                <a:r>
                  <a:rPr lang="en-US" dirty="0"/>
                  <a:t>Consider the following state: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800" i="1" dirty="0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0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280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is the probability of measuring a </a:t>
                </a:r>
                <a14:m>
                  <m:oMath xmlns:m="http://schemas.openxmlformats.org/officeDocument/2006/math">
                    <m:r>
                      <a:rPr lang="en-US" sz="280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84CA6E-C12C-C2CF-D9DD-C776F5403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A2A909-6E87-CFCE-C635-90136E8CC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703FAB-B4F1-7F8F-A1A1-355D43E94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55056-CF82-6804-741C-37EF4EC58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Entanglement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003A6E-6CF3-8E62-121B-AC59488D73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Can this probability be ‘expressed’ as the product of the individual probabilities of two qubits?</a:t>
                </a:r>
              </a:p>
              <a:p>
                <a:endParaRPr lang="en-US" dirty="0"/>
              </a:p>
              <a:p>
                <a:r>
                  <a:rPr lang="en-US" dirty="0"/>
                  <a:t>More specifically, let </a:t>
                </a:r>
                <a14:m>
                  <m:oMath xmlns:m="http://schemas.openxmlformats.org/officeDocument/2006/math">
                    <m:r>
                      <a:rPr lang="en-US" sz="280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sz="2800" b="0" i="0" baseline="-2500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/>
                  <a:t> = </a:t>
                </a:r>
                <a:r>
                  <a:rPr lang="en-US" sz="2800" i="1" dirty="0"/>
                  <a:t>q</a:t>
                </a:r>
                <a:r>
                  <a:rPr lang="en-US" sz="2800" baseline="-25000" dirty="0"/>
                  <a:t>0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i="1" dirty="0"/>
                      <m:t>q</m:t>
                    </m:r>
                    <m:r>
                      <m:rPr>
                        <m:nor/>
                      </m:rPr>
                      <a:rPr lang="en-US" b="0" i="0" baseline="-25000" dirty="0" smtClean="0"/>
                      <m:t>1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b="0" i="0" baseline="-2500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:r>
                  <a:rPr lang="en-US" i="1" dirty="0"/>
                  <a:t>r</a:t>
                </a:r>
                <a:r>
                  <a:rPr lang="en-US" baseline="-25000" dirty="0"/>
                  <a:t>0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i="1" dirty="0"/>
                      <m:t>r</m:t>
                    </m:r>
                    <m:r>
                      <m:rPr>
                        <m:nor/>
                      </m:rPr>
                      <a:rPr lang="en-US" baseline="-25000" dirty="0"/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Is it possible, that for various values of </a:t>
                </a:r>
                <a:r>
                  <a:rPr lang="en-US" sz="2800" i="1" dirty="0"/>
                  <a:t>q</a:t>
                </a:r>
                <a:r>
                  <a:rPr lang="en-US" sz="2800" baseline="-25000" dirty="0"/>
                  <a:t>0</a:t>
                </a:r>
                <a:r>
                  <a:rPr lang="en-US" i="1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/>
                      <m:t>q</m:t>
                    </m:r>
                    <m:r>
                      <m:rPr>
                        <m:nor/>
                      </m:rPr>
                      <a:rPr lang="en-US" b="0" i="0" baseline="-25000" dirty="0" smtClean="0"/>
                      <m:t>1</m:t>
                    </m:r>
                  </m:oMath>
                </a14:m>
                <a:r>
                  <a:rPr lang="en-US" i="1" dirty="0"/>
                  <a:t>, r</a:t>
                </a:r>
                <a:r>
                  <a:rPr lang="en-US" baseline="-25000" dirty="0"/>
                  <a:t>0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 smtClean="0"/>
                      <m:t>r</m:t>
                    </m:r>
                    <m:r>
                      <m:rPr>
                        <m:nor/>
                      </m:rPr>
                      <a:rPr lang="en-US" baseline="-25000" dirty="0"/>
                      <m:t>1</m:t>
                    </m:r>
                    <m:r>
                      <a:rPr lang="en-US" b="0" i="0" baseline="-2500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can we equate: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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/>
                  <a:t> = (</a:t>
                </a:r>
                <a:r>
                  <a:rPr lang="en-US" i="1" dirty="0"/>
                  <a:t>q</a:t>
                </a:r>
                <a:r>
                  <a:rPr lang="en-US" baseline="-25000" dirty="0"/>
                  <a:t>0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i="1" dirty="0"/>
                      <m:t>q</m:t>
                    </m:r>
                    <m:r>
                      <m:rPr>
                        <m:nor/>
                      </m:rPr>
                      <a:rPr lang="en-US" baseline="-25000" dirty="0"/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) </a:t>
                </a:r>
                <a:r>
                  <a:rPr lang="en-US" dirty="0">
                    <a:sym typeface="Symbol" panose="05050102010706020507" pitchFamily="18" charset="2"/>
                  </a:rPr>
                  <a:t></a:t>
                </a:r>
                <a:r>
                  <a:rPr lang="en-US" dirty="0"/>
                  <a:t> (</a:t>
                </a:r>
                <a:r>
                  <a:rPr lang="en-US" i="1" dirty="0"/>
                  <a:t>r</a:t>
                </a:r>
                <a:r>
                  <a:rPr lang="en-US" baseline="-25000" dirty="0"/>
                  <a:t>0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i="1" dirty="0"/>
                      <m:t>r</m:t>
                    </m:r>
                    <m:r>
                      <m:rPr>
                        <m:nor/>
                      </m:rPr>
                      <a:rPr lang="en-US" baseline="-25000" dirty="0"/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|0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|1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003A6E-6CF3-8E62-121B-AC59488D73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1756E6-3E3F-7CC0-41FF-5140E760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74ECE-49B9-978C-12FC-B441FA941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584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E04C7-F276-F6C1-3B7C-883D24506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Entanglement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F5AFDF-FF84-E0D2-BFBF-010A5D9D96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From the previous activity, we find that assigning values to </a:t>
                </a:r>
                <a:r>
                  <a:rPr lang="en-US" sz="2800" i="1" dirty="0"/>
                  <a:t>q</a:t>
                </a:r>
                <a:r>
                  <a:rPr lang="en-US" sz="2800" baseline="-25000" dirty="0"/>
                  <a:t>0</a:t>
                </a:r>
                <a:r>
                  <a:rPr lang="en-US" i="1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/>
                      <m:t>q</m:t>
                    </m:r>
                    <m:r>
                      <m:rPr>
                        <m:nor/>
                      </m:rPr>
                      <a:rPr lang="en-US" b="0" i="0" baseline="-25000" dirty="0" smtClean="0"/>
                      <m:t>1</m:t>
                    </m:r>
                  </m:oMath>
                </a14:m>
                <a:r>
                  <a:rPr lang="en-US" i="1" dirty="0"/>
                  <a:t>, r</a:t>
                </a:r>
                <a:r>
                  <a:rPr lang="en-US" baseline="-25000" dirty="0"/>
                  <a:t>0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 smtClean="0"/>
                      <m:t>r</m:t>
                    </m:r>
                    <m:r>
                      <m:rPr>
                        <m:nor/>
                      </m:rPr>
                      <a:rPr lang="en-US" baseline="-25000" dirty="0"/>
                      <m:t>1</m:t>
                    </m:r>
                  </m:oMath>
                </a14:m>
                <a:r>
                  <a:rPr lang="en-US" dirty="0"/>
                  <a:t> is not possible.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Hence the state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|0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|1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cannot be expressed as a tensor product of two states.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This means that the probabilities of measuring the first qubit and the second qubit are not independent. </a:t>
                </a:r>
                <a:r>
                  <a:rPr lang="en-US" dirty="0" err="1"/>
                  <a:t>Infact</a:t>
                </a:r>
                <a:r>
                  <a:rPr lang="en-US" dirty="0"/>
                  <a:t>, they are correlated!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F5AFDF-FF84-E0D2-BFBF-010A5D9D96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1" r="-1623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42CFE-5069-1E71-0A9C-D5E71AFDE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07D57-461F-3BB8-CA17-BD674B238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1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CCAFA-DCAA-CA0E-7C7E-E91C96F6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Entanglement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49F231-AB10-0C92-641B-1FBF72AF0D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dirty="0"/>
                  <a:t>What happens if in the given two state system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|0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|1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, we measure the first qubit to be a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0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The second qubit will also collapse to a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and the outcome will be the state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|0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A similar situation will happen if we measure a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We say that the two qubits in the above state are </a:t>
                </a:r>
                <a:r>
                  <a:rPr lang="en-US" b="1" u="sng" dirty="0">
                    <a:solidFill>
                      <a:srgbClr val="FF0000"/>
                    </a:solidFill>
                  </a:rPr>
                  <a:t>entangled</a:t>
                </a:r>
                <a:r>
                  <a:rPr lang="en-US" b="1" dirty="0"/>
                  <a:t>.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49F231-AB10-0C92-641B-1FBF72AF0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829F26-B75D-8DDD-888B-F98FC535A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E1B9C3-A08E-B0DA-6F21-8F0BED75A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82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6B2AA-5325-273A-729F-A62146E06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Bell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0FC86-2C08-CF61-B5E7-560A197B52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we saw earlier i.e.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|0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|1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, is one of the </a:t>
                </a:r>
                <a:r>
                  <a:rPr lang="en-US" dirty="0">
                    <a:solidFill>
                      <a:srgbClr val="FF0000"/>
                    </a:solidFill>
                  </a:rPr>
                  <a:t>Bell States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The four Bell states are stated here:</a:t>
                </a:r>
              </a:p>
              <a:p>
                <a:endParaRPr lang="en-US" dirty="0"/>
              </a:p>
              <a:p>
                <a:r>
                  <a:rPr lang="en-US" dirty="0"/>
                  <a:t>These four Bell states form the Bell basis.</a:t>
                </a:r>
              </a:p>
              <a:p>
                <a:endParaRPr lang="en-US" dirty="0"/>
              </a:p>
              <a:p>
                <a:r>
                  <a:rPr lang="en-US" dirty="0"/>
                  <a:t>These are also known as EPR Pairs.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0FC86-2C08-CF61-B5E7-560A197B52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7A1F6-5148-5EE3-3672-494B6966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951DF-10FE-9689-F7E0-327221AC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D08AAF-31BC-5BD9-A026-68B00F12B1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370" r="8135"/>
          <a:stretch/>
        </p:blipFill>
        <p:spPr>
          <a:xfrm>
            <a:off x="7645586" y="2585123"/>
            <a:ext cx="3515573" cy="368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80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11C0-9AF8-6770-2C75-B6B075181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Other Examples of Entangled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AE521-91DD-C98D-2E0B-B44C1B89F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GHZ State: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W-State: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B9B87-18DB-F178-D227-96AFD4289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A90D8-31AA-F2AD-C294-922A47685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110FF8-6CBB-5FE5-7A96-357555027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91" y="2349518"/>
            <a:ext cx="3741752" cy="12669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435F32-015C-2990-6E47-4ADA82287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925" y="4407965"/>
            <a:ext cx="5934149" cy="126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12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95DD9-1C38-F0E8-8132-A2961E6A4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Class 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015552-48F0-4ED2-21BD-0C22ADAA28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the W-State as shown in the previous slide i.e.,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Show that if the first qubit is measured to be a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, then the rest of the system collapses to one of the Bell (EPR) States, i.e.,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015552-48F0-4ED2-21BD-0C22ADAA28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113DCE-E3FE-F86C-80A5-FAD4D2ED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16867-E591-AB74-10A7-DBD06519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9D1BB8-A3DD-FA49-6508-8D965E314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868" y="2328999"/>
            <a:ext cx="5934149" cy="12669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6A3399-F6C7-069C-2BC0-2437E5F05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537" y="4888047"/>
            <a:ext cx="4489863" cy="101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078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139DA-DEFD-B2DE-DA0E-7B5F56519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Class 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09947-FDCD-942A-33ED-D88F63A135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the following two state quantum system: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Suppose we choose to measure the first qubit, and after measurement, it turns out to be a </a:t>
                </a:r>
                <a14:m>
                  <m:oMath xmlns:m="http://schemas.openxmlformats.org/officeDocument/2006/math">
                    <m:r>
                      <a:rPr lang="en-US" sz="280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. What will be the state of the system after this measurement?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09947-FDCD-942A-33ED-D88F63A135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4FCF9-8778-6B63-94B2-DC9FE1A3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E2258-0422-CB50-9163-E3D131D7C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AAB240-BCC4-1042-3299-EF9EFF7AD3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38"/>
          <a:stretch/>
        </p:blipFill>
        <p:spPr>
          <a:xfrm>
            <a:off x="2311302" y="2406770"/>
            <a:ext cx="6978568" cy="116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25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4827D-3DD4-225B-86EA-476D7436B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An Application of the EPR States: Class Activity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1B18A8-289F-67F6-8511-5D28699F80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4915619" cy="132556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400" dirty="0"/>
                  <a:t>Suppose that Alice knows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  </a:t>
                </a:r>
                <a:r>
                  <a:rPr lang="en-US" sz="2400" dirty="0"/>
                  <a:t>and she would like to securely transmit the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it to Bob.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1B18A8-289F-67F6-8511-5D28699F80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4915619" cy="1325563"/>
              </a:xfrm>
              <a:blipFill>
                <a:blip r:embed="rId2"/>
                <a:stretch>
                  <a:fillRect l="-1611" t="-4128" r="-3346" b="-58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710258-B396-9A9E-F978-AC22B30BB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64EDD-88B9-54AE-5038-BF5DCC13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A18D8F-68B1-A431-3002-691CF8313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561" y="3196035"/>
            <a:ext cx="9070697" cy="34313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B3EE5FC-7500-70AE-42BD-755E2E379F5F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915619" cy="16414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dirty="0"/>
              <a:t>Using an EPR state and an agreed upon protocol, she can transmit this qubit to Bob by transmitting just one bit!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0697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45BDA-9D8E-FA27-0107-0AE7F8DC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Tensor Product of Unitary Matrices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3446-C4C6-6DF2-1872-5C7EDA35B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If </a:t>
            </a:r>
            <a:r>
              <a:rPr lang="en-US" i="1" dirty="0"/>
              <a:t>U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U</a:t>
            </a:r>
            <a:r>
              <a:rPr lang="en-US" baseline="-25000" dirty="0"/>
              <a:t>2</a:t>
            </a:r>
            <a:r>
              <a:rPr lang="en-US" dirty="0"/>
              <a:t>, </a:t>
            </a:r>
            <a:r>
              <a:rPr lang="en-US" i="1" dirty="0"/>
              <a:t>U</a:t>
            </a:r>
            <a:r>
              <a:rPr lang="en-US" baseline="-25000" dirty="0"/>
              <a:t>3</a:t>
            </a:r>
            <a:r>
              <a:rPr lang="en-US" dirty="0"/>
              <a:t>, … are unitary matrices, then their tensor product is also unitary. More specifically, </a:t>
            </a:r>
            <a:r>
              <a:rPr lang="en-US" i="1" dirty="0"/>
              <a:t>U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 </a:t>
            </a:r>
            <a:r>
              <a:rPr lang="en-US" i="1" dirty="0"/>
              <a:t>U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 </a:t>
            </a:r>
            <a:r>
              <a:rPr lang="en-US" i="1" dirty="0"/>
              <a:t>U</a:t>
            </a:r>
            <a:r>
              <a:rPr lang="en-US" baseline="-25000" dirty="0"/>
              <a:t>3 </a:t>
            </a:r>
            <a:r>
              <a:rPr lang="en-US" dirty="0">
                <a:sym typeface="Symbol" panose="05050102010706020507" pitchFamily="18" charset="2"/>
              </a:rPr>
              <a:t> … </a:t>
            </a:r>
            <a:r>
              <a:rPr lang="en-US" i="1" dirty="0"/>
              <a:t>U</a:t>
            </a:r>
            <a:r>
              <a:rPr lang="en-US" i="1" baseline="-25000" dirty="0"/>
              <a:t>n</a:t>
            </a:r>
            <a:r>
              <a:rPr lang="en-US" i="1" baseline="30000" dirty="0"/>
              <a:t> </a:t>
            </a:r>
            <a:r>
              <a:rPr lang="en-US" i="1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Proof: 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8E2BF6-6ADD-331E-AA99-CC41E6084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64973-007E-CA90-2892-664925F7A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742EAE-8727-3770-7DF9-F8DC6E077E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649"/>
          <a:stretch/>
        </p:blipFill>
        <p:spPr>
          <a:xfrm>
            <a:off x="1472298" y="3303917"/>
            <a:ext cx="7138302" cy="305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4277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2E7F5-F6F0-C37F-2D87-293FAE359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Performing Operations on Subsystems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00143-4257-2118-F85B-5E54424E8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600" dirty="0"/>
              <a:t>An important situation that often arises is one in which a unitary operation is applied to just one qubit within a larger quantum system.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600" dirty="0"/>
          </a:p>
          <a:p>
            <a:pPr>
              <a:lnSpc>
                <a:spcPct val="100000"/>
              </a:lnSpc>
            </a:pPr>
            <a:r>
              <a:rPr lang="en-US" sz="2600" dirty="0"/>
              <a:t>For example, given two qubits X and Y, we apply a Hadamard operation on X, but do nothing to Y.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600" dirty="0"/>
          </a:p>
          <a:p>
            <a:pPr>
              <a:lnSpc>
                <a:spcPct val="100000"/>
              </a:lnSpc>
            </a:pPr>
            <a:r>
              <a:rPr lang="en-US" sz="2600" dirty="0"/>
              <a:t>That is, "doing nothing" to Y is equivalent to performing the identity operation on Y.</a:t>
            </a:r>
          </a:p>
          <a:p>
            <a:pPr>
              <a:lnSpc>
                <a:spcPct val="100000"/>
              </a:lnSpc>
            </a:pPr>
            <a:endParaRPr lang="en-US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9BE993-4AE9-3BD5-09AE-45B6E9D9B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C9F71-4A42-3017-96F6-710D8A75E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14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CF49-822D-375D-AB6F-7B63F8860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Performing Operations on Subsystems (</a:t>
            </a:r>
            <a:r>
              <a:rPr lang="en-US" dirty="0" err="1"/>
              <a:t>contd</a:t>
            </a:r>
            <a:r>
              <a:rPr lang="en-US" dirty="0"/>
              <a:t>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4BCD-D995-311F-63F3-A11957259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two qubit system: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Performing a Hadamard on the 1</a:t>
            </a:r>
            <a:r>
              <a:rPr lang="en-US" baseline="30000" dirty="0"/>
              <a:t>st</a:t>
            </a:r>
            <a:r>
              <a:rPr lang="en-US" dirty="0"/>
              <a:t> qubit and doing nothing to the 2</a:t>
            </a:r>
            <a:r>
              <a:rPr lang="en-US" baseline="30000" dirty="0"/>
              <a:t>nd</a:t>
            </a:r>
            <a:r>
              <a:rPr lang="en-US" dirty="0"/>
              <a:t> is equivalent to applying: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F39B80-EA6C-FD53-3D53-44234C47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55BD8-EFCD-550D-89B4-C96829B6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C6EF50-0445-46FF-EE8F-F0C391427BF5}"/>
                  </a:ext>
                </a:extLst>
              </p:cNvPr>
              <p:cNvSpPr txBox="1"/>
              <p:nvPr/>
            </p:nvSpPr>
            <p:spPr>
              <a:xfrm>
                <a:off x="2738887" y="2528342"/>
                <a:ext cx="624983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ym typeface="Symbol" panose="05050102010706020507" pitchFamily="18" charset="2"/>
                  </a:rPr>
                  <a:t></a:t>
                </a:r>
                <a14:m>
                  <m:oMath xmlns:m="http://schemas.openxmlformats.org/officeDocument/2006/math">
                    <m:r>
                      <a:rPr lang="en-US" sz="2400" b="1" i="1" baseline="-25000">
                        <a:latin typeface="Cambria Math" panose="02040503050406030204" pitchFamily="18" charset="0"/>
                      </a:rPr>
                      <m:t>𝟏</m:t>
                    </m:r>
                    <m:r>
                      <m:rPr>
                        <m:nor/>
                      </m:rPr>
                      <a:rPr lang="en-US" sz="2400" b="1" dirty="0">
                        <a:sym typeface="Symbol" panose="05050102010706020507" pitchFamily="18" charset="2"/>
                      </a:rPr>
                      <m:t></m:t>
                    </m:r>
                    <m:r>
                      <a:rPr lang="en-US" sz="2400" b="1" i="1" baseline="-2500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𝟐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e>
                    </m:d>
                    <m:r>
                      <a:rPr lang="en-US" sz="2400" b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400" b="1" dirty="0">
                        <a:sym typeface="Symbol" panose="05050102010706020507" pitchFamily="18" charset="2"/>
                      </a:rPr>
                      <m:t></m:t>
                    </m:r>
                    <m:r>
                      <a:rPr lang="en-US" sz="2400" b="1" i="1" baseline="-2500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r>
                      <a:rPr lang="en-US" sz="2400" b="1" i="0" baseline="-2500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 |</m:t>
                    </m:r>
                    <m:d>
                      <m:dPr>
                        <m:begChr m:val=""/>
                        <m:endChr m:val="⟩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2400" b="1" dirty="0"/>
                  <a:t> + </a:t>
                </a:r>
                <a:r>
                  <a:rPr lang="en-US" sz="2400" b="1" dirty="0">
                    <a:sym typeface="Symbol" panose="05050102010706020507" pitchFamily="18" charset="2"/>
                  </a:rPr>
                  <a:t></a:t>
                </a:r>
                <a14:m>
                  <m:oMath xmlns:m="http://schemas.openxmlformats.org/officeDocument/2006/math">
                    <m:r>
                      <a:rPr lang="en-US" sz="2400" b="1" i="1" baseline="-2500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𝟐</m:t>
                    </m:r>
                    <m:r>
                      <m:rPr>
                        <m:nor/>
                      </m:rPr>
                      <a:rPr lang="en-US" sz="2400" b="1" dirty="0">
                        <a:sym typeface="Symbol" panose="05050102010706020507" pitchFamily="18" charset="2"/>
                      </a:rPr>
                      <m:t></m:t>
                    </m:r>
                    <m:r>
                      <a:rPr lang="en-US" sz="2400" b="1" i="1" baseline="-2500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sz="2400" b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b="1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dirty="0">
                        <a:sym typeface="Symbol" panose="05050102010706020507" pitchFamily="18" charset="2"/>
                      </a:rPr>
                      <m:t></m:t>
                    </m:r>
                    <m:r>
                      <a:rPr lang="en-US" sz="2400" b="1" i="1" baseline="-2500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r>
                      <a:rPr lang="en-US" sz="2400" b="1" i="1" baseline="-2500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𝟐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 |</m:t>
                    </m:r>
                    <m:d>
                      <m:dPr>
                        <m:begChr m:val=""/>
                        <m:endChr m:val="⟩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C6EF50-0445-46FF-EE8F-F0C391427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887" y="2528342"/>
                <a:ext cx="6249838" cy="461665"/>
              </a:xfrm>
              <a:prstGeom prst="rect">
                <a:avLst/>
              </a:prstGeom>
              <a:blipFill>
                <a:blip r:embed="rId2"/>
                <a:stretch>
                  <a:fillRect l="-1462" t="-132000" r="-8187" b="-19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91935BF-A9F2-2A41-5234-AA68093C7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889" y="4195024"/>
            <a:ext cx="8039311" cy="225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5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88456-F742-AE6C-A9F6-476B4E6B7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Performing Operations on Subsystems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17BC8-2E9D-A2C6-F10B-4D5968A7D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two qubit system again: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Doing nothing to the 1</a:t>
            </a:r>
            <a:r>
              <a:rPr lang="en-US" baseline="30000" dirty="0"/>
              <a:t>st</a:t>
            </a:r>
            <a:r>
              <a:rPr lang="en-US" dirty="0"/>
              <a:t> qubit and performing Hadamard to the 2</a:t>
            </a:r>
            <a:r>
              <a:rPr lang="en-US" baseline="30000" dirty="0"/>
              <a:t>nd</a:t>
            </a:r>
            <a:r>
              <a:rPr lang="en-US" dirty="0"/>
              <a:t> is equivalent to applying: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98CD67-B05B-8D44-2FEB-E43829C26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E4262-BD2B-CBBD-31F7-83DDFFB70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A3B5CB4-FAAC-4127-2E3D-72CCEAC7FE28}"/>
                  </a:ext>
                </a:extLst>
              </p:cNvPr>
              <p:cNvSpPr txBox="1"/>
              <p:nvPr/>
            </p:nvSpPr>
            <p:spPr>
              <a:xfrm>
                <a:off x="2738887" y="2528342"/>
                <a:ext cx="624983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ym typeface="Symbol" panose="05050102010706020507" pitchFamily="18" charset="2"/>
                  </a:rPr>
                  <a:t></a:t>
                </a:r>
                <a14:m>
                  <m:oMath xmlns:m="http://schemas.openxmlformats.org/officeDocument/2006/math">
                    <m:r>
                      <a:rPr lang="en-US" sz="2400" b="1" i="1" baseline="-25000">
                        <a:latin typeface="Cambria Math" panose="02040503050406030204" pitchFamily="18" charset="0"/>
                      </a:rPr>
                      <m:t>𝟏</m:t>
                    </m:r>
                    <m:r>
                      <m:rPr>
                        <m:nor/>
                      </m:rPr>
                      <a:rPr lang="en-US" sz="2400" b="1" dirty="0">
                        <a:sym typeface="Symbol" panose="05050102010706020507" pitchFamily="18" charset="2"/>
                      </a:rPr>
                      <m:t></m:t>
                    </m:r>
                    <m:r>
                      <a:rPr lang="en-US" sz="2400" b="1" i="1" baseline="-2500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𝟐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e>
                    </m:d>
                    <m:r>
                      <a:rPr lang="en-US" sz="2400" b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400" b="1" dirty="0">
                        <a:sym typeface="Symbol" panose="05050102010706020507" pitchFamily="18" charset="2"/>
                      </a:rPr>
                      <m:t></m:t>
                    </m:r>
                    <m:r>
                      <a:rPr lang="en-US" sz="2400" b="1" i="1" baseline="-2500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r>
                      <a:rPr lang="en-US" sz="2400" b="1" i="0" baseline="-2500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 |</m:t>
                    </m:r>
                    <m:d>
                      <m:dPr>
                        <m:begChr m:val=""/>
                        <m:endChr m:val="⟩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2400" b="1" dirty="0"/>
                  <a:t> + </a:t>
                </a:r>
                <a:r>
                  <a:rPr lang="en-US" sz="2400" b="1" dirty="0">
                    <a:sym typeface="Symbol" panose="05050102010706020507" pitchFamily="18" charset="2"/>
                  </a:rPr>
                  <a:t></a:t>
                </a:r>
                <a14:m>
                  <m:oMath xmlns:m="http://schemas.openxmlformats.org/officeDocument/2006/math">
                    <m:r>
                      <a:rPr lang="en-US" sz="2400" b="1" i="1" baseline="-2500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𝟐</m:t>
                    </m:r>
                    <m:r>
                      <m:rPr>
                        <m:nor/>
                      </m:rPr>
                      <a:rPr lang="en-US" sz="2400" b="1" dirty="0">
                        <a:sym typeface="Symbol" panose="05050102010706020507" pitchFamily="18" charset="2"/>
                      </a:rPr>
                      <m:t></m:t>
                    </m:r>
                    <m:r>
                      <a:rPr lang="en-US" sz="2400" b="1" i="1" baseline="-2500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sz="2400" b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b="1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dirty="0">
                        <a:sym typeface="Symbol" panose="05050102010706020507" pitchFamily="18" charset="2"/>
                      </a:rPr>
                      <m:t></m:t>
                    </m:r>
                    <m:r>
                      <a:rPr lang="en-US" sz="2400" b="1" i="1" baseline="-2500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r>
                      <a:rPr lang="en-US" sz="2400" b="1" i="1" baseline="-2500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𝟐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 |</m:t>
                    </m:r>
                    <m:d>
                      <m:dPr>
                        <m:begChr m:val=""/>
                        <m:endChr m:val="⟩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A3B5CB4-FAAC-4127-2E3D-72CCEAC7F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887" y="2528342"/>
                <a:ext cx="6249838" cy="461665"/>
              </a:xfrm>
              <a:prstGeom prst="rect">
                <a:avLst/>
              </a:prstGeom>
              <a:blipFill>
                <a:blip r:embed="rId2"/>
                <a:stretch>
                  <a:fillRect l="-1462" t="-132000" r="-8187" b="-19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3E211528-8A03-67C3-AB2D-26EBADE33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861" y="4263271"/>
            <a:ext cx="6746530" cy="209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93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96C1E-BE54-9F41-B9F6-2024A9A4F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The SWAP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BD462-37BD-48F2-0B86-6307A4835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SWAP operation (for a 2-state system) swaps the contents of the first and the second qubits: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be written as: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F7D7D-FB4C-E24C-1E94-79A0186F4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49C3F-DA97-E2CC-7121-310B67FC4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30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C33A3C-63D0-94FB-A8BE-AEE4D0F96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719" y="2843653"/>
            <a:ext cx="3581761" cy="6234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DC3B4D-56FE-8B06-32C9-58D46AC37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719" y="4600187"/>
            <a:ext cx="4824520" cy="1025973"/>
          </a:xfrm>
          <a:prstGeom prst="rect">
            <a:avLst/>
          </a:prstGeom>
        </p:spPr>
      </p:pic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86C0DAC2-4626-C875-6D35-491985EF7DF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319" t="25116"/>
          <a:stretch/>
        </p:blipFill>
        <p:spPr>
          <a:xfrm>
            <a:off x="7511340" y="3188519"/>
            <a:ext cx="3842460" cy="186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52F48-8D4A-5738-7CC7-71481F1E2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The Controlled NOT (CNOT) Operation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906BB-DD3A-0E11-0B3A-CE7AF616AD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controlled-NOT operation flips the 2</a:t>
                </a:r>
                <a:r>
                  <a:rPr lang="en-US" baseline="30000" dirty="0"/>
                  <a:t>nd</a:t>
                </a:r>
                <a:r>
                  <a:rPr lang="en-US" dirty="0"/>
                  <a:t> qubit if the first qubit is a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, else it leaves the 2</a:t>
                </a:r>
                <a:r>
                  <a:rPr lang="en-US" baseline="30000" dirty="0"/>
                  <a:t>nd</a:t>
                </a:r>
                <a:r>
                  <a:rPr lang="en-US" dirty="0"/>
                  <a:t> qubit unchanged.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906BB-DD3A-0E11-0B3A-CE7AF616AD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2A66B7-418B-BA17-CCE7-4AD6B641A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FACD9-F941-A8AF-DE43-EFDE9825F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31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54945F-EC8E-FA21-1789-F0A59C23F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610" y="2770283"/>
            <a:ext cx="7735129" cy="219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390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4A5F4-5A6C-7B6E-67E9-0B2254D8B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The </a:t>
            </a:r>
            <a:r>
              <a:rPr lang="en-US" dirty="0" err="1"/>
              <a:t>Fredekin</a:t>
            </a:r>
            <a:r>
              <a:rPr lang="en-US" dirty="0"/>
              <a:t> Operation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DD3F87F-232B-34D2-783C-9AB46E50B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4628" y="2458483"/>
            <a:ext cx="5858086" cy="317531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57EF44-6DE7-A9EC-73AE-9A565F970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832F1A-C536-4499-5C50-CA0F2634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32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A24AE7-A993-3E88-D814-43423E6F6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483" y="1981901"/>
            <a:ext cx="2870848" cy="10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83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D9297-0843-FBED-5F1E-E0B87C657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The TOFFOLI Operation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1664900-9AD1-FA56-CB57-5F967FF735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0738" y="1919495"/>
            <a:ext cx="8453376" cy="443685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818BB2-9AB8-D116-6181-C36C81FD3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258BC-3408-1457-9DBC-2D5C2891F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9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CBBF7-2369-B22A-E27A-BB1DC917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Summary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1E1EF-0742-16D7-70A4-09BCEE355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Quantum Bits can represent product states which are tensor products of vectors.</a:t>
            </a:r>
          </a:p>
          <a:p>
            <a:r>
              <a:rPr lang="en-US" dirty="0"/>
              <a:t>They may also represent </a:t>
            </a:r>
            <a:r>
              <a:rPr lang="en-US" i="1" dirty="0"/>
              <a:t>entangled</a:t>
            </a:r>
            <a:r>
              <a:rPr lang="en-US" dirty="0"/>
              <a:t> states, which can be considered as correlated qubits.</a:t>
            </a:r>
          </a:p>
          <a:p>
            <a:r>
              <a:rPr lang="en-US" dirty="0"/>
              <a:t>Bell States or EPR States represent a basic form of entangled qubits.</a:t>
            </a:r>
          </a:p>
          <a:p>
            <a:r>
              <a:rPr lang="en-US" dirty="0"/>
              <a:t>Operations (or gates) can be applied to individual qubits. </a:t>
            </a:r>
          </a:p>
          <a:p>
            <a:r>
              <a:rPr lang="en-US" dirty="0"/>
              <a:t>Some of the more common gates are the SWAP, </a:t>
            </a:r>
            <a:r>
              <a:rPr lang="en-US" dirty="0" err="1"/>
              <a:t>Fredekin</a:t>
            </a:r>
            <a:r>
              <a:rPr lang="en-US" dirty="0"/>
              <a:t> and TOFFOLI gates.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3FEC9-539A-C953-52A4-B2F811B0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3F092-95EF-DB33-AF53-2A216E5D3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359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5538</TotalTime>
  <Words>2053</Words>
  <Application>Microsoft Office PowerPoint</Application>
  <PresentationFormat>Widescreen</PresentationFormat>
  <Paragraphs>259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Consolas</vt:lpstr>
      <vt:lpstr>Gill Sans MT</vt:lpstr>
      <vt:lpstr>Times New Roman</vt:lpstr>
      <vt:lpstr>Office Theme</vt:lpstr>
      <vt:lpstr>CS/PHYS-314/300: Quantum Computing  Unit 04: Multiple Qubit Systems</vt:lpstr>
      <vt:lpstr> Unit Outline</vt:lpstr>
      <vt:lpstr> Multiple Qubit Systems</vt:lpstr>
      <vt:lpstr> Reading Activity</vt:lpstr>
      <vt:lpstr> Tensor Products of  Vectors</vt:lpstr>
      <vt:lpstr> Tensor Products of Two Vectors</vt:lpstr>
      <vt:lpstr> Ways to Express Tensor Products of  Vectors</vt:lpstr>
      <vt:lpstr> Linearity in Tensor Products of Vectors</vt:lpstr>
      <vt:lpstr> Tensor Products of three or more systems</vt:lpstr>
      <vt:lpstr> Multiple Qubit Systems</vt:lpstr>
      <vt:lpstr> Multiple Qubit Systems</vt:lpstr>
      <vt:lpstr> Multiple Qubit Systems</vt:lpstr>
      <vt:lpstr> Partial Measurement</vt:lpstr>
      <vt:lpstr> Partial Measurement</vt:lpstr>
      <vt:lpstr> Partial Measurement</vt:lpstr>
      <vt:lpstr> Partial Measurement</vt:lpstr>
      <vt:lpstr> Entanglement</vt:lpstr>
      <vt:lpstr> Entanglement</vt:lpstr>
      <vt:lpstr> Entanglement</vt:lpstr>
      <vt:lpstr> Entanglement</vt:lpstr>
      <vt:lpstr> Bell States</vt:lpstr>
      <vt:lpstr> Other Examples of Entangled States</vt:lpstr>
      <vt:lpstr> Class Exercise</vt:lpstr>
      <vt:lpstr> Class Exercise</vt:lpstr>
      <vt:lpstr> An Application of the EPR States: Class Activity</vt:lpstr>
      <vt:lpstr> Tensor Product of Unitary Matrices </vt:lpstr>
      <vt:lpstr> Performing Operations on Subsystems</vt:lpstr>
      <vt:lpstr> Performing Operations on Subsystems (contd).</vt:lpstr>
      <vt:lpstr> Performing Operations on Subsystems (contd.)</vt:lpstr>
      <vt:lpstr> The SWAP Operation</vt:lpstr>
      <vt:lpstr> The Controlled NOT (CNOT) Operation</vt:lpstr>
      <vt:lpstr> The Fredekin Operation</vt:lpstr>
      <vt:lpstr> The TOFFOLI Operation</vt:lpstr>
      <vt:lpstr> 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Faisal Alvi</dc:creator>
  <cp:lastModifiedBy>Faisal Alvi</cp:lastModifiedBy>
  <cp:revision>626</cp:revision>
  <dcterms:created xsi:type="dcterms:W3CDTF">2022-04-01T09:51:06Z</dcterms:created>
  <dcterms:modified xsi:type="dcterms:W3CDTF">2025-09-10T15:11:31Z</dcterms:modified>
</cp:coreProperties>
</file>