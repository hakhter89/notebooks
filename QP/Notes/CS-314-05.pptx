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2" r:id="rId2"/>
    <p:sldId id="264" r:id="rId3"/>
    <p:sldId id="572" r:id="rId4"/>
    <p:sldId id="573" r:id="rId5"/>
    <p:sldId id="574" r:id="rId6"/>
    <p:sldId id="575" r:id="rId7"/>
    <p:sldId id="491" r:id="rId8"/>
    <p:sldId id="576" r:id="rId9"/>
    <p:sldId id="577" r:id="rId10"/>
    <p:sldId id="578" r:id="rId11"/>
    <p:sldId id="579" r:id="rId12"/>
    <p:sldId id="580" r:id="rId13"/>
    <p:sldId id="581" r:id="rId14"/>
    <p:sldId id="582" r:id="rId15"/>
    <p:sldId id="583" r:id="rId16"/>
    <p:sldId id="584" r:id="rId17"/>
    <p:sldId id="585" r:id="rId18"/>
    <p:sldId id="587" r:id="rId19"/>
    <p:sldId id="588" r:id="rId20"/>
    <p:sldId id="589" r:id="rId21"/>
    <p:sldId id="605" r:id="rId22"/>
    <p:sldId id="606" r:id="rId23"/>
    <p:sldId id="5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CCFFFF"/>
    <a:srgbClr val="99FFCC"/>
    <a:srgbClr val="FF9999"/>
    <a:srgbClr val="FF00FF"/>
    <a:srgbClr val="0066CC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4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CS/PHYS-314/300: Quantum Computing</a:t>
            </a:r>
            <a:br>
              <a:rPr lang="en-US" sz="3600" dirty="0"/>
            </a:br>
            <a:br>
              <a:rPr lang="en-US" sz="3600" dirty="0"/>
            </a:br>
            <a:r>
              <a:rPr lang="en-US" dirty="0"/>
              <a:t>Unit 05:</a:t>
            </a:r>
            <a:br>
              <a:rPr lang="en-US" dirty="0"/>
            </a:br>
            <a:r>
              <a:rPr lang="en-US" dirty="0"/>
              <a:t>Quantum Circuits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Quantum Circuit Model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Basic Quantum Gates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Quantum Gate Symbols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No-Cloning Theorem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/>
              <a:t>Summary</a:t>
            </a:r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35FE-8B4B-5E9F-8051-B254EC87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Quantum Circuit Model of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CA88-8DD1-886C-1A34-CBED209A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quantum circuit model of computation is a standard description of quantum computations.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 computer science, circuits are models of computation in which information is carried by wires through a network of gates, which represent operations that transform the information carried by the wires.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Quantum circuits are just one example of a model of computation based on this more general concept.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A403D-9BC7-3A5F-3DF7-D4568E8A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4C0E3-9A79-81D2-CB6F-9216FB9D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A775-0F48-EE5E-6B13-B8415E1E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Boolean Circuits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BFAE20-1E7A-0252-30F2-0B2AC9CC2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011" y="1966823"/>
            <a:ext cx="9784559" cy="41584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92DAD-02D4-2F73-9801-56899BB3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665EB-E5F6-CCE0-0CBB-8224B222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DAE9-7889-AB8A-7780-5CA855A9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Quantum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A578-C6C3-2089-F2A4-EB8CACBF0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quantum circuit model, wires represent qubits and gates represent operations acting on these qubits.</a:t>
            </a:r>
          </a:p>
          <a:p>
            <a:r>
              <a:rPr lang="en-US" dirty="0"/>
              <a:t>Operations are:</a:t>
            </a:r>
          </a:p>
          <a:p>
            <a:pPr lvl="1"/>
            <a:r>
              <a:rPr lang="en-US" dirty="0"/>
              <a:t>Unitary operations,</a:t>
            </a:r>
          </a:p>
          <a:p>
            <a:pPr lvl="1"/>
            <a:r>
              <a:rPr lang="en-US" dirty="0"/>
              <a:t>Measurement.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of a Quantum Circuit: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9CCE1-C8AD-9E69-8CE5-C05C1A3D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40F6C-78FE-7704-BC50-504A10D8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B2B21-F8B5-D13D-98AC-1E7B0981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11" y="5158584"/>
            <a:ext cx="4615215" cy="8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5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16B9-7BDC-484B-62F9-00CE0B62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Quantum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8A0BB0-954D-144E-5DB8-150732B7F9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circuit represents </a:t>
                </a:r>
                <a:r>
                  <a:rPr lang="en-US" i="1" dirty="0"/>
                  <a:t>X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  <m:r>
                      <a:rPr lang="en-US" sz="2800" b="0" i="1" baseline="-2500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dirty="0"/>
                  <a:t> 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output when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  <m:r>
                      <a:rPr lang="en-US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dirty="0"/>
                  <a:t>is shown in the figure.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8A0BB0-954D-144E-5DB8-150732B7F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A2C26-075C-BB40-4E4A-F2D3279D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B7ACF-E988-94A2-ADC2-7D2353BA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1F426-00D4-64F0-59C2-34502999E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111" y="2493921"/>
            <a:ext cx="8436491" cy="108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6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85A8-C085-E230-0D07-3FDCA17E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Some Quantum Gates and their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A010-A35E-F121-9277-461738C7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B3F1B-1160-8638-95EB-EDD3BBFF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FE831-8FB4-2541-BBF7-EAC5A52B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8015E-2CA4-CC7F-84DC-CD1EE8C0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44" y="1863725"/>
            <a:ext cx="49625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0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FCA6-D96E-4007-78C3-535F5A14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Gate Symbols:  The CNOT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EA4B5-86A0-7B63-4190-9C8BA3F8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99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controlled-NOT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Be Careful</a:t>
            </a:r>
            <a:r>
              <a:rPr lang="en-US" sz="2400" dirty="0"/>
              <a:t>! In </a:t>
            </a:r>
            <a:r>
              <a:rPr lang="en-US" sz="2400" dirty="0" err="1"/>
              <a:t>Qiskit</a:t>
            </a:r>
            <a:r>
              <a:rPr lang="en-US" sz="2400" dirty="0"/>
              <a:t>, the order of bits is replaced. This results in a controlled-NOT operation being represented by 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6C19A-66FF-2C35-9F1A-5864C514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EF991-03EB-39EB-76C4-869D532A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5EABC0-68DC-77D7-AB50-DD421303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42" y="2324203"/>
            <a:ext cx="9096065" cy="1574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36EFD-7842-AD54-6F75-CC731AD4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120621"/>
            <a:ext cx="2195636" cy="214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6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FEA7-7EBA-DC21-A4C3-C6491AEC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Gate Symbols:  The SWAP Gate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D662D-7D01-B30E-CE49-8623167D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8ED43-BC8E-B4C2-519A-C4EFAAEF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B95F3-25DF-DB77-6D82-B1474728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89" y="4001294"/>
            <a:ext cx="9171433" cy="15922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59702-9B88-9A00-C9A4-438B97239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892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Recall from the previous slide set that the swap operation swaps two qubits, i.e.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B0E1A-D677-6748-E728-617181C1E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864402"/>
            <a:ext cx="3581761" cy="6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9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74B0-77F8-B383-FB6A-462CDB7B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Gate Symbols: More “Controlled” Gates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6A086-E6EB-AE48-6A90-AC161559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6FFD6-19C1-414C-D801-B0C94CD9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7A151-8B5A-3447-BFE7-0DB4DDDB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24" y="2542595"/>
            <a:ext cx="8632240" cy="270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3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42C9-7506-2B6C-F114-6D377956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Gate Symbols:  The TOFFOLI Gate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501BF4-4FE2-01E2-6068-D328CC75C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607" y="2398839"/>
            <a:ext cx="9042571" cy="263036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402DC-C072-7062-38BB-F80A07F8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03F81-5833-7CFD-4EEB-F4E45D7F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FF01-7CFC-BFB0-28A9-C4E5C05B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Gate Symbols: The </a:t>
            </a:r>
            <a:r>
              <a:rPr lang="en-US" dirty="0" err="1"/>
              <a:t>Fredekin</a:t>
            </a:r>
            <a:r>
              <a:rPr lang="en-US" dirty="0"/>
              <a:t> Gate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C4E74-72A2-8B2D-4D63-9F92FE58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75917-DF93-538B-67B6-30ADAF73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74131-B24D-7C48-DA48-1AB156E0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87" y="2137743"/>
            <a:ext cx="9719194" cy="265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2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24A5-E24D-0D55-0384-57E164A3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More Symbols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AA38B-169D-1A2A-2949-9C6A5605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8BD04-353F-79FD-0FC8-1698FFE2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0FE40-45CC-2302-8D11-58906D6D2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249" y="2479085"/>
            <a:ext cx="9491501" cy="288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1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F26E-74D6-09F3-95EB-1D645925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Basic Gate Operations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7ACF8F-ED04-6D51-B5D4-BB2EDE65F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580" y="2380944"/>
            <a:ext cx="10033515" cy="324923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CD802-80B8-BAFA-914F-E5365275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19E21-E60F-4415-999B-63EE0946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1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46FB-F310-8CB9-F35B-C1DF8BF5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Gate Operations: Controlled-NOT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3BC54A-BB68-CE7E-21AB-06383316B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6883" y="1839498"/>
            <a:ext cx="3746028" cy="355201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BE6FE-5587-A4C0-7083-BF7CCEA6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0BA04-A99F-5311-A4B8-ADDA90B1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AC8688-961A-FCF3-3EAF-A5FB29385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518" y="5444380"/>
            <a:ext cx="6724725" cy="70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8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1927-79CE-3637-1FF2-4768B6FF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Gate Operations – SWAP Using CNOT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142965-9C95-F46E-EAF2-87A2CFF83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982" y="2609848"/>
            <a:ext cx="8997702" cy="228995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59BD9-0B17-12C3-82BB-25E25454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FE5AC-05E7-E983-3346-F5C7379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548646-A72F-734B-E6B6-2D173B7C2FA6}"/>
                  </a:ext>
                </a:extLst>
              </p:cNvPr>
              <p:cNvSpPr txBox="1"/>
              <p:nvPr/>
            </p:nvSpPr>
            <p:spPr>
              <a:xfrm>
                <a:off x="809625" y="5143500"/>
                <a:ext cx="104394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Gill Sans MT" panose="020B0502020104020203" pitchFamily="34" charset="0"/>
                  </a:rPr>
                  <a:t>Class Exercise: (a) Use various inputs i.e. 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) to verify the above identity. (b) Use matrices to prove the above identity.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548646-A72F-734B-E6B6-2D173B7C2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" y="5143500"/>
                <a:ext cx="10439400" cy="954107"/>
              </a:xfrm>
              <a:prstGeom prst="rect">
                <a:avLst/>
              </a:prstGeom>
              <a:blipFill>
                <a:blip r:embed="rId3"/>
                <a:stretch>
                  <a:fillRect l="-1227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25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E4DC-B72E-D9C7-64D4-355FD19B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	Gate Operations: </a:t>
            </a:r>
            <a:br>
              <a:rPr lang="en-US" sz="3600" dirty="0"/>
            </a:br>
            <a:r>
              <a:rPr lang="en-US" sz="3600" dirty="0"/>
              <a:t>	Bell (EPR) States Using Hadamard and CNOT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4F2704-4059-64C0-8286-9D91221B2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934" y="2208363"/>
            <a:ext cx="9128631" cy="341606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9F52E-0AD0-D95A-BFD3-A05FE756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4D875-EF1F-ACCE-F77F-77E80F79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0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D88B-AC8A-79D1-D67B-5DFC91FB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	Gate Operations: </a:t>
            </a:r>
            <a:br>
              <a:rPr lang="en-US" sz="3600" dirty="0"/>
            </a:br>
            <a:r>
              <a:rPr lang="en-US" sz="3600" dirty="0"/>
              <a:t>	Bell (EPR) States Using Hadamard and CNOT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E6232-2625-A11C-C194-3599FCEB9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800" dirty="0">
                    <a:latin typeface="Gill Sans MT" panose="020B0502020104020203" pitchFamily="34" charset="0"/>
                  </a:rPr>
                  <a:t>Class Exercise: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800" dirty="0">
                    <a:latin typeface="Gill Sans MT" panose="020B0502020104020203" pitchFamily="34" charset="0"/>
                  </a:rPr>
                  <a:t>(a) Use various inputs i.e. 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sz="2800" dirty="0">
                    <a:latin typeface="Gill Sans MT" panose="020B0502020104020203" pitchFamily="34" charset="0"/>
                  </a:rPr>
                  <a:t>) to verify that Bell states are produced by the following circuit.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800" dirty="0">
                    <a:latin typeface="Gill Sans MT" panose="020B0502020104020203" pitchFamily="34" charset="0"/>
                  </a:rPr>
                  <a:t>(b) Use matrices to prove that Bell states are produced by the following circuit.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E6232-2625-A11C-C194-3599FCEB9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57546-742E-4386-41D1-4CDFF946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C3DB6-B9D9-E1AB-54EE-633E06D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4BC683D-DECB-C015-5886-FD385464BD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994" r="1079" b="21582"/>
          <a:stretch/>
        </p:blipFill>
        <p:spPr>
          <a:xfrm>
            <a:off x="7610475" y="2293264"/>
            <a:ext cx="3644840" cy="267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2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70B5-EA87-3027-55A4-AABBBC892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	Gate Operations: </a:t>
            </a:r>
            <a:br>
              <a:rPr lang="en-US" sz="3600" dirty="0"/>
            </a:br>
            <a:r>
              <a:rPr lang="en-US" sz="3600" dirty="0"/>
              <a:t>	Circuit With Measurement for Teleportation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913C-1D86-E005-68CA-F0386192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is a classical bit shown with two lines.</a:t>
            </a:r>
          </a:p>
          <a:p>
            <a:endParaRPr lang="en-US" dirty="0"/>
          </a:p>
          <a:p>
            <a:r>
              <a:rPr lang="en-US" dirty="0"/>
              <a:t>Quantum Circuit for Teleportation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791F4-A0D3-1FAA-3F1E-90B9E725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7FC64-CD06-B397-0145-267BA439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DD12F-663C-A4B0-8559-99D6D39C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97" y="2068909"/>
            <a:ext cx="3965298" cy="1037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74DF7-6A53-4607-B4B1-289EABB83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076" y="3480594"/>
            <a:ext cx="7995324" cy="252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8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14C1-D9C7-8375-83C9-36A4A9CC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No-Cloning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D7AA3-E476-851F-3B39-41765944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Reading Assignment: Read the last section ‘Inner products, orthonormality, and projections’ of Quantum Circuits on the </a:t>
            </a:r>
            <a:r>
              <a:rPr lang="en-US" sz="2400" dirty="0" err="1"/>
              <a:t>Qiskit</a:t>
            </a:r>
            <a:r>
              <a:rPr lang="en-US" sz="2400" dirty="0"/>
              <a:t> Textbook.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FE12E-0299-D13F-1B8F-3ACA949C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30658-3EFF-89B2-B1A2-4539C91C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1028E-C8B3-A975-CEB1-9590EC01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55" y="2784068"/>
            <a:ext cx="8779045" cy="366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1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DE87-2ACF-E9EA-081F-314CF818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No-Cloning Theorem – Proof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046FCF-BAF5-8D67-33D5-04E74227D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73" t="3554" r="2051"/>
          <a:stretch/>
        </p:blipFill>
        <p:spPr>
          <a:xfrm>
            <a:off x="629727" y="1735931"/>
            <a:ext cx="8628168" cy="455343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7A042-7D9B-BCC2-C3E1-46AC44CB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14695-9E8A-93B7-41E6-948A5D4C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F4A0-96AC-1307-8B26-7C1573093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816" y="3407932"/>
            <a:ext cx="2571882" cy="12764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743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8C4A-A1D6-39BB-83B8-4100EF17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No-Cloning Theorem – Proof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2E624-FA6A-ED36-BFA3-DF9DBDE8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FC0EA-BCB2-22E8-3CDB-EA139ACF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26870-EA0E-2BA0-9157-017B6DB83D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8" r="2277"/>
          <a:stretch/>
        </p:blipFill>
        <p:spPr>
          <a:xfrm>
            <a:off x="717429" y="1951002"/>
            <a:ext cx="8781391" cy="4190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331AD-F63E-D253-D844-5D24A46C9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611" y="2676518"/>
            <a:ext cx="3895752" cy="8509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8B1D16-3293-0C34-A225-269F443078C0}"/>
              </a:ext>
            </a:extLst>
          </p:cNvPr>
          <p:cNvCxnSpPr>
            <a:cxnSpLocks/>
          </p:cNvCxnSpPr>
          <p:nvPr/>
        </p:nvCxnSpPr>
        <p:spPr>
          <a:xfrm flipH="1">
            <a:off x="6021238" y="3101975"/>
            <a:ext cx="1778747" cy="1073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70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26AD-9364-8AE9-3FE9-686AE1EE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2F74-9C8F-C0B9-8B1E-DDBD122A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Quantum Circuit Model uses Quantum Operations and Gates.</a:t>
            </a:r>
          </a:p>
          <a:p>
            <a:r>
              <a:rPr lang="en-US" dirty="0"/>
              <a:t>Several operations are available for quantum circuit design.</a:t>
            </a:r>
          </a:p>
          <a:p>
            <a:r>
              <a:rPr lang="en-US" dirty="0"/>
              <a:t>The CNOT Gate is one of the most useful and basic gates for quantum circuits.</a:t>
            </a:r>
          </a:p>
          <a:p>
            <a:r>
              <a:rPr lang="en-US" dirty="0"/>
              <a:t>Quantum circuits may be analyzed using inputs as well as through matrices.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FA925-3743-6030-82DE-E065EB57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FD133-8ED8-9383-5680-71810B6A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0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5527</TotalTime>
  <Words>675</Words>
  <Application>Microsoft Office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Consolas</vt:lpstr>
      <vt:lpstr>Gill Sans MT</vt:lpstr>
      <vt:lpstr>Office Theme</vt:lpstr>
      <vt:lpstr>CS/PHYS-314/300: Quantum Computing  Unit 05: Quantum Circuits</vt:lpstr>
      <vt:lpstr> Unit Outline</vt:lpstr>
      <vt:lpstr> The Quantum Circuit Model of Computation</vt:lpstr>
      <vt:lpstr> Boolean Circuits</vt:lpstr>
      <vt:lpstr> Quantum Circuits</vt:lpstr>
      <vt:lpstr> Quantum Circuit</vt:lpstr>
      <vt:lpstr> Some Quantum Gates and their symbols</vt:lpstr>
      <vt:lpstr>  Gate Symbols:  The CNOT Gate</vt:lpstr>
      <vt:lpstr> Gate Symbols:  The SWAP Gate</vt:lpstr>
      <vt:lpstr>  Gate Symbols: More “Controlled” Gates</vt:lpstr>
      <vt:lpstr> Gate Symbols:  The TOFFOLI Gate</vt:lpstr>
      <vt:lpstr> Gate Symbols: The Fredekin Gate</vt:lpstr>
      <vt:lpstr> More Symbols</vt:lpstr>
      <vt:lpstr> Basic Gate Operations</vt:lpstr>
      <vt:lpstr> Gate Operations: Controlled-NOT</vt:lpstr>
      <vt:lpstr>  Gate Operations – SWAP Using CNOT</vt:lpstr>
      <vt:lpstr> Gate Operations:   Bell (EPR) States Using Hadamard and CNOT</vt:lpstr>
      <vt:lpstr> Gate Operations:   Bell (EPR) States Using Hadamard and CNOT</vt:lpstr>
      <vt:lpstr> Gate Operations:   Circuit With Measurement for Teleportation</vt:lpstr>
      <vt:lpstr> The No-Cloning Theorem</vt:lpstr>
      <vt:lpstr> The No-Cloning Theorem – Proof </vt:lpstr>
      <vt:lpstr> The No-Cloning Theorem – Proof </vt:lpstr>
      <vt:lpstr>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656</cp:revision>
  <dcterms:created xsi:type="dcterms:W3CDTF">2022-04-01T09:51:06Z</dcterms:created>
  <dcterms:modified xsi:type="dcterms:W3CDTF">2025-09-17T09:13:54Z</dcterms:modified>
</cp:coreProperties>
</file>