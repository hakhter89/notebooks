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62" r:id="rId2"/>
    <p:sldId id="264" r:id="rId3"/>
    <p:sldId id="491" r:id="rId4"/>
    <p:sldId id="525" r:id="rId5"/>
    <p:sldId id="526" r:id="rId6"/>
    <p:sldId id="509" r:id="rId7"/>
    <p:sldId id="527" r:id="rId8"/>
    <p:sldId id="528" r:id="rId9"/>
    <p:sldId id="529" r:id="rId10"/>
    <p:sldId id="530" r:id="rId11"/>
    <p:sldId id="511" r:id="rId12"/>
    <p:sldId id="542" r:id="rId13"/>
    <p:sldId id="531" r:id="rId14"/>
    <p:sldId id="532" r:id="rId15"/>
    <p:sldId id="533" r:id="rId16"/>
    <p:sldId id="534" r:id="rId17"/>
    <p:sldId id="541" r:id="rId18"/>
    <p:sldId id="535" r:id="rId19"/>
    <p:sldId id="493" r:id="rId20"/>
    <p:sldId id="536" r:id="rId21"/>
    <p:sldId id="537" r:id="rId22"/>
    <p:sldId id="538" r:id="rId23"/>
    <p:sldId id="539" r:id="rId24"/>
    <p:sldId id="54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CC"/>
    <a:srgbClr val="CCFFFF"/>
    <a:srgbClr val="99FFCC"/>
    <a:srgbClr val="FF9999"/>
    <a:srgbClr val="FF00FF"/>
    <a:srgbClr val="0066CC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" y="30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hyperlink" Target="https://javafxpert.github.io/grok-bloch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CS/PHYS-314/300: Quantum Computing</a:t>
            </a:r>
            <a:br>
              <a:rPr lang="en-US" sz="3600" dirty="0"/>
            </a:br>
            <a:br>
              <a:rPr lang="en-US" sz="3600" dirty="0"/>
            </a:br>
            <a:r>
              <a:rPr lang="en-US"/>
              <a:t>Unit 03:</a:t>
            </a:r>
            <a:br>
              <a:rPr lang="en-US" dirty="0"/>
            </a:br>
            <a:r>
              <a:rPr lang="en-US" dirty="0"/>
              <a:t>Quantum Gates and Bloch Sphere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Recap – Unitary Matrices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The Pauli Matrices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Hadamard Operation and Measurement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Qubit – Amplitude and Phase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The Bloch Sphere [Nielsen and Chuang: Chapter 1]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Summary</a:t>
            </a:r>
            <a:endParaRPr lang="en-US" sz="1800" dirty="0"/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/>
              <a:t>[Reference</a:t>
            </a:r>
            <a:r>
              <a:rPr lang="en-US" sz="1800"/>
              <a:t>] https</a:t>
            </a:r>
            <a:r>
              <a:rPr lang="en-US" sz="1800" dirty="0"/>
              <a:t>://quantum.cloud.ibm.com/learning/en/courses/basics-of-quantum-information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85A8-C085-E230-0D07-3FDCA17E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Unitary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FA010-A35E-F121-9277-461738C7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Recall from the previous unit that we were introduced to unitary operations.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In this unit we build upon that content, and illustrate further operations.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/>
              <a:t>We also give an overview of the Bloch Sphere – a visualization tool for a single qubit.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600" dirty="0"/>
          </a:p>
          <a:p>
            <a:pPr marL="914400" lvl="2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/>
              <a:t>								     </a:t>
            </a:r>
          </a:p>
          <a:p>
            <a:pPr marL="914400" lvl="2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/>
              <a:t>			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B3F1B-1160-8638-95EB-EDD3BBFF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FE831-8FB4-2541-BBF7-EAC5A52B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0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69C-1A6C-12F1-A7E4-813AED7B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Recap – Unitary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FEE2D-ABD2-8238-D482-0958FF441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A square matrix </a:t>
            </a:r>
            <a:r>
              <a:rPr lang="en-US" sz="2600" i="1" dirty="0"/>
              <a:t>U</a:t>
            </a:r>
            <a:r>
              <a:rPr lang="en-US" sz="2600" dirty="0"/>
              <a:t> with complex number entries is called a unitary matrix if it satisfies the following condition:</a:t>
            </a:r>
          </a:p>
          <a:p>
            <a:pPr>
              <a:lnSpc>
                <a:spcPct val="100000"/>
              </a:lnSpc>
            </a:pPr>
            <a:endParaRPr lang="en-US" sz="2600" dirty="0"/>
          </a:p>
          <a:p>
            <a:pPr>
              <a:lnSpc>
                <a:spcPct val="100000"/>
              </a:lnSpc>
            </a:pPr>
            <a:endParaRPr lang="en-US" sz="2600" dirty="0"/>
          </a:p>
          <a:p>
            <a:pPr>
              <a:lnSpc>
                <a:spcPct val="100000"/>
              </a:lnSpc>
            </a:pPr>
            <a:r>
              <a:rPr lang="en-US" sz="2600" dirty="0"/>
              <a:t>Here </a:t>
            </a:r>
            <a:r>
              <a:rPr lang="en-US" sz="2600" i="1" dirty="0"/>
              <a:t>U</a:t>
            </a:r>
            <a:r>
              <a:rPr lang="en-US" sz="2600" baseline="30000" dirty="0">
                <a:cs typeface="Times New Roman" panose="02020603050405020304" pitchFamily="18" charset="0"/>
              </a:rPr>
              <a:t>†</a:t>
            </a:r>
            <a:r>
              <a:rPr lang="en-US" sz="2600" baseline="-25000" dirty="0">
                <a:cs typeface="Times New Roman" panose="02020603050405020304" pitchFamily="18" charset="0"/>
              </a:rPr>
              <a:t> </a:t>
            </a:r>
            <a:r>
              <a:rPr lang="en-US" sz="2600" dirty="0">
                <a:cs typeface="Times New Roman" panose="02020603050405020304" pitchFamily="18" charset="0"/>
              </a:rPr>
              <a:t>is the conjugate transpose of </a:t>
            </a:r>
            <a:r>
              <a:rPr lang="en-US" sz="2600" i="1" dirty="0">
                <a:cs typeface="Times New Roman" panose="02020603050405020304" pitchFamily="18" charset="0"/>
              </a:rPr>
              <a:t>U</a:t>
            </a:r>
            <a:r>
              <a:rPr lang="en-US" sz="2600" dirty="0">
                <a:cs typeface="Times New Roman" panose="02020603050405020304" pitchFamily="18" charset="0"/>
              </a:rPr>
              <a:t>, while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dirty="0">
                <a:cs typeface="Times New Roman" panose="02020603050405020304" pitchFamily="18" charset="0"/>
              </a:rPr>
              <a:t> is the identity matrix.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The condition that </a:t>
            </a:r>
            <a:r>
              <a:rPr lang="en-US" sz="2600" i="1" dirty="0"/>
              <a:t>U</a:t>
            </a:r>
            <a:r>
              <a:rPr lang="en-US" sz="2600" dirty="0"/>
              <a:t> is unitary is equivalent to the condition that multiplication by </a:t>
            </a:r>
            <a:r>
              <a:rPr lang="en-US" sz="2600" i="1" dirty="0"/>
              <a:t>U</a:t>
            </a:r>
            <a:r>
              <a:rPr lang="en-US" sz="2600" dirty="0"/>
              <a:t> does not change the Euclidean norm of any vector.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28AB1-6DEB-9B0A-D8AD-4641257C2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79DF2-B6E6-981D-4607-69FCFDB7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70AA6-368D-0C95-9A98-8C6681CC4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031" y="2722746"/>
            <a:ext cx="1580735" cy="1057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C40034-F609-6EDB-79E2-36D37B94BE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38"/>
          <a:stretch/>
        </p:blipFill>
        <p:spPr>
          <a:xfrm>
            <a:off x="4791847" y="5583252"/>
            <a:ext cx="2667191" cy="54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3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57F5-BCAF-36E5-FFC9-31FDFBA0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Recap – Some well known unitary matrices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51342-E413-3F43-9565-D10E76DA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848BA-1ED3-7D19-E2BE-2A7DF8B3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37E9B2E-6D48-8974-B640-C0E7D199C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Pauli Operations: The four well known Pauli matrices are: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Hadamard Operation:		3. Phase Operation: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ECEDAD-4935-C9D8-97D3-892CB3D93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74" t="30860"/>
          <a:stretch/>
        </p:blipFill>
        <p:spPr>
          <a:xfrm>
            <a:off x="1328604" y="2301410"/>
            <a:ext cx="9534791" cy="1127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615381-7CE2-9B19-FD6C-BDF2141E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29" y="4394802"/>
            <a:ext cx="2969985" cy="1545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E91C38-3946-72EB-F6E3-FF4657278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651" y="4520392"/>
            <a:ext cx="2457892" cy="112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1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013B-CAA4-6837-4C6F-D99152C3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Pauli Matrices – The </a:t>
            </a:r>
            <a:r>
              <a:rPr lang="en-US" i="1" dirty="0"/>
              <a:t>X</a:t>
            </a:r>
            <a:r>
              <a:rPr lang="en-US" dirty="0"/>
              <a:t>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E15A9-5603-E8A8-98D4-D777B05856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dirty="0"/>
                  <a:t>What is the effect of applying </a:t>
                </a:r>
                <a:r>
                  <a:rPr lang="en-US" i="1" dirty="0"/>
                  <a:t>X</a:t>
                </a:r>
                <a:r>
                  <a:rPr lang="en-US" dirty="0"/>
                  <a:t> (</a:t>
                </a:r>
                <a:r>
                  <a:rPr lang="en-US" dirty="0">
                    <a:sym typeface="Symbol" panose="05050102010706020507" pitchFamily="18" charset="2"/>
                  </a:rPr>
                  <a:t>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x</a:t>
                </a:r>
                <a:r>
                  <a:rPr lang="en-US" dirty="0">
                    <a:sym typeface="Symbol" panose="05050102010706020507" pitchFamily="18" charset="2"/>
                  </a:rPr>
                  <a:t>) on a qubit. Let’s investigate…</a:t>
                </a: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dirty="0">
                    <a:sym typeface="Symbol" panose="05050102010706020507" pitchFamily="18" charset="2"/>
                  </a:rPr>
                  <a:t>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x</a:t>
                </a:r>
                <a:r>
                  <a:rPr lang="en-US" i="1" dirty="0">
                    <a:sym typeface="Symbol" panose="05050102010706020507" pitchFamily="18" charset="2"/>
                  </a:rPr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-- effectively flipping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|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to a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|1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dirty="0"/>
                  <a:t>Likewise, </a:t>
                </a:r>
                <a:r>
                  <a:rPr lang="en-US" dirty="0">
                    <a:sym typeface="Symbol" panose="05050102010706020507" pitchFamily="18" charset="2"/>
                  </a:rPr>
                  <a:t>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x</a:t>
                </a:r>
                <a:r>
                  <a:rPr lang="en-US" i="1" dirty="0">
                    <a:sym typeface="Symbol" panose="05050102010706020507" pitchFamily="18" charset="2"/>
                  </a:rPr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:r>
                  <a:rPr lang="en-US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.  What is </a:t>
                </a:r>
                <a:r>
                  <a:rPr lang="en-US" dirty="0">
                    <a:sym typeface="Symbol" panose="05050102010706020507" pitchFamily="18" charset="2"/>
                  </a:rPr>
                  <a:t></a:t>
                </a:r>
                <a:r>
                  <a:rPr lang="en-US" i="1" baseline="-25000" dirty="0">
                    <a:sym typeface="Symbol" panose="05050102010706020507" pitchFamily="18" charset="2"/>
                  </a:rPr>
                  <a:t>x</a:t>
                </a:r>
                <a:r>
                  <a:rPr lang="en-US" i="1" dirty="0">
                    <a:sym typeface="Symbol" panose="05050102010706020507" pitchFamily="18" charset="2"/>
                  </a:rPr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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i="1" dirty="0"/>
                  <a:t>X</a:t>
                </a:r>
                <a:r>
                  <a:rPr lang="en-US" dirty="0"/>
                  <a:t> is also called a </a:t>
                </a:r>
                <a:r>
                  <a:rPr lang="en-US" i="1" dirty="0"/>
                  <a:t>bit flip</a:t>
                </a:r>
                <a:r>
                  <a:rPr lang="en-US" dirty="0"/>
                  <a:t> or a </a:t>
                </a:r>
                <a:r>
                  <a:rPr lang="en-US" i="1" dirty="0"/>
                  <a:t>NOT operation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E15A9-5603-E8A8-98D4-D777B05856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39772-6A07-E909-B01D-C98CFFCD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BB8E3-0BDD-B023-B6B2-8E5A130A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4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7978-B9C8-293B-7C82-00378836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Pauli Matrices – The </a:t>
            </a:r>
            <a:r>
              <a:rPr lang="en-US" i="1" dirty="0"/>
              <a:t>Hadamard Operation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D54B-05DD-AD6D-6D5D-1F4B03900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Hadamard operation is described by this matrix: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Action of Hadamard Operation on various qubit state vectors: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E85C-0BFE-1613-3270-EB27DBE8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28E43-C7EF-DA5F-5182-FFE8FA1C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34741-5475-6D5E-B486-2925EE6D2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506" y="2303388"/>
            <a:ext cx="2914871" cy="1440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FD8D14-E4D3-A4C3-51EF-D3B0DC8A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85" y="4439375"/>
            <a:ext cx="6941632" cy="159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2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C817-9E55-CC6D-6213-9427755D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Pauli Matrices – The </a:t>
            </a:r>
            <a:r>
              <a:rPr lang="en-US" i="1" dirty="0"/>
              <a:t>Hadamard Operation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D16DAD-E90E-8E70-085B-59642E008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072" y="2064021"/>
            <a:ext cx="5591479" cy="123398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87CD5-FE96-81FE-5C86-D516B80B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3A3AF-C060-06F0-B5E4-FD152425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107077-EEC9-B5DD-EB16-A0AC35085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798" y="3561679"/>
            <a:ext cx="5755749" cy="13250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B4BB99-EB33-4074-1ED1-037DC7CB1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524" y="4921921"/>
            <a:ext cx="5789658" cy="13992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924AD2-30E6-2F40-92DD-5A95C5D84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152" y="2794990"/>
            <a:ext cx="1901685" cy="20991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744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09D0-002B-1215-6349-5EAA5D4B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Hadamard Operation and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27EC56-9CED-77E2-6269-C486E5DAA9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Consider the fact that </a:t>
                </a:r>
                <a:r>
                  <a:rPr lang="en-US" i="1" dirty="0"/>
                  <a:t>H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 |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:r>
                  <a:rPr lang="en-US" i="1" dirty="0"/>
                  <a:t>H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= 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Consider a situation in which a qubit is prepared in one of the two quantum states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, but it is not known which one it is.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Measuring either state produces the same output distribution as the other: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dirty="0"/>
                  <a:t>appear with equal probability 1/2.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So, doing this provides no information about which of the two states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dirty="0"/>
                  <a:t> and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 was originally prepared.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27EC56-9CED-77E2-6269-C486E5DAA9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BDF60-73A3-55D8-9A26-AFB5825F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6E753-DA0E-9BAE-6C80-851257ED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7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68B8-71BB-A570-B568-38CC90B6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Hadamard Operations and 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623C4-5DF8-08FD-5B60-5108F6B312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However, if we apply a Hadamard operation and then measure,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i="1" dirty="0"/>
                  <a:t>We obtain the outcome 0 with certainty if the original state was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i="1" dirty="0"/>
                  <a:t>We obtain the outcome 1 with certainty, if the original state was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Thus, the quantum states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|</m:t>
                    </m:r>
                    <m:d>
                      <m:dPr>
                        <m:begChr m:val="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be discriminated perfectly.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This reveals that sign changes, or </a:t>
                </a:r>
                <a:r>
                  <a:rPr lang="en-US" i="1" dirty="0"/>
                  <a:t>more generally changes to the </a:t>
                </a:r>
                <a:r>
                  <a:rPr lang="en-US" b="1" i="1" dirty="0"/>
                  <a:t>phases</a:t>
                </a:r>
                <a:r>
                  <a:rPr lang="en-US" i="1" dirty="0"/>
                  <a:t> </a:t>
                </a:r>
                <a:r>
                  <a:rPr lang="en-US" dirty="0"/>
                  <a:t>(which are also traditionally called </a:t>
                </a:r>
                <a:r>
                  <a:rPr lang="en-US" b="1" dirty="0"/>
                  <a:t>arguments</a:t>
                </a:r>
                <a:r>
                  <a:rPr lang="en-US" dirty="0"/>
                  <a:t>) of the complex number amplitudes of a quantum state vector, can significantly change that state.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623C4-5DF8-08FD-5B60-5108F6B31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3BB44-C830-FA04-7387-200C6BD2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88E99-FEB3-6B65-2448-B46C1EB4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9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BF61-E3B5-87EC-489B-3E60E230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Pauli Matrices – The </a:t>
            </a:r>
            <a:r>
              <a:rPr lang="en-US" i="1" dirty="0"/>
              <a:t>Z-operation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E535-0481-A7E8-CC45-C95A5DC0C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Z</a:t>
            </a:r>
            <a:r>
              <a:rPr lang="en-US" dirty="0"/>
              <a:t>-operation or (</a:t>
            </a:r>
            <a:r>
              <a:rPr lang="en-US" dirty="0">
                <a:sym typeface="Symbol" panose="05050102010706020507" pitchFamily="18" charset="2"/>
              </a:rPr>
              <a:t></a:t>
            </a:r>
            <a:r>
              <a:rPr lang="en-US" i="1" baseline="-25000" dirty="0">
                <a:sym typeface="Symbol" panose="05050102010706020507" pitchFamily="18" charset="2"/>
              </a:rPr>
              <a:t>z</a:t>
            </a:r>
            <a:r>
              <a:rPr lang="en-US" dirty="0">
                <a:sym typeface="Symbol" panose="05050102010706020507" pitchFamily="18" charset="2"/>
              </a:rPr>
              <a:t>)</a:t>
            </a:r>
            <a:r>
              <a:rPr lang="en-US" dirty="0"/>
              <a:t> is also called a phase flip because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5C204-D167-FE49-A47A-F1515ED8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7302C-B86B-F9D8-1A3A-D30B2A2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18D6F1-CF5A-6514-FAB1-0F692CF30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654" y="2200800"/>
            <a:ext cx="5796692" cy="83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5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CB6F-DBE5-430D-938A-348F72CF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To summarize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23CE5-668C-4396-9189-AFCD86D9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610C7-63F3-4A33-917B-7973BF09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5AB22A-0616-4234-9997-FEEAAF8EB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54" y="2348499"/>
            <a:ext cx="9302603" cy="284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1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FDD8-BFA9-D966-C035-78C84658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Phase Operation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E7EA6-C98A-EEBE-7490-B9ACBC82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7DE8E-EEB3-C19C-8E6F-3F7C882B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8B950-A256-54D8-31E7-8D28F6F40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30" y="1934554"/>
            <a:ext cx="10547490" cy="419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6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B372-1389-E60E-1A1A-D2098A07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Compositions of Unitary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B8C7E-9A68-9FB7-A335-80F2748D1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composition </a:t>
            </a:r>
            <a:r>
              <a:rPr lang="en-US" i="1" dirty="0"/>
              <a:t>R</a:t>
            </a:r>
            <a:r>
              <a:rPr lang="en-US" dirty="0"/>
              <a:t> = </a:t>
            </a:r>
            <a:r>
              <a:rPr lang="en-US" i="1" dirty="0"/>
              <a:t>H S H.</a:t>
            </a:r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62461-3787-2D2E-457D-1BA09D4E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CF97C-8FBD-C33F-844C-58390819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19C1DF-CFA5-1ABD-B0CB-87186E6E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19" y="2464600"/>
            <a:ext cx="4970739" cy="1347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D9E5F2-F416-EC59-1BBE-DF0D4200A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19" y="4073114"/>
            <a:ext cx="2296310" cy="126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7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A5F0-CB9B-48CE-6B43-521CE2D11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</a:t>
            </a:r>
            <a:r>
              <a:rPr lang="en-US" i="1" dirty="0"/>
              <a:t>R</a:t>
            </a:r>
            <a:r>
              <a:rPr lang="en-US" dirty="0"/>
              <a:t>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D57A1-1587-B1B1-F8EC-85B6F0E87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This unitary operation </a:t>
            </a:r>
            <a:r>
              <a:rPr lang="en-US" i="1" dirty="0"/>
              <a:t>R</a:t>
            </a:r>
            <a:r>
              <a:rPr lang="en-US" dirty="0"/>
              <a:t> is an interesting example. </a:t>
            </a:r>
          </a:p>
          <a:p>
            <a:pPr>
              <a:lnSpc>
                <a:spcPct val="110000"/>
              </a:lnSpc>
            </a:pPr>
            <a:r>
              <a:rPr lang="en-US" dirty="0"/>
              <a:t>By applying this operation twice, which is equivalent to squaring its matrix representation, we obtain a NOT operation: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That is,  is a square root of NOT operation. </a:t>
            </a:r>
          </a:p>
          <a:p>
            <a:pPr>
              <a:lnSpc>
                <a:spcPct val="110000"/>
              </a:lnSpc>
            </a:pPr>
            <a:r>
              <a:rPr lang="en-US" dirty="0"/>
              <a:t>Such a behavior, where the same operation is applied twice to yield a NOT operation, is not possible for a classical operation on a single bit.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49F0F-282B-EBD5-3DF6-773D99B9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BE49C-E056-6C27-4B59-91BF2E95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28FCCD-9CA0-E4B3-817D-16463B6F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1" y="3105099"/>
            <a:ext cx="2842842" cy="14373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409A28-ACB3-FDEB-E755-BBB4F862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193" y="3221708"/>
            <a:ext cx="1523230" cy="120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BB77-DA02-51BC-8CEC-F0A82D63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 Qubit – Phase and Amplitude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6A6DC-67DB-170C-543E-3D08B07FC7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So far we have seen the a qubit as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sz="2800" dirty="0"/>
                  <a:t> = </a:t>
                </a:r>
                <a:r>
                  <a:rPr lang="en-US" sz="2800" dirty="0">
                    <a:sym typeface="Symbol" panose="05050102010706020507" pitchFamily="18" charset="2"/>
                  </a:rPr>
                  <a:t>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dirty="0">
                    <a:sym typeface="Symbol" panose="05050102010706020507" pitchFamily="18" charset="2"/>
                  </a:rPr>
                  <a:t>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where both </a:t>
                </a:r>
                <a:r>
                  <a:rPr lang="en-US" dirty="0">
                    <a:sym typeface="Symbol" panose="05050102010706020507" pitchFamily="18" charset="2"/>
                  </a:rPr>
                  <a:t> and  can be complex numbers.</a:t>
                </a:r>
              </a:p>
              <a:p>
                <a:pPr>
                  <a:lnSpc>
                    <a:spcPct val="100000"/>
                  </a:lnSpc>
                </a:pPr>
                <a:endParaRPr 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sym typeface="Symbol" panose="05050102010706020507" pitchFamily="18" charset="2"/>
                  </a:rPr>
                  <a:t>We can therefore write,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sz="2800" dirty="0"/>
                  <a:t> = </a:t>
                </a:r>
                <a:r>
                  <a:rPr lang="en-US" dirty="0">
                    <a:sym typeface="Symbol" panose="05050102010706020507" pitchFamily="18" charset="2"/>
                  </a:rPr>
                  <a:t>(</a:t>
                </a:r>
                <a:r>
                  <a:rPr lang="en-US" i="1" dirty="0">
                    <a:sym typeface="Symbol" panose="05050102010706020507" pitchFamily="18" charset="2"/>
                  </a:rPr>
                  <a:t>a</a:t>
                </a:r>
                <a:r>
                  <a:rPr lang="en-US" dirty="0">
                    <a:sym typeface="Symbol" panose="05050102010706020507" pitchFamily="18" charset="2"/>
                  </a:rPr>
                  <a:t> + </a:t>
                </a:r>
                <a:r>
                  <a:rPr lang="en-US" i="1" dirty="0">
                    <a:sym typeface="Symbol" panose="05050102010706020507" pitchFamily="18" charset="2"/>
                  </a:rPr>
                  <a:t>ib</a:t>
                </a:r>
                <a:r>
                  <a:rPr lang="en-US" dirty="0">
                    <a:sym typeface="Symbol" panose="05050102010706020507" pitchFamily="18" charset="2"/>
                  </a:rPr>
                  <a:t>)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b="0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Apparently this means that four parameters are independently required to describe a qubit.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6A6DC-67DB-170C-543E-3D08B07FC7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74E1F-7762-FB87-B2FF-C6CD6F82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27D1E-E76B-8F32-D12C-A11838E2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5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CE3A-0D00-4D96-9899-19237A5C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Are there really 4 parameters?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7757E-2F5E-49DD-94A7-5D9A8900F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No. The amplitudes cannot be chosen completely independently. 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First, a quantum state must be </a:t>
            </a:r>
            <a:r>
              <a:rPr lang="en-US" sz="2400" b="1" dirty="0"/>
              <a:t>normalized</a:t>
            </a:r>
            <a:r>
              <a:rPr lang="en-US" sz="2400" dirty="0"/>
              <a:t>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/>
              <a:t>∣α∣</a:t>
            </a:r>
            <a:r>
              <a:rPr lang="en-US" sz="2400" baseline="30000" dirty="0"/>
              <a:t>2</a:t>
            </a:r>
            <a:r>
              <a:rPr lang="en-US" sz="2400" dirty="0"/>
              <a:t>+∣β∣</a:t>
            </a:r>
            <a:r>
              <a:rPr lang="en-US" sz="2400" baseline="30000" dirty="0"/>
              <a:t>2</a:t>
            </a:r>
            <a:r>
              <a:rPr lang="en-US" sz="2400" dirty="0"/>
              <a:t>=1.| α |</a:t>
            </a:r>
            <a:r>
              <a:rPr lang="en-US" sz="2400" baseline="30000" dirty="0"/>
              <a:t>2 </a:t>
            </a:r>
            <a:r>
              <a:rPr lang="en-US" sz="2400" dirty="0"/>
              <a:t>+ 1.| β |</a:t>
            </a:r>
            <a:r>
              <a:rPr lang="en-US" sz="2400" baseline="30000" dirty="0"/>
              <a:t>2</a:t>
            </a:r>
            <a:r>
              <a:rPr lang="en-US" sz="2400" dirty="0"/>
              <a:t>=1.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imposes one constraint on the four real parameters.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Therefore, normalization reduces the number of parameters from 4 to 3.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1584B6-28BC-433C-8A57-F23716EA1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59314-0F06-4642-92B9-D905EF515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9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C0409-C408-0DAB-BB9F-12697778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 Qubit – Phase and Amplitude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721D1-8720-53BF-DE25-ED2A61C67F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ym typeface="Symbol" panose="05050102010706020507" pitchFamily="18" charset="2"/>
                  </a:rPr>
                  <a:t>Another important fact is that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and </a:t>
                </a:r>
                <a:r>
                  <a:rPr lang="en-US" sz="2400" i="1" dirty="0" err="1">
                    <a:sym typeface="Symbol" panose="05050102010706020507" pitchFamily="18" charset="2"/>
                  </a:rPr>
                  <a:t>e</a:t>
                </a:r>
                <a:r>
                  <a:rPr lang="en-US" sz="2400" i="1" baseline="30000" dirty="0" err="1">
                    <a:sym typeface="Symbol" panose="05050102010706020507" pitchFamily="18" charset="2"/>
                  </a:rPr>
                  <a:t>i</a:t>
                </a:r>
                <a:r>
                  <a:rPr lang="en-US" sz="2400" baseline="30000" dirty="0">
                    <a:sym typeface="Symbol" panose="05050102010706020507" pitchFamily="18" charset="2"/>
                  </a:rPr>
                  <a:t></a:t>
                </a:r>
                <a:r>
                  <a:rPr 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</m:t>
                        </m:r>
                      </m:e>
                    </m:d>
                  </m:oMath>
                </a14:m>
                <a:r>
                  <a:rPr lang="en-US" sz="2400" dirty="0">
                    <a:sym typeface="Symbol" panose="05050102010706020507" pitchFamily="18" charset="2"/>
                  </a:rPr>
                  <a:t> represent the same qubit.</a:t>
                </a:r>
              </a:p>
              <a:p>
                <a:endParaRPr lang="en-US" sz="2400" dirty="0">
                  <a:sym typeface="Symbol" panose="05050102010706020507" pitchFamily="18" charset="2"/>
                </a:endParaRPr>
              </a:p>
              <a:p>
                <a:r>
                  <a:rPr lang="en-US" sz="2400" dirty="0">
                    <a:sym typeface="Symbol" panose="05050102010706020507" pitchFamily="18" charset="2"/>
                  </a:rPr>
                  <a:t>The factor </a:t>
                </a:r>
                <a:r>
                  <a:rPr lang="en-US" sz="2400" i="1" dirty="0" err="1">
                    <a:sym typeface="Symbol" panose="05050102010706020507" pitchFamily="18" charset="2"/>
                  </a:rPr>
                  <a:t>e</a:t>
                </a:r>
                <a:r>
                  <a:rPr lang="en-US" sz="2400" i="1" baseline="30000" dirty="0" err="1">
                    <a:sym typeface="Symbol" panose="05050102010706020507" pitchFamily="18" charset="2"/>
                  </a:rPr>
                  <a:t>i</a:t>
                </a:r>
                <a:r>
                  <a:rPr lang="en-US" sz="2400" baseline="30000" dirty="0">
                    <a:sym typeface="Symbol" panose="05050102010706020507" pitchFamily="18" charset="2"/>
                  </a:rPr>
                  <a:t></a:t>
                </a:r>
                <a:r>
                  <a:rPr lang="en-US" sz="2400" dirty="0">
                    <a:sym typeface="Symbol" panose="05050102010706020507" pitchFamily="18" charset="2"/>
                  </a:rPr>
                  <a:t> is called the global phase and has no effect over the qubit.</a:t>
                </a:r>
              </a:p>
              <a:p>
                <a:endParaRPr lang="en-US" sz="2400" dirty="0">
                  <a:sym typeface="Symbol" panose="05050102010706020507" pitchFamily="18" charset="2"/>
                </a:endParaRPr>
              </a:p>
              <a:p>
                <a:r>
                  <a:rPr lang="en-US" sz="2400" dirty="0">
                    <a:sym typeface="Symbol" panose="05050102010706020507" pitchFamily="18" charset="2"/>
                  </a:rPr>
                  <a:t>Hence a single qubit has two independent physical parameters.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721D1-8720-53BF-DE25-ED2A61C67F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4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3A5F0-D452-2AAF-3366-4B609FF1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72843-0ED2-39EC-F188-A2041A74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DCD405-F1C0-473E-9F37-42B6F0CF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378" y="4272480"/>
            <a:ext cx="6144482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0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BEA7-1B32-C9C4-A8B0-81AA8894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 A Qubit – Phase and Amplitude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ACCF0-4370-1ADD-5041-9AAB160C3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391454" cy="435133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600" dirty="0">
                    <a:cs typeface="Times New Roman" panose="02020603050405020304" pitchFamily="18" charset="0"/>
                  </a:rPr>
                  <a:t>Another observation worth noting is that it is the </a:t>
                </a:r>
                <a:r>
                  <a:rPr lang="en-US" sz="2600" i="1" dirty="0">
                    <a:cs typeface="Times New Roman" panose="02020603050405020304" pitchFamily="18" charset="0"/>
                  </a:rPr>
                  <a:t>amplitude </a:t>
                </a:r>
                <a:r>
                  <a:rPr lang="en-US" sz="2600" dirty="0">
                    <a:cs typeface="Times New Roman" panose="02020603050405020304" pitchFamily="18" charset="0"/>
                  </a:rPr>
                  <a:t>that predicts the probability of observing a particular outcome.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600" dirty="0">
                    <a:cs typeface="Times New Roman" panose="02020603050405020304" pitchFamily="18" charset="0"/>
                  </a:rPr>
                  <a:t>For example in the case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sz="2600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sz="2600" dirty="0">
                    <a:cs typeface="Times New Roman" panose="02020603050405020304" pitchFamily="18" charset="0"/>
                  </a:rPr>
                  <a:t> states, we observed that while the sign of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600" dirty="0">
                    <a:cs typeface="Times New Roman" panose="02020603050405020304" pitchFamily="18" charset="0"/>
                  </a:rPr>
                  <a:t> state was different, the probabilities were the same.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600" dirty="0">
                    <a:cs typeface="Times New Roman" panose="02020603050405020304" pitchFamily="18" charset="0"/>
                  </a:rPr>
                  <a:t>The angle of the qubit in the complex plane is referred to as the phase. More specifically, the imaginary component expressed as </a:t>
                </a:r>
                <a:r>
                  <a:rPr lang="en-US" sz="2600" i="1" dirty="0" err="1">
                    <a:cs typeface="Times New Roman" panose="02020603050405020304" pitchFamily="18" charset="0"/>
                  </a:rPr>
                  <a:t>e</a:t>
                </a:r>
                <a:r>
                  <a:rPr lang="en-US" sz="2600" i="1" baseline="30000" dirty="0" err="1">
                    <a:cs typeface="Times New Roman" panose="02020603050405020304" pitchFamily="18" charset="0"/>
                  </a:rPr>
                  <a:t>i</a:t>
                </a:r>
                <a:r>
                  <a:rPr lang="en-US" sz="2600" i="1" baseline="300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600" i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sz="26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(Euler’s formula) is called the phase.</a:t>
                </a:r>
                <a:endParaRPr lang="en-US" sz="2600" i="1" baseline="300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4ACCF0-4370-1ADD-5041-9AAB160C3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391454" cy="4351338"/>
              </a:xfrm>
              <a:blipFill>
                <a:blip r:embed="rId2"/>
                <a:stretch>
                  <a:fillRect l="-939" r="-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E91A-D6C4-1ECF-9F88-20F9CA55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11F01-077D-BBB7-46EE-559845BF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D446-B6C2-2B69-CAE1-9982CFC1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A Qubit – Phase and Amplitude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E06B3-FE93-F528-1B0F-3E4D322FAA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400" dirty="0"/>
                  <a:t>Note that the phase does not matter in the measurement of probability.  This is because | </a:t>
                </a:r>
                <a:r>
                  <a:rPr lang="en-US" sz="2400" i="1" dirty="0" err="1">
                    <a:cs typeface="Times New Roman" panose="02020603050405020304" pitchFamily="18" charset="0"/>
                  </a:rPr>
                  <a:t>e</a:t>
                </a:r>
                <a:r>
                  <a:rPr lang="en-US" sz="2400" i="1" baseline="30000" dirty="0" err="1">
                    <a:cs typeface="Times New Roman" panose="02020603050405020304" pitchFamily="18" charset="0"/>
                  </a:rPr>
                  <a:t>i</a:t>
                </a:r>
                <a:r>
                  <a:rPr lang="en-US" sz="2400" i="1" baseline="300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400" i="1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 | = </a:t>
                </a:r>
                <a:r>
                  <a:rPr 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1.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Furthermore, in terms of quantum computing, the qubits |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 and –</a:t>
                </a:r>
                <a:r>
                  <a:rPr lang="en-US" sz="24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|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400" dirty="0"/>
                  <a:t> are equivalent.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To see, this probability of measuring a ‘0’ in both cases is ‘1’.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In other words, absolute phase does not matter in quantum computing, only relative phase matters.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/>
                  <a:t>This can be seen in the qubits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sz="2400" dirty="0"/>
                  <a:t> where the relative phase is helpful during operations, but not in finding out the probability.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E06B3-FE93-F528-1B0F-3E4D322FA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120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ACB35-0A03-C958-0F3F-8B50A534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4B8A4-68DA-1F7C-9EAB-613D8C2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3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1DB9-C3B0-3858-EC55-5B1792C7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Bloch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BF670-BC36-064E-FD03-41FBBCCB5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71598" cy="4351338"/>
              </a:xfrm>
            </p:spPr>
            <p:txBody>
              <a:bodyPr/>
              <a:lstStyle/>
              <a:p>
                <a:r>
                  <a:rPr lang="en-US" dirty="0"/>
                  <a:t>Ignoring the global phase, a Bloch Sphere is often used to ‘visualize’ a single qubit.</a:t>
                </a:r>
              </a:p>
              <a:p>
                <a:r>
                  <a:rPr lang="en-US" dirty="0"/>
                  <a:t>The positive Z-axis represents </a:t>
                </a:r>
                <a:r>
                  <a:rPr lang="en-US" sz="2800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|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and the negative Z-axis represents </a:t>
                </a:r>
                <a:r>
                  <a:rPr lang="en-US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|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a Bloch sphere ½ angles are used (</a:t>
                </a:r>
                <a:r>
                  <a:rPr lang="en-US" dirty="0">
                    <a:sym typeface="Symbol" panose="05050102010706020507" pitchFamily="18" charset="2"/>
                  </a:rPr>
                  <a:t>/2) to depict the amplitudes of a qubit.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The phase is used to determine its placement in the complex X-Y plane.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BF670-BC36-064E-FD03-41FBBCCB5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71598" cy="4351338"/>
              </a:xfrm>
              <a:blipFill>
                <a:blip r:embed="rId2"/>
                <a:stretch>
                  <a:fillRect l="-1019" t="-2381" r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82374-E513-52E6-BBF7-162200AA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28080-A351-D76B-A597-6A9327D1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1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83D0-99FE-6146-6304-810C0B3C3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Visualization in a Bloch Sphere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C61E6-BCE9-C458-673B-1389A73FC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qubit (where 0 </a:t>
            </a:r>
            <a:r>
              <a:rPr lang="en-US" dirty="0">
                <a:sym typeface="Symbol" panose="05050102010706020507" pitchFamily="18" charset="2"/>
              </a:rPr>
              <a:t>   , 0    2)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the global phase, (</a:t>
            </a:r>
            <a:r>
              <a:rPr lang="en-US" i="1" dirty="0"/>
              <a:t>e </a:t>
            </a:r>
            <a:r>
              <a:rPr lang="en-US" i="1" baseline="30000" dirty="0" err="1"/>
              <a:t>i</a:t>
            </a:r>
            <a:r>
              <a:rPr lang="en-US" i="1" baseline="30000" dirty="0"/>
              <a:t> </a:t>
            </a:r>
            <a:r>
              <a:rPr lang="en-US" baseline="30000" dirty="0">
                <a:sym typeface="Symbol" panose="05050102010706020507" pitchFamily="18" charset="2"/>
              </a:rPr>
              <a:t></a:t>
            </a:r>
            <a:r>
              <a:rPr lang="en-US" dirty="0">
                <a:sym typeface="Symbol" panose="05050102010706020507" pitchFamily="18" charset="2"/>
              </a:rPr>
              <a:t>)</a:t>
            </a:r>
            <a:r>
              <a:rPr lang="en-US" dirty="0"/>
              <a:t>, is ignored.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28D5B-358D-2877-7679-19FF2CE1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175ED-ADC1-D3F8-6B8E-D3BEC61C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F1D856-0A11-3744-27C6-9560943D8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838" y="1895746"/>
            <a:ext cx="3959150" cy="42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C9148B-FEE2-8E13-7ABB-D5DE6E37E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391" y="4866867"/>
            <a:ext cx="5539439" cy="1054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0A8686-DE2A-6435-43F4-7A8875EC4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208" y="2413036"/>
            <a:ext cx="4507803" cy="105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9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CB97-DD7A-9FCA-C380-81E478E95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2D2D9D-6150-7946-F951-E14B2CF226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Plot the qubits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on the Bloch Sphere.</a:t>
                </a:r>
              </a:p>
              <a:p>
                <a:endParaRPr lang="en-US" sz="2400" dirty="0"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cs typeface="Times New Roman" panose="02020603050405020304" pitchFamily="18" charset="0"/>
                  </a:rPr>
                  <a:t>Bloch Sphere Simulator: </a:t>
                </a:r>
                <a:r>
                  <a:rPr lang="en-US" sz="2400" dirty="0">
                    <a:cs typeface="Times New Roman" panose="02020603050405020304" pitchFamily="18" charset="0"/>
                    <a:hlinkClick r:id="rId2"/>
                  </a:rPr>
                  <a:t>https://javafxpert.github.io/grok-bloch/</a:t>
                </a:r>
                <a:endParaRPr lang="en-US" sz="2400" dirty="0">
                  <a:cs typeface="Times New Roman" panose="02020603050405020304" pitchFamily="18" charset="0"/>
                </a:endParaRPr>
              </a:p>
              <a:p>
                <a:endParaRPr 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2D2D9D-6150-7946-F951-E14B2CF226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4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F702B-4B23-2607-525A-A0AF889D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70C2F-B5ED-EF15-1973-238C77EE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0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9461-83F3-9735-9203-977B0013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6B14A-D25B-6ABA-3FFC-092DC611B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Unitary Operations preserve the norm of a qubit and therefore are a valid operation on a qubit.</a:t>
            </a:r>
          </a:p>
          <a:p>
            <a:r>
              <a:rPr lang="en-US" dirty="0"/>
              <a:t>The Pauli Matrices, Hadamard and the Phase Flip are some of the operations on a qubit.</a:t>
            </a:r>
          </a:p>
          <a:p>
            <a:r>
              <a:rPr lang="en-US" dirty="0"/>
              <a:t>R = HSH is the square root of the NOT operation.</a:t>
            </a:r>
          </a:p>
          <a:p>
            <a:r>
              <a:rPr lang="en-US" dirty="0"/>
              <a:t>The Bloch Sphere is used to visualize a qubit.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2A8DA-818F-3706-2065-AD37C91C7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CS-314: Quantum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63D8B-7440-F9DE-0D9D-552B6E74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3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4859</TotalTime>
  <Words>1402</Words>
  <Application>Microsoft Office PowerPoint</Application>
  <PresentationFormat>Widescreen</PresentationFormat>
  <Paragraphs>174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Consolas</vt:lpstr>
      <vt:lpstr>Gill Sans MT</vt:lpstr>
      <vt:lpstr>Times New Roman</vt:lpstr>
      <vt:lpstr>Office Theme</vt:lpstr>
      <vt:lpstr>CS/PHYS-314/300: Quantum Computing  Unit 03: Quantum Gates and Bloch Sphere</vt:lpstr>
      <vt:lpstr> Unit Outline</vt:lpstr>
      <vt:lpstr> Unitary Operations</vt:lpstr>
      <vt:lpstr> Recap – Unitary Matrices</vt:lpstr>
      <vt:lpstr> Recap – Some well known unitary matrices</vt:lpstr>
      <vt:lpstr> Pauli Matrices – The X matrix</vt:lpstr>
      <vt:lpstr> Pauli Matrices – The Hadamard Operation</vt:lpstr>
      <vt:lpstr> Pauli Matrices – The Hadamard Operation</vt:lpstr>
      <vt:lpstr> Hadamard Operation and Measurement</vt:lpstr>
      <vt:lpstr> Hadamard Operations and Measurement</vt:lpstr>
      <vt:lpstr> Pauli Matrices – The Z-operation</vt:lpstr>
      <vt:lpstr> To summarize</vt:lpstr>
      <vt:lpstr> The Phase Operation</vt:lpstr>
      <vt:lpstr> Compositions of Unitary Operations</vt:lpstr>
      <vt:lpstr> The R Operation</vt:lpstr>
      <vt:lpstr> A Qubit – Phase and Amplitude</vt:lpstr>
      <vt:lpstr> Are there really 4 parameters?</vt:lpstr>
      <vt:lpstr> A Qubit – Phase and Amplitude</vt:lpstr>
      <vt:lpstr>  A Qubit – Phase and Amplitude</vt:lpstr>
      <vt:lpstr> A Qubit – Phase and Amplitude</vt:lpstr>
      <vt:lpstr> Bloch Sphere</vt:lpstr>
      <vt:lpstr> Visualization in a Bloch Sphere</vt:lpstr>
      <vt:lpstr> Exercise</vt:lpstr>
      <vt:lpstr>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562</cp:revision>
  <dcterms:created xsi:type="dcterms:W3CDTF">2022-04-01T09:51:06Z</dcterms:created>
  <dcterms:modified xsi:type="dcterms:W3CDTF">2026-09-07T18:24:51Z</dcterms:modified>
</cp:coreProperties>
</file>